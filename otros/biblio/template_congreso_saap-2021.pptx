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omments/comment1.xml" ContentType="application/vnd.openxmlformats-officedocument.presentationml.comments+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rts/chart7.xml" ContentType="application/vnd.openxmlformats-officedocument.drawingml.chart+xml"/>
  <Override PartName="/ppt/drawings/drawing5.xml" ContentType="application/vnd.openxmlformats-officedocument.drawingml.chartshapes+xml"/>
  <Override PartName="/ppt/charts/chart8.xml" ContentType="application/vnd.openxmlformats-officedocument.drawingml.chart+xml"/>
  <Override PartName="/ppt/drawings/drawing6.xml" ContentType="application/vnd.openxmlformats-officedocument.drawingml.chartshape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4" r:id="rId3"/>
    <p:sldId id="265" r:id="rId4"/>
    <p:sldId id="266" r:id="rId5"/>
    <p:sldId id="267" r:id="rId6"/>
    <p:sldId id="257" r:id="rId7"/>
    <p:sldId id="259" r:id="rId8"/>
    <p:sldId id="262" r:id="rId9"/>
    <p:sldId id="260" r:id="rId10"/>
    <p:sldId id="263" r:id="rId11"/>
    <p:sldId id="261" r:id="rId12"/>
    <p:sldId id="268" r:id="rId13"/>
    <p:sldId id="258" r:id="rId14"/>
  </p:sldIdLst>
  <p:sldSz cx="12195175" cy="6751638"/>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7">
          <p15:clr>
            <a:srgbClr val="A4A3A4"/>
          </p15:clr>
        </p15:guide>
        <p15:guide id="2" pos="384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ranco Luciano Aguirre" initials="FLA" lastIdx="24" clrIdx="0">
    <p:extLst>
      <p:ext uri="{19B8F6BF-5375-455C-9EA6-DF929625EA0E}">
        <p15:presenceInfo xmlns:p15="http://schemas.microsoft.com/office/powerpoint/2012/main" userId="S::1283222@sga.pucminas.br::6fb81eae-5875-4652-8e75-9328331dfa9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6" autoAdjust="0"/>
    <p:restoredTop sz="94660"/>
  </p:normalViewPr>
  <p:slideViewPr>
    <p:cSldViewPr>
      <p:cViewPr>
        <p:scale>
          <a:sx n="64" d="100"/>
          <a:sy n="64" d="100"/>
        </p:scale>
        <p:origin x="736" y="44"/>
      </p:cViewPr>
      <p:guideLst>
        <p:guide orient="horz" pos="2127"/>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Google%20Drive\Congresos,%20charlas%20y%20ponencias\2021\SAAP%202021\Base%20de%20datos\BRI%20(Recuperado).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Google%20Drive\Congresos,%20charlas%20y%20ponencias\2021\SAAP%202021\Base%20de%20datos\BRI%20(Recuperado).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D:\Google%20Drive\Congresos,%20charlas%20y%20ponencias\2021\SAAP%202021\Base%20de%20datos\BRI%20(Recuperado).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1" Type="http://schemas.openxmlformats.org/officeDocument/2006/relationships/oleObject" Target="file:///D:\Google%20Drive\Congresos,%20charlas%20y%20ponencias\2021\SAAP%202021\Base%20de%20datos\BRI%20(Recuperado).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Google%20Drive\Congresos,%20charlas%20y%20ponencias\2021\SAAP%202021\Base%20de%20datos\BRI%20(Recuperado).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D:\Google%20Drive\Congresos,%20charlas%20y%20ponencias\2021\SAAP%202021\Base%20de%20datos\BRI%20(Recuperado).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D:\Google%20Drive\Congresos,%20charlas%20y%20ponencias\2021\SAAP%202021\Base%20de%20datos\BRI%20(Recuperado).xlsx" TargetMode="External"/></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oleObject" Target="file:///D:\Google%20Drive\Congresos,%20charlas%20y%20ponencias\2021\SAAP%202021\Base%20de%20datos\BRI%20(Recuperad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[BRI (Recuperado).xlsx]Generales!TablaDinámica25</c:name>
    <c:fmtId val="7"/>
  </c:pivotSource>
  <c:chart>
    <c:title>
      <c:tx>
        <c:rich>
          <a:bodyPr rot="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mj-lt"/>
                <a:ea typeface="+mj-ea"/>
                <a:cs typeface="+mj-cs"/>
              </a:defRPr>
            </a:pPr>
            <a:r>
              <a:rPr lang="es-AR" sz="1400"/>
              <a:t>Miembros de BRI por región</a:t>
            </a:r>
          </a:p>
        </c:rich>
      </c:tx>
      <c:layout>
        <c:manualLayout>
          <c:xMode val="edge"/>
          <c:yMode val="edge"/>
          <c:x val="0.31237692828812047"/>
          <c:y val="3.1995502356533992E-2"/>
        </c:manualLayout>
      </c:layout>
      <c:overlay val="0"/>
      <c:spPr>
        <a:noFill/>
        <a:ln>
          <a:noFill/>
        </a:ln>
        <a:effectLst/>
      </c:spPr>
      <c:txPr>
        <a:bodyPr rot="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mj-lt"/>
              <a:ea typeface="+mj-ea"/>
              <a:cs typeface="+mj-cs"/>
            </a:defRPr>
          </a:pPr>
          <a:endParaRPr lang="es-AR"/>
        </a:p>
      </c:txPr>
    </c:title>
    <c:autoTitleDeleted val="0"/>
    <c:pivotFmts>
      <c:pivotFmt>
        <c:idx val="0"/>
      </c:pivotFmt>
      <c:pivotFmt>
        <c:idx val="1"/>
      </c:pivotFmt>
      <c:pivotFmt>
        <c:idx val="2"/>
        <c:spPr>
          <a:solidFill>
            <a:schemeClr val="accent1"/>
          </a:solidFill>
          <a:ln>
            <a:noFill/>
          </a:ln>
          <a:effectLst/>
        </c:spPr>
        <c:marker>
          <c:symbol val="circle"/>
          <c:size val="8"/>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503746757484799E-2"/>
          <c:y val="0.2191003262153795"/>
          <c:w val="0.90412867308528699"/>
          <c:h val="0.48027479361613912"/>
        </c:manualLayout>
      </c:layout>
      <c:barChart>
        <c:barDir val="col"/>
        <c:grouping val="clustered"/>
        <c:varyColors val="0"/>
        <c:ser>
          <c:idx val="0"/>
          <c:order val="0"/>
          <c:tx>
            <c:strRef>
              <c:f>Generales!$B$3:$B$4</c:f>
              <c:strCache>
                <c:ptCount val="1"/>
                <c:pt idx="0">
                  <c:v>No miembro</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Generales!$A$5:$A$12</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Generales!$B$5:$B$12</c:f>
              <c:numCache>
                <c:formatCode>General</c:formatCode>
                <c:ptCount val="7"/>
                <c:pt idx="0">
                  <c:v>14</c:v>
                </c:pt>
                <c:pt idx="1">
                  <c:v>20</c:v>
                </c:pt>
                <c:pt idx="2">
                  <c:v>23</c:v>
                </c:pt>
                <c:pt idx="3">
                  <c:v>5</c:v>
                </c:pt>
                <c:pt idx="4">
                  <c:v>3</c:v>
                </c:pt>
                <c:pt idx="5">
                  <c:v>2</c:v>
                </c:pt>
                <c:pt idx="6">
                  <c:v>8</c:v>
                </c:pt>
              </c:numCache>
            </c:numRef>
          </c:val>
          <c:extLst>
            <c:ext xmlns:c16="http://schemas.microsoft.com/office/drawing/2014/chart" uri="{C3380CC4-5D6E-409C-BE32-E72D297353CC}">
              <c16:uniqueId val="{00000000-A58A-40BD-9DC3-8FE6E37430FD}"/>
            </c:ext>
          </c:extLst>
        </c:ser>
        <c:ser>
          <c:idx val="1"/>
          <c:order val="1"/>
          <c:tx>
            <c:strRef>
              <c:f>Generales!$C$3:$C$4</c:f>
              <c:strCache>
                <c:ptCount val="1"/>
                <c:pt idx="0">
                  <c:v>Miembro BRI</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Generales!$A$5:$A$12</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Generales!$C$5:$C$12</c:f>
              <c:numCache>
                <c:formatCode>General</c:formatCode>
                <c:ptCount val="7"/>
                <c:pt idx="0">
                  <c:v>25</c:v>
                </c:pt>
                <c:pt idx="1">
                  <c:v>34</c:v>
                </c:pt>
                <c:pt idx="2">
                  <c:v>19</c:v>
                </c:pt>
                <c:pt idx="3">
                  <c:v>17</c:v>
                </c:pt>
                <c:pt idx="5">
                  <c:v>6</c:v>
                </c:pt>
                <c:pt idx="6">
                  <c:v>40</c:v>
                </c:pt>
              </c:numCache>
            </c:numRef>
          </c:val>
          <c:extLst>
            <c:ext xmlns:c16="http://schemas.microsoft.com/office/drawing/2014/chart" uri="{C3380CC4-5D6E-409C-BE32-E72D297353CC}">
              <c16:uniqueId val="{00000001-A58A-40BD-9DC3-8FE6E37430FD}"/>
            </c:ext>
          </c:extLst>
        </c:ser>
        <c:dLbls>
          <c:dLblPos val="outEnd"/>
          <c:showLegendKey val="0"/>
          <c:showVal val="1"/>
          <c:showCatName val="0"/>
          <c:showSerName val="0"/>
          <c:showPercent val="0"/>
          <c:showBubbleSize val="0"/>
        </c:dLbls>
        <c:gapWidth val="199"/>
        <c:axId val="1030716208"/>
        <c:axId val="960415840"/>
      </c:barChart>
      <c:catAx>
        <c:axId val="1030716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normalizeH="0" baseline="0">
                <a:solidFill>
                  <a:schemeClr val="tx1">
                    <a:lumMod val="65000"/>
                    <a:lumOff val="35000"/>
                  </a:schemeClr>
                </a:solidFill>
                <a:latin typeface="+mn-lt"/>
                <a:ea typeface="+mn-ea"/>
                <a:cs typeface="+mn-cs"/>
              </a:defRPr>
            </a:pPr>
            <a:endParaRPr lang="es-AR"/>
          </a:p>
        </c:txPr>
        <c:crossAx val="960415840"/>
        <c:crosses val="autoZero"/>
        <c:auto val="1"/>
        <c:lblAlgn val="ctr"/>
        <c:lblOffset val="100"/>
        <c:noMultiLvlLbl val="0"/>
      </c:catAx>
      <c:valAx>
        <c:axId val="96041584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AR"/>
          </a:p>
        </c:txPr>
        <c:crossAx val="1030716208"/>
        <c:crosses val="autoZero"/>
        <c:crossBetween val="between"/>
      </c:valAx>
      <c:spPr>
        <a:noFill/>
        <a:ln>
          <a:noFill/>
        </a:ln>
        <a:effectLst/>
      </c:spPr>
    </c:plotArea>
    <c:legend>
      <c:legendPos val="t"/>
      <c:layout>
        <c:manualLayout>
          <c:xMode val="edge"/>
          <c:yMode val="edge"/>
          <c:x val="0.2885219460862895"/>
          <c:y val="0.13359592994587571"/>
          <c:w val="0.42900812426399121"/>
          <c:h val="6.7085262208610594E-2"/>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noFill/>
    <a:ln>
      <a:solidFill>
        <a:schemeClr val="tx1"/>
      </a:solidFill>
    </a:ln>
    <a:effectLst/>
  </c:spPr>
  <c:txPr>
    <a:bodyPr/>
    <a:lstStyle/>
    <a:p>
      <a:pPr>
        <a:defRPr sz="1050"/>
      </a:pPr>
      <a:endParaRPr lang="es-AR"/>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[BRI (Recuperado).xlsx]Generales!TablaDinámica36</c:name>
    <c:fmtId val="9"/>
  </c:pivotSource>
  <c:chart>
    <c:title>
      <c:tx>
        <c:rich>
          <a:bodyPr rot="0" spcFirstLastPara="1" vertOverflow="ellipsis" vert="horz" wrap="square" anchor="ctr" anchorCtr="1"/>
          <a:lstStyle/>
          <a:p>
            <a:pPr>
              <a:defRPr sz="1260" b="0" i="0" u="none" strike="noStrike" kern="1200" cap="none" spc="0" normalizeH="0" baseline="0">
                <a:solidFill>
                  <a:schemeClr val="tx1">
                    <a:lumMod val="65000"/>
                    <a:lumOff val="35000"/>
                  </a:schemeClr>
                </a:solidFill>
                <a:latin typeface="+mj-lt"/>
                <a:ea typeface="+mj-ea"/>
                <a:cs typeface="+mj-cs"/>
              </a:defRPr>
            </a:pPr>
            <a:r>
              <a:rPr lang="es-AR"/>
              <a:t>Miembro de BRI por grupo de ingresos</a:t>
            </a:r>
          </a:p>
        </c:rich>
      </c:tx>
      <c:overlay val="0"/>
      <c:spPr>
        <a:noFill/>
        <a:ln>
          <a:noFill/>
        </a:ln>
        <a:effectLst/>
      </c:spPr>
      <c:txPr>
        <a:bodyPr rot="0" spcFirstLastPara="1" vertOverflow="ellipsis" vert="horz" wrap="square" anchor="ctr" anchorCtr="1"/>
        <a:lstStyle/>
        <a:p>
          <a:pPr>
            <a:defRPr sz="1260" b="0" i="0" u="none" strike="noStrike" kern="1200" cap="none" spc="0" normalizeH="0" baseline="0">
              <a:solidFill>
                <a:schemeClr val="tx1">
                  <a:lumMod val="65000"/>
                  <a:lumOff val="35000"/>
                </a:schemeClr>
              </a:solidFill>
              <a:latin typeface="+mj-lt"/>
              <a:ea typeface="+mj-ea"/>
              <a:cs typeface="+mj-cs"/>
            </a:defRPr>
          </a:pPr>
          <a:endParaRPr lang="es-AR"/>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circle"/>
          <c:size val="8"/>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1335729743017299E-2"/>
          <c:y val="0.1859823734862793"/>
          <c:w val="0.88099394630801675"/>
          <c:h val="0.59912527080324407"/>
        </c:manualLayout>
      </c:layout>
      <c:barChart>
        <c:barDir val="col"/>
        <c:grouping val="clustered"/>
        <c:varyColors val="0"/>
        <c:ser>
          <c:idx val="0"/>
          <c:order val="0"/>
          <c:tx>
            <c:strRef>
              <c:f>Generales!$B$23:$B$24</c:f>
              <c:strCache>
                <c:ptCount val="1"/>
                <c:pt idx="0">
                  <c:v>No miembro</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Generales!$A$25:$A$28</c:f>
              <c:strCache>
                <c:ptCount val="4"/>
                <c:pt idx="0">
                  <c:v>High income</c:v>
                </c:pt>
                <c:pt idx="1">
                  <c:v>Low income</c:v>
                </c:pt>
                <c:pt idx="2">
                  <c:v>Lower middle income</c:v>
                </c:pt>
                <c:pt idx="3">
                  <c:v>Upper middle income</c:v>
                </c:pt>
              </c:strCache>
            </c:strRef>
          </c:cat>
          <c:val>
            <c:numRef>
              <c:f>Generales!$B$25:$B$28</c:f>
              <c:numCache>
                <c:formatCode>General</c:formatCode>
                <c:ptCount val="4"/>
                <c:pt idx="0">
                  <c:v>43</c:v>
                </c:pt>
                <c:pt idx="1">
                  <c:v>7</c:v>
                </c:pt>
                <c:pt idx="2">
                  <c:v>9</c:v>
                </c:pt>
                <c:pt idx="3">
                  <c:v>14</c:v>
                </c:pt>
              </c:numCache>
            </c:numRef>
          </c:val>
          <c:extLst>
            <c:ext xmlns:c16="http://schemas.microsoft.com/office/drawing/2014/chart" uri="{C3380CC4-5D6E-409C-BE32-E72D297353CC}">
              <c16:uniqueId val="{00000000-94A9-4251-BD90-795245CA2836}"/>
            </c:ext>
          </c:extLst>
        </c:ser>
        <c:ser>
          <c:idx val="1"/>
          <c:order val="1"/>
          <c:tx>
            <c:strRef>
              <c:f>Generales!$C$23:$C$24</c:f>
              <c:strCache>
                <c:ptCount val="1"/>
                <c:pt idx="0">
                  <c:v>Miembro BRI</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s-A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Generales!$A$25:$A$28</c:f>
              <c:strCache>
                <c:ptCount val="4"/>
                <c:pt idx="0">
                  <c:v>High income</c:v>
                </c:pt>
                <c:pt idx="1">
                  <c:v>Low income</c:v>
                </c:pt>
                <c:pt idx="2">
                  <c:v>Lower middle income</c:v>
                </c:pt>
                <c:pt idx="3">
                  <c:v>Upper middle income</c:v>
                </c:pt>
              </c:strCache>
            </c:strRef>
          </c:cat>
          <c:val>
            <c:numRef>
              <c:f>Generales!$C$25:$C$28</c:f>
              <c:numCache>
                <c:formatCode>General</c:formatCode>
                <c:ptCount val="4"/>
                <c:pt idx="0">
                  <c:v>32</c:v>
                </c:pt>
                <c:pt idx="1">
                  <c:v>20</c:v>
                </c:pt>
                <c:pt idx="2">
                  <c:v>46</c:v>
                </c:pt>
                <c:pt idx="3">
                  <c:v>42</c:v>
                </c:pt>
              </c:numCache>
            </c:numRef>
          </c:val>
          <c:extLst>
            <c:ext xmlns:c16="http://schemas.microsoft.com/office/drawing/2014/chart" uri="{C3380CC4-5D6E-409C-BE32-E72D297353CC}">
              <c16:uniqueId val="{00000001-94A9-4251-BD90-795245CA2836}"/>
            </c:ext>
          </c:extLst>
        </c:ser>
        <c:dLbls>
          <c:dLblPos val="outEnd"/>
          <c:showLegendKey val="0"/>
          <c:showVal val="1"/>
          <c:showCatName val="0"/>
          <c:showSerName val="0"/>
          <c:showPercent val="0"/>
          <c:showBubbleSize val="0"/>
        </c:dLbls>
        <c:gapWidth val="199"/>
        <c:axId val="965183456"/>
        <c:axId val="960419584"/>
      </c:barChart>
      <c:catAx>
        <c:axId val="96518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cap="none" spc="0" normalizeH="0" baseline="0">
                <a:solidFill>
                  <a:schemeClr val="tx1">
                    <a:lumMod val="65000"/>
                    <a:lumOff val="35000"/>
                  </a:schemeClr>
                </a:solidFill>
                <a:latin typeface="+mn-lt"/>
                <a:ea typeface="+mn-ea"/>
                <a:cs typeface="+mn-cs"/>
              </a:defRPr>
            </a:pPr>
            <a:endParaRPr lang="es-AR"/>
          </a:p>
        </c:txPr>
        <c:crossAx val="960419584"/>
        <c:crosses val="autoZero"/>
        <c:auto val="1"/>
        <c:lblAlgn val="ctr"/>
        <c:lblOffset val="100"/>
        <c:noMultiLvlLbl val="0"/>
      </c:catAx>
      <c:valAx>
        <c:axId val="9604195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s-AR"/>
          </a:p>
        </c:txPr>
        <c:crossAx val="965183456"/>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1050"/>
      </a:pPr>
      <a:endParaRPr lang="es-AR"/>
    </a:p>
  </c:txPr>
  <c:externalData r:id="rId3">
    <c:autoUpdate val="0"/>
  </c:externalData>
  <c:userShapes r:id="rId4"/>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[BRI (Recuperado).xlsx]Comercio!TablaDinámica47</c:name>
    <c:fmtId val="18"/>
  </c:pivotSource>
  <c:chart>
    <c:title>
      <c:tx>
        <c:rich>
          <a:bodyPr rot="0" spcFirstLastPara="1" vertOverflow="ellipsis" vert="horz" wrap="square" anchor="ctr" anchorCtr="1"/>
          <a:lstStyle/>
          <a:p>
            <a:pPr>
              <a:defRPr sz="1320" b="1" i="0" u="none" strike="noStrike" kern="1200" cap="none" spc="0" normalizeH="0" baseline="0">
                <a:solidFill>
                  <a:schemeClr val="tx1">
                    <a:lumMod val="65000"/>
                    <a:lumOff val="35000"/>
                  </a:schemeClr>
                </a:solidFill>
                <a:latin typeface="+mj-lt"/>
                <a:ea typeface="+mj-ea"/>
                <a:cs typeface="+mj-cs"/>
              </a:defRPr>
            </a:pPr>
            <a:r>
              <a:rPr lang="es-AR" b="1"/>
              <a:t>Comercio total con China por región (2019)</a:t>
            </a:r>
          </a:p>
        </c:rich>
      </c:tx>
      <c:overlay val="0"/>
      <c:spPr>
        <a:noFill/>
        <a:ln>
          <a:noFill/>
        </a:ln>
        <a:effectLst/>
      </c:spPr>
      <c:txPr>
        <a:bodyPr rot="0" spcFirstLastPara="1" vertOverflow="ellipsis" vert="horz" wrap="square" anchor="ctr" anchorCtr="1"/>
        <a:lstStyle/>
        <a:p>
          <a:pPr>
            <a:defRPr sz="1320" b="1" i="0" u="none" strike="noStrike" kern="1200" cap="none" spc="0" normalizeH="0" baseline="0">
              <a:solidFill>
                <a:schemeClr val="tx1">
                  <a:lumMod val="65000"/>
                  <a:lumOff val="35000"/>
                </a:schemeClr>
              </a:solidFill>
              <a:latin typeface="+mj-lt"/>
              <a:ea typeface="+mj-ea"/>
              <a:cs typeface="+mj-cs"/>
            </a:defRPr>
          </a:pPr>
          <a:endParaRPr lang="es-AR"/>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circle"/>
          <c:size val="8"/>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406948610648201"/>
          <c:y val="0.2223038814400739"/>
          <c:w val="0.81449021096421381"/>
          <c:h val="0.50172568545015461"/>
        </c:manualLayout>
      </c:layout>
      <c:barChart>
        <c:barDir val="col"/>
        <c:grouping val="clustered"/>
        <c:varyColors val="0"/>
        <c:ser>
          <c:idx val="0"/>
          <c:order val="0"/>
          <c:tx>
            <c:strRef>
              <c:f>Comercio!$C$4:$C$5</c:f>
              <c:strCache>
                <c:ptCount val="1"/>
                <c:pt idx="0">
                  <c:v>No miembro</c:v>
                </c:pt>
              </c:strCache>
            </c:strRef>
          </c:tx>
          <c:spPr>
            <a:solidFill>
              <a:schemeClr val="accent1"/>
            </a:solidFill>
            <a:ln>
              <a:noFill/>
            </a:ln>
            <a:effectLst/>
          </c:spPr>
          <c:invertIfNegative val="0"/>
          <c:cat>
            <c:strRef>
              <c:f>Comercio!$B$6:$B$13</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Comercio!$C$6:$C$13</c:f>
              <c:numCache>
                <c:formatCode>_-* #,##0_-;\-* #,##0_-;_-* "-"??_-;_-@_-</c:formatCode>
                <c:ptCount val="7"/>
                <c:pt idx="0">
                  <c:v>1171273394000</c:v>
                </c:pt>
                <c:pt idx="1">
                  <c:v>650299484000</c:v>
                </c:pt>
                <c:pt idx="2">
                  <c:v>224876127199</c:v>
                </c:pt>
                <c:pt idx="3">
                  <c:v>19563605470</c:v>
                </c:pt>
                <c:pt idx="4">
                  <c:v>651461864000</c:v>
                </c:pt>
                <c:pt idx="5">
                  <c:v>85691777000</c:v>
                </c:pt>
                <c:pt idx="6">
                  <c:v>2627817000</c:v>
                </c:pt>
              </c:numCache>
            </c:numRef>
          </c:val>
          <c:extLst>
            <c:ext xmlns:c16="http://schemas.microsoft.com/office/drawing/2014/chart" uri="{C3380CC4-5D6E-409C-BE32-E72D297353CC}">
              <c16:uniqueId val="{00000000-6E59-4260-A694-1B1B22339E99}"/>
            </c:ext>
          </c:extLst>
        </c:ser>
        <c:ser>
          <c:idx val="1"/>
          <c:order val="1"/>
          <c:tx>
            <c:strRef>
              <c:f>Comercio!$D$4:$D$5</c:f>
              <c:strCache>
                <c:ptCount val="1"/>
                <c:pt idx="0">
                  <c:v>Miembro BRI</c:v>
                </c:pt>
              </c:strCache>
            </c:strRef>
          </c:tx>
          <c:spPr>
            <a:solidFill>
              <a:schemeClr val="accent2"/>
            </a:solidFill>
            <a:ln>
              <a:noFill/>
            </a:ln>
            <a:effectLst/>
          </c:spPr>
          <c:invertIfNegative val="0"/>
          <c:cat>
            <c:strRef>
              <c:f>Comercio!$B$6:$B$13</c:f>
              <c:strCache>
                <c:ptCount val="7"/>
                <c:pt idx="0">
                  <c:v>East Asia &amp; Pacific</c:v>
                </c:pt>
                <c:pt idx="1">
                  <c:v>Europe &amp; Central Asia</c:v>
                </c:pt>
                <c:pt idx="2">
                  <c:v>Latin America &amp; Caribbean</c:v>
                </c:pt>
                <c:pt idx="3">
                  <c:v>Middle East &amp; North Africa</c:v>
                </c:pt>
                <c:pt idx="4">
                  <c:v>North America</c:v>
                </c:pt>
                <c:pt idx="5">
                  <c:v>South Asia</c:v>
                </c:pt>
                <c:pt idx="6">
                  <c:v>Sub-Saharan Africa</c:v>
                </c:pt>
              </c:strCache>
            </c:strRef>
          </c:cat>
          <c:val>
            <c:numRef>
              <c:f>Comercio!$D$6:$D$13</c:f>
              <c:numCache>
                <c:formatCode>_-* #,##0_-;\-* #,##0_-;_-* "-"??_-;_-@_-</c:formatCode>
                <c:ptCount val="7"/>
                <c:pt idx="0">
                  <c:v>772174517791</c:v>
                </c:pt>
                <c:pt idx="1">
                  <c:v>354818791000</c:v>
                </c:pt>
                <c:pt idx="2">
                  <c:v>94608290351</c:v>
                </c:pt>
                <c:pt idx="3">
                  <c:v>175888251553</c:v>
                </c:pt>
                <c:pt idx="5">
                  <c:v>37131471094</c:v>
                </c:pt>
                <c:pt idx="6">
                  <c:v>98277284377</c:v>
                </c:pt>
              </c:numCache>
            </c:numRef>
          </c:val>
          <c:extLst>
            <c:ext xmlns:c16="http://schemas.microsoft.com/office/drawing/2014/chart" uri="{C3380CC4-5D6E-409C-BE32-E72D297353CC}">
              <c16:uniqueId val="{00000001-6E59-4260-A694-1B1B22339E99}"/>
            </c:ext>
          </c:extLst>
        </c:ser>
        <c:dLbls>
          <c:showLegendKey val="0"/>
          <c:showVal val="0"/>
          <c:showCatName val="0"/>
          <c:showSerName val="0"/>
          <c:showPercent val="0"/>
          <c:showBubbleSize val="0"/>
        </c:dLbls>
        <c:gapWidth val="199"/>
        <c:axId val="965285376"/>
        <c:axId val="1024492688"/>
      </c:barChart>
      <c:catAx>
        <c:axId val="965285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cap="none" spc="0" normalizeH="0" baseline="0">
                <a:solidFill>
                  <a:schemeClr val="tx1">
                    <a:lumMod val="65000"/>
                    <a:lumOff val="35000"/>
                  </a:schemeClr>
                </a:solidFill>
                <a:latin typeface="+mn-lt"/>
                <a:ea typeface="+mn-ea"/>
                <a:cs typeface="+mn-cs"/>
              </a:defRPr>
            </a:pPr>
            <a:endParaRPr lang="es-AR"/>
          </a:p>
        </c:txPr>
        <c:crossAx val="1024492688"/>
        <c:crosses val="autoZero"/>
        <c:auto val="1"/>
        <c:lblAlgn val="ctr"/>
        <c:lblOffset val="100"/>
        <c:noMultiLvlLbl val="0"/>
      </c:catAx>
      <c:valAx>
        <c:axId val="102449268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crossAx val="965285376"/>
        <c:crosses val="autoZero"/>
        <c:crossBetween val="between"/>
        <c:dispUnits>
          <c:builtInUnit val="millions"/>
          <c:dispUnitsLbl>
            <c:layout>
              <c:manualLayout>
                <c:xMode val="edge"/>
                <c:yMode val="edge"/>
                <c:x val="8.1067381402066385E-4"/>
                <c:y val="0.2936329442927394"/>
              </c:manualLayout>
            </c:layout>
            <c:tx>
              <c:rich>
                <a:bodyPr rot="-5400000" spcFirstLastPara="1" vertOverflow="ellipsis" vert="horz" wrap="square" anchor="ctr" anchorCtr="1"/>
                <a:lstStyle/>
                <a:p>
                  <a:pPr>
                    <a:defRPr sz="1100" b="0" i="0" u="none" strike="noStrike" kern="1200" cap="all" baseline="0">
                      <a:solidFill>
                        <a:schemeClr val="tx1">
                          <a:lumMod val="65000"/>
                          <a:lumOff val="35000"/>
                        </a:schemeClr>
                      </a:solidFill>
                      <a:latin typeface="+mn-lt"/>
                      <a:ea typeface="+mn-ea"/>
                      <a:cs typeface="+mn-cs"/>
                    </a:defRPr>
                  </a:pPr>
                  <a:r>
                    <a:rPr lang="en-US"/>
                    <a:t>Millones USD</a:t>
                  </a:r>
                </a:p>
              </c:rich>
            </c:tx>
            <c:spPr>
              <a:noFill/>
              <a:ln>
                <a:noFill/>
              </a:ln>
              <a:effectLst/>
            </c:spPr>
            <c:txPr>
              <a:bodyPr rot="-5400000" spcFirstLastPara="1" vertOverflow="ellipsis" vert="horz" wrap="square" anchor="ctr" anchorCtr="1"/>
              <a:lstStyle/>
              <a:p>
                <a:pPr>
                  <a:defRPr sz="1100" b="0" i="0" u="none" strike="noStrike" kern="1200" cap="all" baseline="0">
                    <a:solidFill>
                      <a:schemeClr val="tx1">
                        <a:lumMod val="65000"/>
                        <a:lumOff val="35000"/>
                      </a:schemeClr>
                    </a:solidFill>
                    <a:latin typeface="+mn-lt"/>
                    <a:ea typeface="+mn-ea"/>
                    <a:cs typeface="+mn-cs"/>
                  </a:defRPr>
                </a:pPr>
                <a:endParaRPr lang="es-AR"/>
              </a:p>
            </c:txPr>
          </c:dispUnitsLbl>
        </c:dispUnits>
      </c:valAx>
      <c:spPr>
        <a:noFill/>
        <a:ln>
          <a:noFill/>
        </a:ln>
        <a:effectLst/>
      </c:spPr>
    </c:plotArea>
    <c:legend>
      <c:legendPos val="t"/>
      <c:layout>
        <c:manualLayout>
          <c:xMode val="edge"/>
          <c:yMode val="edge"/>
          <c:x val="0.3537260327556197"/>
          <c:y val="0.12120765821341488"/>
          <c:w val="0.2907107543606266"/>
          <c:h val="8.9556935194335122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sz="1100"/>
      </a:pPr>
      <a:endParaRPr lang="es-AR"/>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s-AR" sz="1200" b="1" i="0" u="none" strike="noStrike" kern="1200" spc="0" baseline="0" noProof="0">
                <a:solidFill>
                  <a:schemeClr val="tx1">
                    <a:lumMod val="65000"/>
                    <a:lumOff val="35000"/>
                  </a:schemeClr>
                </a:solidFill>
                <a:latin typeface="+mn-lt"/>
                <a:ea typeface="+mn-ea"/>
                <a:cs typeface="+mn-cs"/>
              </a:defRPr>
            </a:pPr>
            <a:r>
              <a:rPr lang="es-AR" sz="1200" b="1" i="0" baseline="0" noProof="0" dirty="0">
                <a:effectLst/>
              </a:rPr>
              <a:t> Concentración de importaciones desde China, total importado y pertenencia a BRI </a:t>
            </a:r>
            <a:r>
              <a:rPr lang="es-AR" sz="1200" b="1" i="0" u="none" strike="noStrike" baseline="0" noProof="0" dirty="0">
                <a:effectLst/>
              </a:rPr>
              <a:t>(2019)</a:t>
            </a:r>
            <a:endParaRPr lang="es-AR" sz="1200" b="1" i="0" baseline="0" noProof="0" dirty="0">
              <a:effectLst/>
            </a:endParaRPr>
          </a:p>
          <a:p>
            <a:pPr>
              <a:defRPr lang="es-AR" sz="1200" b="1" i="0" u="none" strike="noStrike" kern="1200" spc="0" baseline="0" noProof="0">
                <a:solidFill>
                  <a:schemeClr val="tx1">
                    <a:lumMod val="65000"/>
                    <a:lumOff val="35000"/>
                  </a:schemeClr>
                </a:solidFill>
                <a:latin typeface="+mn-lt"/>
                <a:ea typeface="+mn-ea"/>
                <a:cs typeface="+mn-cs"/>
              </a:defRPr>
            </a:pPr>
            <a:r>
              <a:rPr lang="es-AR" sz="1200" b="1" i="0" baseline="0" noProof="0" dirty="0">
                <a:effectLst/>
              </a:rPr>
              <a:t> </a:t>
            </a:r>
            <a:endParaRPr lang="es-AR" sz="1200" b="1" noProof="0" dirty="0">
              <a:effectLst/>
            </a:endParaRPr>
          </a:p>
        </c:rich>
      </c:tx>
      <c:layout>
        <c:manualLayout>
          <c:xMode val="edge"/>
          <c:yMode val="edge"/>
          <c:x val="0.12398912037037034"/>
          <c:y val="1.3643548387096775E-2"/>
        </c:manualLayout>
      </c:layout>
      <c:overlay val="0"/>
      <c:spPr>
        <a:noFill/>
        <a:ln>
          <a:noFill/>
        </a:ln>
        <a:effectLst/>
      </c:spPr>
    </c:title>
    <c:autoTitleDeleted val="0"/>
    <c:plotArea>
      <c:layout>
        <c:manualLayout>
          <c:layoutTarget val="inner"/>
          <c:xMode val="edge"/>
          <c:yMode val="edge"/>
          <c:x val="0.15436944444444448"/>
          <c:y val="0.117702688172043"/>
          <c:w val="0.78136712962962973"/>
          <c:h val="0.83000340501792114"/>
        </c:manualLayout>
      </c:layout>
      <c:bubbleChart>
        <c:varyColors val="0"/>
        <c:ser>
          <c:idx val="0"/>
          <c:order val="0"/>
          <c:tx>
            <c:strRef>
              <c:f>'Bubble comercio'!$O$1</c:f>
              <c:strCache>
                <c:ptCount val="1"/>
                <c:pt idx="0">
                  <c:v> %imports-rpc </c:v>
                </c:pt>
              </c:strCache>
            </c:strRef>
          </c:tx>
          <c:spPr>
            <a:solidFill>
              <a:schemeClr val="accent1">
                <a:alpha val="75000"/>
              </a:schemeClr>
            </a:solidFill>
            <a:ln w="25400">
              <a:noFill/>
            </a:ln>
            <a:effectLst/>
          </c:spPr>
          <c:invertIfNegative val="0"/>
          <c:xVal>
            <c:numRef>
              <c:f>'Bubble comercio'!$F$2:$F$217</c:f>
              <c:numCache>
                <c:formatCode>General</c:formatCode>
                <c:ptCount val="200"/>
                <c:pt idx="0">
                  <c:v>1</c:v>
                </c:pt>
                <c:pt idx="1">
                  <c:v>1</c:v>
                </c:pt>
                <c:pt idx="2">
                  <c:v>1</c:v>
                </c:pt>
                <c:pt idx="3">
                  <c:v>0</c:v>
                </c:pt>
                <c:pt idx="4">
                  <c:v>1</c:v>
                </c:pt>
                <c:pt idx="5">
                  <c:v>1</c:v>
                </c:pt>
                <c:pt idx="6">
                  <c:v>0</c:v>
                </c:pt>
                <c:pt idx="7">
                  <c:v>1</c:v>
                </c:pt>
                <c:pt idx="8">
                  <c:v>0</c:v>
                </c:pt>
                <c:pt idx="9">
                  <c:v>0</c:v>
                </c:pt>
                <c:pt idx="10">
                  <c:v>1</c:v>
                </c:pt>
                <c:pt idx="11">
                  <c:v>1</c:v>
                </c:pt>
                <c:pt idx="12">
                  <c:v>0</c:v>
                </c:pt>
                <c:pt idx="13">
                  <c:v>1</c:v>
                </c:pt>
                <c:pt idx="14">
                  <c:v>1</c:v>
                </c:pt>
                <c:pt idx="15">
                  <c:v>1</c:v>
                </c:pt>
                <c:pt idx="16">
                  <c:v>1</c:v>
                </c:pt>
                <c:pt idx="17">
                  <c:v>0</c:v>
                </c:pt>
                <c:pt idx="18">
                  <c:v>0</c:v>
                </c:pt>
                <c:pt idx="19">
                  <c:v>0</c:v>
                </c:pt>
                <c:pt idx="20">
                  <c:v>0</c:v>
                </c:pt>
                <c:pt idx="21">
                  <c:v>1</c:v>
                </c:pt>
                <c:pt idx="22">
                  <c:v>1</c:v>
                </c:pt>
                <c:pt idx="23">
                  <c:v>1</c:v>
                </c:pt>
                <c:pt idx="24">
                  <c:v>0</c:v>
                </c:pt>
                <c:pt idx="25">
                  <c:v>0</c:v>
                </c:pt>
                <c:pt idx="26">
                  <c:v>1</c:v>
                </c:pt>
                <c:pt idx="27">
                  <c:v>1</c:v>
                </c:pt>
                <c:pt idx="28">
                  <c:v>0</c:v>
                </c:pt>
                <c:pt idx="29">
                  <c:v>1</c:v>
                </c:pt>
                <c:pt idx="30">
                  <c:v>1</c:v>
                </c:pt>
                <c:pt idx="31">
                  <c:v>1</c:v>
                </c:pt>
                <c:pt idx="32">
                  <c:v>1</c:v>
                </c:pt>
                <c:pt idx="33">
                  <c:v>0</c:v>
                </c:pt>
                <c:pt idx="34">
                  <c:v>0</c:v>
                </c:pt>
                <c:pt idx="35">
                  <c:v>0</c:v>
                </c:pt>
                <c:pt idx="36">
                  <c:v>1</c:v>
                </c:pt>
                <c:pt idx="37">
                  <c:v>1</c:v>
                </c:pt>
                <c:pt idx="38">
                  <c:v>0</c:v>
                </c:pt>
                <c:pt idx="39">
                  <c:v>1</c:v>
                </c:pt>
                <c:pt idx="40">
                  <c:v>1</c:v>
                </c:pt>
                <c:pt idx="41">
                  <c:v>1</c:v>
                </c:pt>
                <c:pt idx="42">
                  <c:v>1</c:v>
                </c:pt>
                <c:pt idx="43">
                  <c:v>1</c:v>
                </c:pt>
                <c:pt idx="44">
                  <c:v>1</c:v>
                </c:pt>
                <c:pt idx="45">
                  <c:v>1</c:v>
                </c:pt>
                <c:pt idx="46">
                  <c:v>1</c:v>
                </c:pt>
                <c:pt idx="47">
                  <c:v>0</c:v>
                </c:pt>
                <c:pt idx="48">
                  <c:v>1</c:v>
                </c:pt>
                <c:pt idx="49">
                  <c:v>1</c:v>
                </c:pt>
                <c:pt idx="50">
                  <c:v>0</c:v>
                </c:pt>
                <c:pt idx="51">
                  <c:v>1</c:v>
                </c:pt>
                <c:pt idx="52">
                  <c:v>1</c:v>
                </c:pt>
                <c:pt idx="53">
                  <c:v>1</c:v>
                </c:pt>
                <c:pt idx="54">
                  <c:v>1</c:v>
                </c:pt>
                <c:pt idx="55">
                  <c:v>1</c:v>
                </c:pt>
                <c:pt idx="56">
                  <c:v>1</c:v>
                </c:pt>
                <c:pt idx="57">
                  <c:v>1</c:v>
                </c:pt>
                <c:pt idx="58">
                  <c:v>0</c:v>
                </c:pt>
                <c:pt idx="59">
                  <c:v>1</c:v>
                </c:pt>
                <c:pt idx="60">
                  <c:v>0</c:v>
                </c:pt>
                <c:pt idx="61">
                  <c:v>1</c:v>
                </c:pt>
                <c:pt idx="62">
                  <c:v>1</c:v>
                </c:pt>
                <c:pt idx="63">
                  <c:v>0</c:v>
                </c:pt>
                <c:pt idx="64">
                  <c:v>0</c:v>
                </c:pt>
                <c:pt idx="65">
                  <c:v>0</c:v>
                </c:pt>
                <c:pt idx="66">
                  <c:v>1</c:v>
                </c:pt>
                <c:pt idx="67">
                  <c:v>1</c:v>
                </c:pt>
                <c:pt idx="68">
                  <c:v>1</c:v>
                </c:pt>
                <c:pt idx="69">
                  <c:v>0</c:v>
                </c:pt>
                <c:pt idx="70">
                  <c:v>1</c:v>
                </c:pt>
                <c:pt idx="71">
                  <c:v>1</c:v>
                </c:pt>
                <c:pt idx="72">
                  <c:v>0</c:v>
                </c:pt>
                <c:pt idx="73">
                  <c:v>1</c:v>
                </c:pt>
                <c:pt idx="74">
                  <c:v>0</c:v>
                </c:pt>
                <c:pt idx="75">
                  <c:v>1</c:v>
                </c:pt>
                <c:pt idx="76">
                  <c:v>0</c:v>
                </c:pt>
                <c:pt idx="77">
                  <c:v>1</c:v>
                </c:pt>
                <c:pt idx="78">
                  <c:v>0</c:v>
                </c:pt>
                <c:pt idx="79">
                  <c:v>0</c:v>
                </c:pt>
                <c:pt idx="80">
                  <c:v>0</c:v>
                </c:pt>
                <c:pt idx="81">
                  <c:v>1</c:v>
                </c:pt>
                <c:pt idx="82">
                  <c:v>0</c:v>
                </c:pt>
                <c:pt idx="83">
                  <c:v>0</c:v>
                </c:pt>
                <c:pt idx="84">
                  <c:v>1</c:v>
                </c:pt>
                <c:pt idx="85">
                  <c:v>1</c:v>
                </c:pt>
                <c:pt idx="86">
                  <c:v>1</c:v>
                </c:pt>
                <c:pt idx="87">
                  <c:v>0</c:v>
                </c:pt>
                <c:pt idx="88">
                  <c:v>0</c:v>
                </c:pt>
                <c:pt idx="89">
                  <c:v>1</c:v>
                </c:pt>
                <c:pt idx="90">
                  <c:v>1</c:v>
                </c:pt>
                <c:pt idx="91">
                  <c:v>0</c:v>
                </c:pt>
                <c:pt idx="92">
                  <c:v>0</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0</c:v>
                </c:pt>
                <c:pt idx="108">
                  <c:v>1</c:v>
                </c:pt>
                <c:pt idx="109">
                  <c:v>0</c:v>
                </c:pt>
                <c:pt idx="110">
                  <c:v>1</c:v>
                </c:pt>
                <c:pt idx="111">
                  <c:v>1</c:v>
                </c:pt>
                <c:pt idx="112">
                  <c:v>1</c:v>
                </c:pt>
                <c:pt idx="113">
                  <c:v>1</c:v>
                </c:pt>
                <c:pt idx="114">
                  <c:v>0</c:v>
                </c:pt>
                <c:pt idx="115">
                  <c:v>1</c:v>
                </c:pt>
                <c:pt idx="116">
                  <c:v>0</c:v>
                </c:pt>
                <c:pt idx="117">
                  <c:v>0</c:v>
                </c:pt>
                <c:pt idx="118">
                  <c:v>1</c:v>
                </c:pt>
                <c:pt idx="119">
                  <c:v>1</c:v>
                </c:pt>
                <c:pt idx="120">
                  <c:v>1</c:v>
                </c:pt>
                <c:pt idx="121">
                  <c:v>1</c:v>
                </c:pt>
                <c:pt idx="122">
                  <c:v>1</c:v>
                </c:pt>
                <c:pt idx="123">
                  <c:v>1</c:v>
                </c:pt>
                <c:pt idx="124">
                  <c:v>1</c:v>
                </c:pt>
                <c:pt idx="125">
                  <c:v>1</c:v>
                </c:pt>
                <c:pt idx="126">
                  <c:v>0</c:v>
                </c:pt>
                <c:pt idx="127">
                  <c:v>1</c:v>
                </c:pt>
                <c:pt idx="128">
                  <c:v>0</c:v>
                </c:pt>
                <c:pt idx="129">
                  <c:v>0</c:v>
                </c:pt>
                <c:pt idx="130">
                  <c:v>1</c:v>
                </c:pt>
                <c:pt idx="131">
                  <c:v>0</c:v>
                </c:pt>
                <c:pt idx="132">
                  <c:v>1</c:v>
                </c:pt>
                <c:pt idx="133">
                  <c:v>1</c:v>
                </c:pt>
                <c:pt idx="134">
                  <c:v>1</c:v>
                </c:pt>
                <c:pt idx="135">
                  <c:v>0</c:v>
                </c:pt>
                <c:pt idx="136">
                  <c:v>1</c:v>
                </c:pt>
                <c:pt idx="137">
                  <c:v>1</c:v>
                </c:pt>
                <c:pt idx="138">
                  <c:v>0</c:v>
                </c:pt>
                <c:pt idx="139">
                  <c:v>0</c:v>
                </c:pt>
                <c:pt idx="140">
                  <c:v>1</c:v>
                </c:pt>
                <c:pt idx="141">
                  <c:v>1</c:v>
                </c:pt>
                <c:pt idx="142">
                  <c:v>0</c:v>
                </c:pt>
                <c:pt idx="143">
                  <c:v>1</c:v>
                </c:pt>
                <c:pt idx="144">
                  <c:v>1</c:v>
                </c:pt>
                <c:pt idx="145">
                  <c:v>1</c:v>
                </c:pt>
                <c:pt idx="146">
                  <c:v>1</c:v>
                </c:pt>
                <c:pt idx="147">
                  <c:v>1</c:v>
                </c:pt>
                <c:pt idx="148">
                  <c:v>1</c:v>
                </c:pt>
                <c:pt idx="149">
                  <c:v>1</c:v>
                </c:pt>
                <c:pt idx="150">
                  <c:v>1</c:v>
                </c:pt>
                <c:pt idx="151">
                  <c:v>0</c:v>
                </c:pt>
                <c:pt idx="152">
                  <c:v>0</c:v>
                </c:pt>
                <c:pt idx="153">
                  <c:v>0</c:v>
                </c:pt>
                <c:pt idx="154">
                  <c:v>1</c:v>
                </c:pt>
                <c:pt idx="155">
                  <c:v>0</c:v>
                </c:pt>
                <c:pt idx="156">
                  <c:v>1</c:v>
                </c:pt>
                <c:pt idx="157">
                  <c:v>1</c:v>
                </c:pt>
                <c:pt idx="158">
                  <c:v>1</c:v>
                </c:pt>
                <c:pt idx="159">
                  <c:v>1</c:v>
                </c:pt>
                <c:pt idx="160">
                  <c:v>1</c:v>
                </c:pt>
                <c:pt idx="161">
                  <c:v>1</c:v>
                </c:pt>
                <c:pt idx="162">
                  <c:v>0</c:v>
                </c:pt>
                <c:pt idx="163">
                  <c:v>1</c:v>
                </c:pt>
                <c:pt idx="164">
                  <c:v>1</c:v>
                </c:pt>
                <c:pt idx="165">
                  <c:v>1</c:v>
                </c:pt>
                <c:pt idx="166">
                  <c:v>1</c:v>
                </c:pt>
                <c:pt idx="167">
                  <c:v>1</c:v>
                </c:pt>
                <c:pt idx="168">
                  <c:v>0</c:v>
                </c:pt>
                <c:pt idx="169">
                  <c:v>1</c:v>
                </c:pt>
                <c:pt idx="170">
                  <c:v>1</c:v>
                </c:pt>
                <c:pt idx="171">
                  <c:v>1</c:v>
                </c:pt>
                <c:pt idx="172">
                  <c:v>0</c:v>
                </c:pt>
                <c:pt idx="173">
                  <c:v>0</c:v>
                </c:pt>
                <c:pt idx="174">
                  <c:v>0</c:v>
                </c:pt>
                <c:pt idx="175">
                  <c:v>0</c:v>
                </c:pt>
                <c:pt idx="176">
                  <c:v>1</c:v>
                </c:pt>
                <c:pt idx="177">
                  <c:v>1</c:v>
                </c:pt>
                <c:pt idx="178">
                  <c:v>1</c:v>
                </c:pt>
                <c:pt idx="179">
                  <c:v>1</c:v>
                </c:pt>
                <c:pt idx="180">
                  <c:v>1</c:v>
                </c:pt>
                <c:pt idx="181">
                  <c:v>1</c:v>
                </c:pt>
                <c:pt idx="182">
                  <c:v>1</c:v>
                </c:pt>
                <c:pt idx="183">
                  <c:v>1</c:v>
                </c:pt>
                <c:pt idx="184">
                  <c:v>1</c:v>
                </c:pt>
                <c:pt idx="185">
                  <c:v>0</c:v>
                </c:pt>
                <c:pt idx="186">
                  <c:v>0</c:v>
                </c:pt>
                <c:pt idx="187">
                  <c:v>1</c:v>
                </c:pt>
                <c:pt idx="188">
                  <c:v>1</c:v>
                </c:pt>
                <c:pt idx="189">
                  <c:v>1</c:v>
                </c:pt>
                <c:pt idx="190">
                  <c:v>0</c:v>
                </c:pt>
                <c:pt idx="191">
                  <c:v>0</c:v>
                </c:pt>
                <c:pt idx="192">
                  <c:v>1</c:v>
                </c:pt>
                <c:pt idx="193">
                  <c:v>1</c:v>
                </c:pt>
                <c:pt idx="194">
                  <c:v>1</c:v>
                </c:pt>
                <c:pt idx="195">
                  <c:v>1</c:v>
                </c:pt>
                <c:pt idx="196">
                  <c:v>1</c:v>
                </c:pt>
                <c:pt idx="197">
                  <c:v>1</c:v>
                </c:pt>
                <c:pt idx="198">
                  <c:v>1</c:v>
                </c:pt>
                <c:pt idx="199">
                  <c:v>1</c:v>
                </c:pt>
              </c:numCache>
            </c:numRef>
          </c:xVal>
          <c:yVal>
            <c:numRef>
              <c:f>'Bubble comercio'!$O$2:$O$217</c:f>
              <c:numCache>
                <c:formatCode>0%</c:formatCode>
                <c:ptCount val="200"/>
                <c:pt idx="0">
                  <c:v>1.7068369185901095E-4</c:v>
                </c:pt>
                <c:pt idx="1">
                  <c:v>9.201417128596584E-2</c:v>
                </c:pt>
                <c:pt idx="2">
                  <c:v>0.16334268311984509</c:v>
                </c:pt>
                <c:pt idx="3">
                  <c:v>1.6018120964197574E-3</c:v>
                </c:pt>
                <c:pt idx="4">
                  <c:v>1.4336024501442288E-4</c:v>
                </c:pt>
                <c:pt idx="5">
                  <c:v>7.3900206568672647E-2</c:v>
                </c:pt>
                <c:pt idx="6">
                  <c:v>0.18847304520730063</c:v>
                </c:pt>
                <c:pt idx="7">
                  <c:v>0.14749142487130407</c:v>
                </c:pt>
                <c:pt idx="8">
                  <c:v>5.7003467010388912E-3</c:v>
                </c:pt>
                <c:pt idx="9">
                  <c:v>0.2551173556270005</c:v>
                </c:pt>
                <c:pt idx="10">
                  <c:v>6.2279399541318378E-2</c:v>
                </c:pt>
                <c:pt idx="11">
                  <c:v>0.1049232844031132</c:v>
                </c:pt>
                <c:pt idx="12">
                  <c:v>7.3510721982563906E-3</c:v>
                </c:pt>
                <c:pt idx="13">
                  <c:v>1.1111267116931742E-4</c:v>
                </c:pt>
                <c:pt idx="14">
                  <c:v>0.29885640617010367</c:v>
                </c:pt>
                <c:pt idx="15">
                  <c:v>9.8470708556733177E-2</c:v>
                </c:pt>
                <c:pt idx="16">
                  <c:v>4.5031042251553126E-2</c:v>
                </c:pt>
                <c:pt idx="17">
                  <c:v>4.2645573973302792E-2</c:v>
                </c:pt>
                <c:pt idx="18">
                  <c:v>0.1184741970232094</c:v>
                </c:pt>
                <c:pt idx="19">
                  <c:v>2.2422642642427968E-2</c:v>
                </c:pt>
                <c:pt idx="20">
                  <c:v>1.3095906150652007E-2</c:v>
                </c:pt>
                <c:pt idx="21">
                  <c:v>0.21733017434399735</c:v>
                </c:pt>
                <c:pt idx="22">
                  <c:v>7.4337151379383057E-2</c:v>
                </c:pt>
                <c:pt idx="23">
                  <c:v>1.9151415646480159E-2</c:v>
                </c:pt>
                <c:pt idx="24">
                  <c:v>0.198884387992696</c:v>
                </c:pt>
                <c:pt idx="25">
                  <c:v>5.7078082795317215E-3</c:v>
                </c:pt>
                <c:pt idx="26">
                  <c:v>0.1314920612021121</c:v>
                </c:pt>
                <c:pt idx="27">
                  <c:v>4.5221926867283588E-2</c:v>
                </c:pt>
                <c:pt idx="28">
                  <c:v>0.1222580858733579</c:v>
                </c:pt>
                <c:pt idx="29">
                  <c:v>0.1535738636043478</c:v>
                </c:pt>
                <c:pt idx="30">
                  <c:v>5.1684778686438587E-2</c:v>
                </c:pt>
                <c:pt idx="31">
                  <c:v>0.37406018939830077</c:v>
                </c:pt>
                <c:pt idx="32">
                  <c:v>0.27190704321076264</c:v>
                </c:pt>
                <c:pt idx="33">
                  <c:v>0.12471691033945227</c:v>
                </c:pt>
                <c:pt idx="34">
                  <c:v>8.5590259245181717E-3</c:v>
                </c:pt>
                <c:pt idx="35">
                  <c:v>0.18166993054283662</c:v>
                </c:pt>
                <c:pt idx="36">
                  <c:v>0.27701659303247655</c:v>
                </c:pt>
                <c:pt idx="37">
                  <c:v>0.22835842408657414</c:v>
                </c:pt>
                <c:pt idx="38">
                  <c:v>0.20794739058011297</c:v>
                </c:pt>
                <c:pt idx="39">
                  <c:v>9.7006205569302076E-2</c:v>
                </c:pt>
                <c:pt idx="40">
                  <c:v>0.11133327223057921</c:v>
                </c:pt>
                <c:pt idx="41">
                  <c:v>0.23290074950123527</c:v>
                </c:pt>
                <c:pt idx="42">
                  <c:v>0.21532200723135808</c:v>
                </c:pt>
                <c:pt idx="43">
                  <c:v>0.13182389668491623</c:v>
                </c:pt>
                <c:pt idx="44">
                  <c:v>1.7190236240933871E-4</c:v>
                </c:pt>
                <c:pt idx="45">
                  <c:v>2.8714080573155359E-2</c:v>
                </c:pt>
                <c:pt idx="46">
                  <c:v>0.13730008518396541</c:v>
                </c:pt>
                <c:pt idx="47">
                  <c:v>3.1367527341227844E-2</c:v>
                </c:pt>
                <c:pt idx="48">
                  <c:v>5.025055116681118E-2</c:v>
                </c:pt>
                <c:pt idx="49">
                  <c:v>0.15806966316998039</c:v>
                </c:pt>
                <c:pt idx="50">
                  <c:v>7.2673225367832148E-2</c:v>
                </c:pt>
                <c:pt idx="51">
                  <c:v>0.41695681594082029</c:v>
                </c:pt>
                <c:pt idx="52">
                  <c:v>6.7254502019857304E-2</c:v>
                </c:pt>
                <c:pt idx="53">
                  <c:v>0.15544736262388517</c:v>
                </c:pt>
                <c:pt idx="54">
                  <c:v>0.20079919196603171</c:v>
                </c:pt>
                <c:pt idx="55">
                  <c:v>0.15307972214429649</c:v>
                </c:pt>
                <c:pt idx="56">
                  <c:v>8.4805553041805343E-2</c:v>
                </c:pt>
                <c:pt idx="57">
                  <c:v>0.11016672274006382</c:v>
                </c:pt>
                <c:pt idx="58">
                  <c:v>0.12513128900055603</c:v>
                </c:pt>
                <c:pt idx="59">
                  <c:v>8.1045167644855115E-2</c:v>
                </c:pt>
                <c:pt idx="60">
                  <c:v>7.1228664328173708E-2</c:v>
                </c:pt>
                <c:pt idx="61">
                  <c:v>0.27502139524611435</c:v>
                </c:pt>
                <c:pt idx="62">
                  <c:v>0.12526234667055289</c:v>
                </c:pt>
                <c:pt idx="63">
                  <c:v>7.4528915594613804E-2</c:v>
                </c:pt>
                <c:pt idx="64">
                  <c:v>9.2573515806005521E-2</c:v>
                </c:pt>
                <c:pt idx="65">
                  <c:v>5.0687482045664096E-2</c:v>
                </c:pt>
                <c:pt idx="66">
                  <c:v>0.16248124161148986</c:v>
                </c:pt>
                <c:pt idx="67">
                  <c:v>0.10594253003854001</c:v>
                </c:pt>
                <c:pt idx="68">
                  <c:v>0.1090119685455691</c:v>
                </c:pt>
                <c:pt idx="69">
                  <c:v>9.9630959338475919E-2</c:v>
                </c:pt>
                <c:pt idx="70">
                  <c:v>1.8160423648165506E-4</c:v>
                </c:pt>
                <c:pt idx="71">
                  <c:v>7.3097088501736671E-2</c:v>
                </c:pt>
                <c:pt idx="72">
                  <c:v>7.9702784474409885E-4</c:v>
                </c:pt>
                <c:pt idx="73">
                  <c:v>3.1650463180051477E-2</c:v>
                </c:pt>
                <c:pt idx="74">
                  <c:v>0.11211251339846416</c:v>
                </c:pt>
                <c:pt idx="75">
                  <c:v>0.38187640839756665</c:v>
                </c:pt>
                <c:pt idx="76">
                  <c:v>9.5101628619858616E-2</c:v>
                </c:pt>
                <c:pt idx="77">
                  <c:v>3.7343754441763362E-2</c:v>
                </c:pt>
                <c:pt idx="78">
                  <c:v>0.14641844137278445</c:v>
                </c:pt>
                <c:pt idx="79">
                  <c:v>1.611664484925895E-4</c:v>
                </c:pt>
                <c:pt idx="80">
                  <c:v>0.45732171476247613</c:v>
                </c:pt>
                <c:pt idx="81">
                  <c:v>6.1009659821466555E-2</c:v>
                </c:pt>
                <c:pt idx="82">
                  <c:v>7.3671618713622142E-2</c:v>
                </c:pt>
                <c:pt idx="83">
                  <c:v>0.14283653600600826</c:v>
                </c:pt>
                <c:pt idx="84">
                  <c:v>0.26232916457980271</c:v>
                </c:pt>
                <c:pt idx="85">
                  <c:v>0.27238659100855961</c:v>
                </c:pt>
                <c:pt idx="86">
                  <c:v>0.18566043295559712</c:v>
                </c:pt>
                <c:pt idx="87">
                  <c:v>5.6240272694205388E-2</c:v>
                </c:pt>
                <c:pt idx="88">
                  <c:v>0.13374743834459621</c:v>
                </c:pt>
                <c:pt idx="89">
                  <c:v>7.4637098766902277E-2</c:v>
                </c:pt>
                <c:pt idx="90">
                  <c:v>7.7636837137868263E-5</c:v>
                </c:pt>
                <c:pt idx="91">
                  <c:v>0.23473621920426327</c:v>
                </c:pt>
                <c:pt idx="92">
                  <c:v>0.15963098994766897</c:v>
                </c:pt>
                <c:pt idx="93">
                  <c:v>0.17044772193953051</c:v>
                </c:pt>
                <c:pt idx="94">
                  <c:v>0.20849825662954341</c:v>
                </c:pt>
                <c:pt idx="95">
                  <c:v>0.19254883277751311</c:v>
                </c:pt>
                <c:pt idx="96">
                  <c:v>0.21305069242452715</c:v>
                </c:pt>
                <c:pt idx="97">
                  <c:v>0.17859291728377172</c:v>
                </c:pt>
                <c:pt idx="98">
                  <c:v>0.35358852386907902</c:v>
                </c:pt>
                <c:pt idx="99">
                  <c:v>2.8996187113461186E-4</c:v>
                </c:pt>
                <c:pt idx="100">
                  <c:v>3.2118958270895157E-2</c:v>
                </c:pt>
                <c:pt idx="101">
                  <c:v>8.4540396646588759E-2</c:v>
                </c:pt>
                <c:pt idx="102">
                  <c:v>6.1675984181525395E-2</c:v>
                </c:pt>
                <c:pt idx="103">
                  <c:v>0.3166048062303754</c:v>
                </c:pt>
                <c:pt idx="104">
                  <c:v>0.15830404562875888</c:v>
                </c:pt>
                <c:pt idx="105">
                  <c:v>2.9082242282703945E-2</c:v>
                </c:pt>
                <c:pt idx="106">
                  <c:v>2.904529050472722E-2</c:v>
                </c:pt>
                <c:pt idx="107">
                  <c:v>0.33122045133162215</c:v>
                </c:pt>
                <c:pt idx="108">
                  <c:v>0.22443042356629792</c:v>
                </c:pt>
                <c:pt idx="109">
                  <c:v>0.18402644137595253</c:v>
                </c:pt>
                <c:pt idx="110">
                  <c:v>0.20681671151263775</c:v>
                </c:pt>
                <c:pt idx="111">
                  <c:v>1.6258521144005904E-4</c:v>
                </c:pt>
                <c:pt idx="112">
                  <c:v>1.5763860556680041E-4</c:v>
                </c:pt>
                <c:pt idx="113">
                  <c:v>4.0472577952381072E-2</c:v>
                </c:pt>
                <c:pt idx="114">
                  <c:v>0.19941376218074514</c:v>
                </c:pt>
                <c:pt idx="115">
                  <c:v>0.10735988294872614</c:v>
                </c:pt>
                <c:pt idx="116">
                  <c:v>0.1669352742118187</c:v>
                </c:pt>
                <c:pt idx="117">
                  <c:v>0.18241676242003094</c:v>
                </c:pt>
                <c:pt idx="118">
                  <c:v>0.14418830119573414</c:v>
                </c:pt>
                <c:pt idx="119">
                  <c:v>0.10308846215661241</c:v>
                </c:pt>
                <c:pt idx="120">
                  <c:v>3.3241172864772344E-4</c:v>
                </c:pt>
                <c:pt idx="121">
                  <c:v>8.5341616005407628E-2</c:v>
                </c:pt>
                <c:pt idx="122">
                  <c:v>0.10146712868520068</c:v>
                </c:pt>
                <c:pt idx="123">
                  <c:v>0.11278234368495328</c:v>
                </c:pt>
                <c:pt idx="124">
                  <c:v>0.34641375598762275</c:v>
                </c:pt>
                <c:pt idx="125">
                  <c:v>4.0149305228819675E-2</c:v>
                </c:pt>
                <c:pt idx="126">
                  <c:v>1.2626706206925057E-2</c:v>
                </c:pt>
                <c:pt idx="127">
                  <c:v>1.5739133757757139E-4</c:v>
                </c:pt>
                <c:pt idx="128">
                  <c:v>9.3556955878650497E-2</c:v>
                </c:pt>
                <c:pt idx="129">
                  <c:v>6.0901990445547852E-2</c:v>
                </c:pt>
                <c:pt idx="130">
                  <c:v>0.20218075706213967</c:v>
                </c:pt>
                <c:pt idx="131">
                  <c:v>0.12795789111430533</c:v>
                </c:pt>
                <c:pt idx="132">
                  <c:v>0.2039074892823213</c:v>
                </c:pt>
                <c:pt idx="133">
                  <c:v>0.25459684307003411</c:v>
                </c:pt>
                <c:pt idx="134">
                  <c:v>5.7714493643701514E-2</c:v>
                </c:pt>
                <c:pt idx="135">
                  <c:v>0.10182162973164206</c:v>
                </c:pt>
                <c:pt idx="136">
                  <c:v>9.5307952127189607E-2</c:v>
                </c:pt>
                <c:pt idx="137">
                  <c:v>0.24781177996638343</c:v>
                </c:pt>
                <c:pt idx="138">
                  <c:v>0.16832209683815841</c:v>
                </c:pt>
                <c:pt idx="139">
                  <c:v>6.763077205950174E-5</c:v>
                </c:pt>
                <c:pt idx="140">
                  <c:v>0.21563113499776487</c:v>
                </c:pt>
                <c:pt idx="141">
                  <c:v>0.18694102272531246</c:v>
                </c:pt>
                <c:pt idx="142">
                  <c:v>0.15784727629101089</c:v>
                </c:pt>
                <c:pt idx="143">
                  <c:v>0.24207331302334181</c:v>
                </c:pt>
                <c:pt idx="144">
                  <c:v>0.22805155692584991</c:v>
                </c:pt>
                <c:pt idx="145">
                  <c:v>0.12330864610765499</c:v>
                </c:pt>
                <c:pt idx="146">
                  <c:v>3.6924492340859615E-2</c:v>
                </c:pt>
                <c:pt idx="147">
                  <c:v>0.11945182108546266</c:v>
                </c:pt>
                <c:pt idx="148">
                  <c:v>5.2714707421136674E-2</c:v>
                </c:pt>
                <c:pt idx="149">
                  <c:v>0.22203164827507796</c:v>
                </c:pt>
                <c:pt idx="150">
                  <c:v>1.9884181182618852E-4</c:v>
                </c:pt>
                <c:pt idx="151">
                  <c:v>2.8940699442473392E-2</c:v>
                </c:pt>
                <c:pt idx="152">
                  <c:v>5.4176625899937962E-5</c:v>
                </c:pt>
                <c:pt idx="153">
                  <c:v>6.280850657451012E-2</c:v>
                </c:pt>
                <c:pt idx="154">
                  <c:v>0.12204732462936541</c:v>
                </c:pt>
                <c:pt idx="155">
                  <c:v>6.071834261913777E-2</c:v>
                </c:pt>
                <c:pt idx="156">
                  <c:v>0.18752651862221562</c:v>
                </c:pt>
                <c:pt idx="157">
                  <c:v>0.10692185191213406</c:v>
                </c:pt>
                <c:pt idx="158">
                  <c:v>9.439572246335029E-2</c:v>
                </c:pt>
                <c:pt idx="159">
                  <c:v>4.6828544456259905E-2</c:v>
                </c:pt>
                <c:pt idx="160">
                  <c:v>0.26473621491698907</c:v>
                </c:pt>
                <c:pt idx="161">
                  <c:v>0.13659136295740229</c:v>
                </c:pt>
                <c:pt idx="162">
                  <c:v>4.7597356586120632E-2</c:v>
                </c:pt>
                <c:pt idx="163">
                  <c:v>6.3625974224147591E-2</c:v>
                </c:pt>
                <c:pt idx="164">
                  <c:v>6.1197492147566271E-2</c:v>
                </c:pt>
                <c:pt idx="165">
                  <c:v>0.23378437674181421</c:v>
                </c:pt>
                <c:pt idx="166">
                  <c:v>0.1880072680111203</c:v>
                </c:pt>
                <c:pt idx="167">
                  <c:v>0.1846525794321697</c:v>
                </c:pt>
                <c:pt idx="168">
                  <c:v>8.692497229650907E-2</c:v>
                </c:pt>
                <c:pt idx="169">
                  <c:v>0.20708400819664302</c:v>
                </c:pt>
                <c:pt idx="170">
                  <c:v>0.28109319272233346</c:v>
                </c:pt>
                <c:pt idx="171">
                  <c:v>7.43620906249087E-2</c:v>
                </c:pt>
                <c:pt idx="172">
                  <c:v>6.0806842220906737E-2</c:v>
                </c:pt>
                <c:pt idx="173">
                  <c:v>5.4660608545080355E-2</c:v>
                </c:pt>
                <c:pt idx="174">
                  <c:v>0.20939273038429596</c:v>
                </c:pt>
                <c:pt idx="175">
                  <c:v>0.20087888170599513</c:v>
                </c:pt>
                <c:pt idx="176">
                  <c:v>0.18194548619124548</c:v>
                </c:pt>
                <c:pt idx="177">
                  <c:v>0.21951382882467521</c:v>
                </c:pt>
                <c:pt idx="178">
                  <c:v>0.21218256681429049</c:v>
                </c:pt>
                <c:pt idx="179">
                  <c:v>0.2624206545757613</c:v>
                </c:pt>
                <c:pt idx="180">
                  <c:v>0.20518132921476778</c:v>
                </c:pt>
                <c:pt idx="181">
                  <c:v>0.13880124697439181</c:v>
                </c:pt>
                <c:pt idx="182">
                  <c:v>5.0740218324200663E-2</c:v>
                </c:pt>
                <c:pt idx="183">
                  <c:v>9.4635972898111307E-5</c:v>
                </c:pt>
                <c:pt idx="184">
                  <c:v>9.0935368714032336E-2</c:v>
                </c:pt>
                <c:pt idx="185">
                  <c:v>7.1009614368230537E-3</c:v>
                </c:pt>
                <c:pt idx="186">
                  <c:v>0.23988037432682971</c:v>
                </c:pt>
                <c:pt idx="187">
                  <c:v>0.16327485252459417</c:v>
                </c:pt>
                <c:pt idx="188">
                  <c:v>0.15166461313485974</c:v>
                </c:pt>
                <c:pt idx="189">
                  <c:v>1.5219099247758326E-4</c:v>
                </c:pt>
                <c:pt idx="190">
                  <c:v>9.462827391023379E-2</c:v>
                </c:pt>
                <c:pt idx="191">
                  <c:v>0.18371141275875416</c:v>
                </c:pt>
                <c:pt idx="192">
                  <c:v>0.15751891858797504</c:v>
                </c:pt>
                <c:pt idx="193">
                  <c:v>0.23117075576595508</c:v>
                </c:pt>
                <c:pt idx="194">
                  <c:v>0.26838009062430074</c:v>
                </c:pt>
                <c:pt idx="195">
                  <c:v>0.24926105471853388</c:v>
                </c:pt>
                <c:pt idx="196">
                  <c:v>0.29823838680323628</c:v>
                </c:pt>
                <c:pt idx="197">
                  <c:v>0.27516222437169968</c:v>
                </c:pt>
                <c:pt idx="198">
                  <c:v>0.14113346295097329</c:v>
                </c:pt>
                <c:pt idx="199">
                  <c:v>8.5857849441236547E-2</c:v>
                </c:pt>
              </c:numCache>
            </c:numRef>
          </c:yVal>
          <c:bubbleSize>
            <c:numRef>
              <c:f>'Bubble comercio'!$K$2:$K$217</c:f>
              <c:numCache>
                <c:formatCode>_-* #,##0_-;\-* #,##0_-;_-* "-"??_-;_-@_-</c:formatCode>
                <c:ptCount val="200"/>
                <c:pt idx="0">
                  <c:v>1156686</c:v>
                </c:pt>
                <c:pt idx="1">
                  <c:v>543620000</c:v>
                </c:pt>
                <c:pt idx="2">
                  <c:v>6945571000</c:v>
                </c:pt>
                <c:pt idx="3">
                  <c:v>2369000</c:v>
                </c:pt>
                <c:pt idx="4">
                  <c:v>2030002</c:v>
                </c:pt>
                <c:pt idx="5">
                  <c:v>42000000</c:v>
                </c:pt>
                <c:pt idx="6">
                  <c:v>9258744000</c:v>
                </c:pt>
                <c:pt idx="7">
                  <c:v>748024000</c:v>
                </c:pt>
                <c:pt idx="8">
                  <c:v>7527000</c:v>
                </c:pt>
                <c:pt idx="9">
                  <c:v>54664941000</c:v>
                </c:pt>
                <c:pt idx="10">
                  <c:v>10998301000</c:v>
                </c:pt>
                <c:pt idx="11">
                  <c:v>1432151000</c:v>
                </c:pt>
                <c:pt idx="12">
                  <c:v>24409000</c:v>
                </c:pt>
                <c:pt idx="13">
                  <c:v>2065479</c:v>
                </c:pt>
                <c:pt idx="14">
                  <c:v>17335124000</c:v>
                </c:pt>
                <c:pt idx="15">
                  <c:v>155688000</c:v>
                </c:pt>
                <c:pt idx="16">
                  <c:v>1777676000</c:v>
                </c:pt>
                <c:pt idx="17">
                  <c:v>18242346000</c:v>
                </c:pt>
                <c:pt idx="18">
                  <c:v>116803000</c:v>
                </c:pt>
                <c:pt idx="19">
                  <c:v>25093000</c:v>
                </c:pt>
                <c:pt idx="20">
                  <c:v>10805000</c:v>
                </c:pt>
                <c:pt idx="21">
                  <c:v>2126481000</c:v>
                </c:pt>
                <c:pt idx="22">
                  <c:v>829556000</c:v>
                </c:pt>
                <c:pt idx="23">
                  <c:v>125605000</c:v>
                </c:pt>
                <c:pt idx="24">
                  <c:v>35270401000</c:v>
                </c:pt>
                <c:pt idx="25">
                  <c:v>10403000</c:v>
                </c:pt>
                <c:pt idx="26">
                  <c:v>670827000</c:v>
                </c:pt>
                <c:pt idx="27">
                  <c:v>1703728000</c:v>
                </c:pt>
                <c:pt idx="28">
                  <c:v>520739000</c:v>
                </c:pt>
                <c:pt idx="29">
                  <c:v>136273000</c:v>
                </c:pt>
                <c:pt idx="30">
                  <c:v>40821000</c:v>
                </c:pt>
                <c:pt idx="31">
                  <c:v>7585748000</c:v>
                </c:pt>
                <c:pt idx="32">
                  <c:v>1676311000</c:v>
                </c:pt>
                <c:pt idx="33">
                  <c:v>56516369000</c:v>
                </c:pt>
                <c:pt idx="34">
                  <c:v>38326000</c:v>
                </c:pt>
                <c:pt idx="35">
                  <c:v>103158000</c:v>
                </c:pt>
                <c:pt idx="36">
                  <c:v>278769000</c:v>
                </c:pt>
                <c:pt idx="37">
                  <c:v>14642138000</c:v>
                </c:pt>
                <c:pt idx="38">
                  <c:v>10483257000</c:v>
                </c:pt>
                <c:pt idx="39">
                  <c:v>19759000</c:v>
                </c:pt>
                <c:pt idx="40">
                  <c:v>256304000</c:v>
                </c:pt>
                <c:pt idx="41">
                  <c:v>2055303000</c:v>
                </c:pt>
                <c:pt idx="42">
                  <c:v>42699000</c:v>
                </c:pt>
                <c:pt idx="43">
                  <c:v>2123512000</c:v>
                </c:pt>
                <c:pt idx="44">
                  <c:v>1801977</c:v>
                </c:pt>
                <c:pt idx="45">
                  <c:v>804121000</c:v>
                </c:pt>
                <c:pt idx="46">
                  <c:v>790430000</c:v>
                </c:pt>
                <c:pt idx="47">
                  <c:v>37699000</c:v>
                </c:pt>
                <c:pt idx="48">
                  <c:v>461258000</c:v>
                </c:pt>
                <c:pt idx="49">
                  <c:v>28337633000</c:v>
                </c:pt>
                <c:pt idx="50">
                  <c:v>7064542000</c:v>
                </c:pt>
                <c:pt idx="51">
                  <c:v>2210291000</c:v>
                </c:pt>
                <c:pt idx="52">
                  <c:v>33896000</c:v>
                </c:pt>
                <c:pt idx="53">
                  <c:v>3451291000</c:v>
                </c:pt>
                <c:pt idx="54">
                  <c:v>4496520000</c:v>
                </c:pt>
                <c:pt idx="55">
                  <c:v>12040871000</c:v>
                </c:pt>
                <c:pt idx="56">
                  <c:v>961495000</c:v>
                </c:pt>
                <c:pt idx="57">
                  <c:v>113297000</c:v>
                </c:pt>
                <c:pt idx="58">
                  <c:v>48608000</c:v>
                </c:pt>
                <c:pt idx="59">
                  <c:v>1513684000</c:v>
                </c:pt>
                <c:pt idx="60">
                  <c:v>131198000</c:v>
                </c:pt>
                <c:pt idx="61">
                  <c:v>4283703000</c:v>
                </c:pt>
                <c:pt idx="62">
                  <c:v>348970000</c:v>
                </c:pt>
                <c:pt idx="63">
                  <c:v>5494261000</c:v>
                </c:pt>
                <c:pt idx="64">
                  <c:v>59613001000</c:v>
                </c:pt>
                <c:pt idx="65">
                  <c:v>99339000</c:v>
                </c:pt>
                <c:pt idx="66">
                  <c:v>377221000</c:v>
                </c:pt>
                <c:pt idx="67">
                  <c:v>52339000</c:v>
                </c:pt>
                <c:pt idx="68">
                  <c:v>806568000</c:v>
                </c:pt>
                <c:pt idx="69">
                  <c:v>123165529000</c:v>
                </c:pt>
                <c:pt idx="70">
                  <c:v>1895911</c:v>
                </c:pt>
                <c:pt idx="71">
                  <c:v>4546496000</c:v>
                </c:pt>
                <c:pt idx="72">
                  <c:v>809000</c:v>
                </c:pt>
                <c:pt idx="73">
                  <c:v>15187000</c:v>
                </c:pt>
                <c:pt idx="74">
                  <c:v>2228910000</c:v>
                </c:pt>
                <c:pt idx="75">
                  <c:v>1718196000</c:v>
                </c:pt>
                <c:pt idx="76">
                  <c:v>31924000</c:v>
                </c:pt>
                <c:pt idx="77">
                  <c:v>223322000</c:v>
                </c:pt>
                <c:pt idx="78">
                  <c:v>561068000</c:v>
                </c:pt>
                <c:pt idx="79">
                  <c:v>1475811</c:v>
                </c:pt>
                <c:pt idx="80">
                  <c:v>264601840000</c:v>
                </c:pt>
                <c:pt idx="81">
                  <c:v>7157898000</c:v>
                </c:pt>
                <c:pt idx="82">
                  <c:v>483334000</c:v>
                </c:pt>
                <c:pt idx="83">
                  <c:v>68402093000</c:v>
                </c:pt>
                <c:pt idx="84">
                  <c:v>44930621000</c:v>
                </c:pt>
                <c:pt idx="85">
                  <c:v>9608726000</c:v>
                </c:pt>
                <c:pt idx="86">
                  <c:v>9473787000</c:v>
                </c:pt>
                <c:pt idx="87">
                  <c:v>5706890000</c:v>
                </c:pt>
                <c:pt idx="88">
                  <c:v>10230484000</c:v>
                </c:pt>
                <c:pt idx="89">
                  <c:v>35449437000</c:v>
                </c:pt>
                <c:pt idx="90">
                  <c:v>492158</c:v>
                </c:pt>
                <c:pt idx="91">
                  <c:v>169236468000</c:v>
                </c:pt>
                <c:pt idx="92">
                  <c:v>3086738000</c:v>
                </c:pt>
                <c:pt idx="93">
                  <c:v>6537806000</c:v>
                </c:pt>
                <c:pt idx="94">
                  <c:v>3590419000</c:v>
                </c:pt>
                <c:pt idx="95">
                  <c:v>20208000</c:v>
                </c:pt>
                <c:pt idx="96">
                  <c:v>107219763000</c:v>
                </c:pt>
                <c:pt idx="97">
                  <c:v>5988380000</c:v>
                </c:pt>
                <c:pt idx="98">
                  <c:v>1733932000</c:v>
                </c:pt>
                <c:pt idx="99">
                  <c:v>1681038</c:v>
                </c:pt>
                <c:pt idx="100">
                  <c:v>570676000</c:v>
                </c:pt>
                <c:pt idx="101">
                  <c:v>1626506000</c:v>
                </c:pt>
                <c:pt idx="102">
                  <c:v>84452000</c:v>
                </c:pt>
                <c:pt idx="103">
                  <c:v>3909849000</c:v>
                </c:pt>
                <c:pt idx="104">
                  <c:v>2453887000</c:v>
                </c:pt>
                <c:pt idx="105">
                  <c:v>1039964000</c:v>
                </c:pt>
                <c:pt idx="106">
                  <c:v>658564000</c:v>
                </c:pt>
                <c:pt idx="107">
                  <c:v>3982601000</c:v>
                </c:pt>
                <c:pt idx="108">
                  <c:v>874580000</c:v>
                </c:pt>
                <c:pt idx="109">
                  <c:v>541249000</c:v>
                </c:pt>
                <c:pt idx="110">
                  <c:v>42395009000</c:v>
                </c:pt>
                <c:pt idx="111">
                  <c:v>469397</c:v>
                </c:pt>
                <c:pt idx="112">
                  <c:v>795952</c:v>
                </c:pt>
                <c:pt idx="113">
                  <c:v>286007000</c:v>
                </c:pt>
                <c:pt idx="114">
                  <c:v>2384715000</c:v>
                </c:pt>
                <c:pt idx="115">
                  <c:v>377888000</c:v>
                </c:pt>
                <c:pt idx="116">
                  <c:v>934919000</c:v>
                </c:pt>
                <c:pt idx="117">
                  <c:v>83052434000</c:v>
                </c:pt>
                <c:pt idx="118">
                  <c:v>18739000</c:v>
                </c:pt>
                <c:pt idx="119">
                  <c:v>602293000</c:v>
                </c:pt>
                <c:pt idx="120">
                  <c:v>2036805</c:v>
                </c:pt>
                <c:pt idx="121">
                  <c:v>221954000</c:v>
                </c:pt>
                <c:pt idx="122">
                  <c:v>5181673000</c:v>
                </c:pt>
                <c:pt idx="123">
                  <c:v>861515000</c:v>
                </c:pt>
                <c:pt idx="124">
                  <c:v>6447069000</c:v>
                </c:pt>
                <c:pt idx="125">
                  <c:v>309760000</c:v>
                </c:pt>
                <c:pt idx="126">
                  <c:v>1222000</c:v>
                </c:pt>
                <c:pt idx="127">
                  <c:v>1939889</c:v>
                </c:pt>
                <c:pt idx="128">
                  <c:v>48168518000</c:v>
                </c:pt>
                <c:pt idx="129">
                  <c:v>155403000</c:v>
                </c:pt>
                <c:pt idx="130">
                  <c:v>8556490000</c:v>
                </c:pt>
                <c:pt idx="131">
                  <c:v>893851000</c:v>
                </c:pt>
                <c:pt idx="132">
                  <c:v>565338000</c:v>
                </c:pt>
                <c:pt idx="133">
                  <c:v>12064658000</c:v>
                </c:pt>
                <c:pt idx="134">
                  <c:v>545143000</c:v>
                </c:pt>
                <c:pt idx="135">
                  <c:v>8749234000</c:v>
                </c:pt>
                <c:pt idx="136">
                  <c:v>3020370000</c:v>
                </c:pt>
                <c:pt idx="137">
                  <c:v>12423997000</c:v>
                </c:pt>
                <c:pt idx="138">
                  <c:v>18675000</c:v>
                </c:pt>
                <c:pt idx="139">
                  <c:v>447273</c:v>
                </c:pt>
                <c:pt idx="140">
                  <c:v>4634116000</c:v>
                </c:pt>
                <c:pt idx="141">
                  <c:v>801931000</c:v>
                </c:pt>
                <c:pt idx="142">
                  <c:v>1923749000</c:v>
                </c:pt>
                <c:pt idx="143">
                  <c:v>10255204000</c:v>
                </c:pt>
                <c:pt idx="144">
                  <c:v>25749016000</c:v>
                </c:pt>
                <c:pt idx="145">
                  <c:v>30414556000</c:v>
                </c:pt>
                <c:pt idx="146">
                  <c:v>3306270000</c:v>
                </c:pt>
                <c:pt idx="147">
                  <c:v>3485373000</c:v>
                </c:pt>
                <c:pt idx="148">
                  <c:v>5094577000</c:v>
                </c:pt>
                <c:pt idx="149">
                  <c:v>54126998000</c:v>
                </c:pt>
                <c:pt idx="150">
                  <c:v>635332</c:v>
                </c:pt>
                <c:pt idx="151">
                  <c:v>9707000</c:v>
                </c:pt>
                <c:pt idx="152">
                  <c:v>33795</c:v>
                </c:pt>
                <c:pt idx="153">
                  <c:v>21046000</c:v>
                </c:pt>
                <c:pt idx="154">
                  <c:v>47731000</c:v>
                </c:pt>
                <c:pt idx="155">
                  <c:v>8980000</c:v>
                </c:pt>
                <c:pt idx="156">
                  <c:v>27066620000</c:v>
                </c:pt>
                <c:pt idx="157">
                  <c:v>871078000</c:v>
                </c:pt>
                <c:pt idx="158">
                  <c:v>2506052000</c:v>
                </c:pt>
                <c:pt idx="159">
                  <c:v>69050000</c:v>
                </c:pt>
                <c:pt idx="160">
                  <c:v>313687000</c:v>
                </c:pt>
                <c:pt idx="161">
                  <c:v>49037427000</c:v>
                </c:pt>
                <c:pt idx="162">
                  <c:v>6583000</c:v>
                </c:pt>
                <c:pt idx="163">
                  <c:v>5784117000</c:v>
                </c:pt>
                <c:pt idx="164">
                  <c:v>2335422000</c:v>
                </c:pt>
                <c:pt idx="165">
                  <c:v>98567000</c:v>
                </c:pt>
                <c:pt idx="166">
                  <c:v>732058000</c:v>
                </c:pt>
                <c:pt idx="167">
                  <c:v>16289345000</c:v>
                </c:pt>
                <c:pt idx="168">
                  <c:v>32639038000</c:v>
                </c:pt>
                <c:pt idx="169">
                  <c:v>4032819000</c:v>
                </c:pt>
                <c:pt idx="170">
                  <c:v>2292123000</c:v>
                </c:pt>
                <c:pt idx="171">
                  <c:v>127267000</c:v>
                </c:pt>
                <c:pt idx="172">
                  <c:v>9665818000</c:v>
                </c:pt>
                <c:pt idx="173">
                  <c:v>15152336000</c:v>
                </c:pt>
                <c:pt idx="174">
                  <c:v>1315799000</c:v>
                </c:pt>
                <c:pt idx="175">
                  <c:v>57432534000</c:v>
                </c:pt>
                <c:pt idx="176">
                  <c:v>605468000</c:v>
                </c:pt>
                <c:pt idx="177">
                  <c:v>1992547000</c:v>
                </c:pt>
                <c:pt idx="178">
                  <c:v>50953351000</c:v>
                </c:pt>
                <c:pt idx="179">
                  <c:v>143579000</c:v>
                </c:pt>
                <c:pt idx="180">
                  <c:v>403066000</c:v>
                </c:pt>
                <c:pt idx="181">
                  <c:v>29475000</c:v>
                </c:pt>
                <c:pt idx="182">
                  <c:v>363467000</c:v>
                </c:pt>
                <c:pt idx="183">
                  <c:v>2041662</c:v>
                </c:pt>
                <c:pt idx="184">
                  <c:v>19127972000</c:v>
                </c:pt>
                <c:pt idx="185">
                  <c:v>3023000</c:v>
                </c:pt>
                <c:pt idx="186">
                  <c:v>21737000</c:v>
                </c:pt>
                <c:pt idx="187">
                  <c:v>1256568000</c:v>
                </c:pt>
                <c:pt idx="188">
                  <c:v>9203749000</c:v>
                </c:pt>
                <c:pt idx="189">
                  <c:v>40777643</c:v>
                </c:pt>
                <c:pt idx="190">
                  <c:v>65529528000</c:v>
                </c:pt>
                <c:pt idx="191">
                  <c:v>470950852000</c:v>
                </c:pt>
                <c:pt idx="192">
                  <c:v>1309557000</c:v>
                </c:pt>
                <c:pt idx="193">
                  <c:v>5052269000</c:v>
                </c:pt>
                <c:pt idx="194">
                  <c:v>76761000</c:v>
                </c:pt>
                <c:pt idx="195">
                  <c:v>1539866000</c:v>
                </c:pt>
                <c:pt idx="196">
                  <c:v>75586138000</c:v>
                </c:pt>
                <c:pt idx="197">
                  <c:v>2821134000</c:v>
                </c:pt>
                <c:pt idx="198">
                  <c:v>1019957000</c:v>
                </c:pt>
                <c:pt idx="199">
                  <c:v>411593000</c:v>
                </c:pt>
              </c:numCache>
            </c:numRef>
          </c:bubbleSize>
          <c:bubble3D val="0"/>
          <c:extLst>
            <c:ext xmlns:c16="http://schemas.microsoft.com/office/drawing/2014/chart" uri="{C3380CC4-5D6E-409C-BE32-E72D297353CC}">
              <c16:uniqueId val="{000000C8-ED28-4C82-AE4E-1B1D2786441C}"/>
            </c:ext>
          </c:extLst>
        </c:ser>
        <c:dLbls>
          <c:showLegendKey val="0"/>
          <c:showVal val="0"/>
          <c:showCatName val="0"/>
          <c:showSerName val="0"/>
          <c:showPercent val="0"/>
          <c:showBubbleSize val="0"/>
        </c:dLbls>
        <c:bubbleScale val="100"/>
        <c:showNegBubbles val="0"/>
        <c:axId val="572123664"/>
        <c:axId val="2137859728"/>
      </c:bubbleChart>
      <c:valAx>
        <c:axId val="572123664"/>
        <c:scaling>
          <c:orientation val="minMax"/>
          <c:max val="1.5"/>
          <c:min val="-0.5"/>
        </c:scaling>
        <c:delete val="0"/>
        <c:axPos val="b"/>
        <c:title>
          <c:tx>
            <c:rich>
              <a:bodyPr/>
              <a:lstStyle/>
              <a:p>
                <a:pPr>
                  <a:defRPr b="0"/>
                </a:pPr>
                <a:r>
                  <a:rPr lang="es-AR" b="0"/>
                  <a:t>Pertenencia</a:t>
                </a:r>
                <a:r>
                  <a:rPr lang="es-AR" b="0" baseline="0"/>
                  <a:t> a BRI (izq. 0 - der. 1)</a:t>
                </a:r>
                <a:endParaRPr lang="es-AR" b="0"/>
              </a:p>
            </c:rich>
          </c:tx>
          <c:layout>
            <c:manualLayout>
              <c:xMode val="edge"/>
              <c:yMode val="edge"/>
              <c:x val="0.32401795382456877"/>
              <c:y val="0.96002007376540877"/>
            </c:manualLayout>
          </c:layout>
          <c:overlay val="0"/>
        </c:title>
        <c:numFmt formatCode="General" sourceLinked="1"/>
        <c:majorTickMark val="none"/>
        <c:minorTickMark val="none"/>
        <c:tickLblPos val="none"/>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2137859728"/>
        <c:crosses val="autoZero"/>
        <c:crossBetween val="midCat"/>
        <c:majorUnit val="0.5"/>
        <c:minorUnit val="0.5"/>
      </c:valAx>
      <c:valAx>
        <c:axId val="2137859728"/>
        <c:scaling>
          <c:orientation val="minMax"/>
          <c:max val="0.8"/>
          <c:min val="0"/>
        </c:scaling>
        <c:delete val="0"/>
        <c:axPos val="l"/>
        <c:title>
          <c:tx>
            <c:rich>
              <a:bodyPr/>
              <a:lstStyle/>
              <a:p>
                <a:pPr>
                  <a:defRPr b="0">
                    <a:solidFill>
                      <a:schemeClr val="tx1">
                        <a:lumMod val="65000"/>
                        <a:lumOff val="35000"/>
                      </a:schemeClr>
                    </a:solidFill>
                  </a:defRPr>
                </a:pPr>
                <a:r>
                  <a:rPr lang="es-AR" b="0">
                    <a:solidFill>
                      <a:schemeClr val="tx1">
                        <a:lumMod val="65000"/>
                        <a:lumOff val="35000"/>
                      </a:schemeClr>
                    </a:solidFill>
                  </a:rPr>
                  <a:t>Concentración geográfica del comercio</a:t>
                </a:r>
              </a:p>
            </c:rich>
          </c:tx>
          <c:layout>
            <c:manualLayout>
              <c:xMode val="edge"/>
              <c:yMode val="edge"/>
              <c:x val="2.322662037037037E-2"/>
              <c:y val="0.32973189964157706"/>
            </c:manualLayout>
          </c:layout>
          <c:overlay val="0"/>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572123664"/>
        <c:crossesAt val="-0.5"/>
        <c:crossBetween val="midCat"/>
      </c:valAx>
    </c:plotArea>
    <c:plotVisOnly val="1"/>
    <c:dispBlanksAs val="gap"/>
    <c:showDLblsOverMax val="0"/>
    <c:extLst/>
  </c:chart>
  <c:spPr>
    <a:ln>
      <a:solidFill>
        <a:schemeClr val="tx1"/>
      </a:solidFill>
    </a:ln>
  </c:spPr>
  <c:txPr>
    <a:bodyPr/>
    <a:lstStyle/>
    <a:p>
      <a:pPr>
        <a:defRPr/>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s-AR" noProof="0">
                <a:solidFill>
                  <a:schemeClr val="tx1">
                    <a:lumMod val="65000"/>
                    <a:lumOff val="35000"/>
                  </a:schemeClr>
                </a:solidFill>
              </a:defRPr>
            </a:pPr>
            <a:r>
              <a:rPr lang="es-AR" sz="1200" b="1" i="0" baseline="0" noProof="0" dirty="0">
                <a:solidFill>
                  <a:schemeClr val="tx1">
                    <a:lumMod val="65000"/>
                    <a:lumOff val="35000"/>
                  </a:schemeClr>
                </a:solidFill>
                <a:effectLst/>
              </a:rPr>
              <a:t>Concentración de exportaciones hacia China, total exportado y pertenencia a BRI (2019)</a:t>
            </a:r>
            <a:endParaRPr lang="es-AR" sz="1200" b="1" noProof="0" dirty="0">
              <a:solidFill>
                <a:schemeClr val="tx1">
                  <a:lumMod val="65000"/>
                  <a:lumOff val="35000"/>
                </a:schemeClr>
              </a:solidFill>
              <a:effectLst/>
            </a:endParaRPr>
          </a:p>
        </c:rich>
      </c:tx>
      <c:layout>
        <c:manualLayout>
          <c:xMode val="edge"/>
          <c:yMode val="edge"/>
          <c:x val="0.17015966754155731"/>
          <c:y val="1.7826032520297814E-2"/>
        </c:manualLayout>
      </c:layout>
      <c:overlay val="0"/>
    </c:title>
    <c:autoTitleDeleted val="0"/>
    <c:plotArea>
      <c:layout>
        <c:manualLayout>
          <c:layoutTarget val="inner"/>
          <c:xMode val="edge"/>
          <c:yMode val="edge"/>
          <c:x val="0.16024907407407407"/>
          <c:y val="0.117702688172043"/>
          <c:w val="0.7754875"/>
          <c:h val="0.83000340501792114"/>
        </c:manualLayout>
      </c:layout>
      <c:bubbleChart>
        <c:varyColors val="0"/>
        <c:ser>
          <c:idx val="0"/>
          <c:order val="0"/>
          <c:tx>
            <c:strRef>
              <c:f>'Bubble comercio'!$P$1</c:f>
              <c:strCache>
                <c:ptCount val="1"/>
                <c:pt idx="0">
                  <c:v> %exports-rpc </c:v>
                </c:pt>
              </c:strCache>
            </c:strRef>
          </c:tx>
          <c:spPr>
            <a:solidFill>
              <a:schemeClr val="accent1">
                <a:alpha val="75000"/>
              </a:schemeClr>
            </a:solidFill>
            <a:ln w="25400">
              <a:noFill/>
            </a:ln>
            <a:effectLst/>
          </c:spPr>
          <c:invertIfNegative val="0"/>
          <c:xVal>
            <c:numRef>
              <c:f>'Bubble comercio'!$F$2:$F$217</c:f>
              <c:numCache>
                <c:formatCode>General</c:formatCode>
                <c:ptCount val="200"/>
                <c:pt idx="0">
                  <c:v>1</c:v>
                </c:pt>
                <c:pt idx="1">
                  <c:v>1</c:v>
                </c:pt>
                <c:pt idx="2">
                  <c:v>1</c:v>
                </c:pt>
                <c:pt idx="3">
                  <c:v>0</c:v>
                </c:pt>
                <c:pt idx="4">
                  <c:v>1</c:v>
                </c:pt>
                <c:pt idx="5">
                  <c:v>1</c:v>
                </c:pt>
                <c:pt idx="6">
                  <c:v>0</c:v>
                </c:pt>
                <c:pt idx="7">
                  <c:v>1</c:v>
                </c:pt>
                <c:pt idx="8">
                  <c:v>0</c:v>
                </c:pt>
                <c:pt idx="9">
                  <c:v>0</c:v>
                </c:pt>
                <c:pt idx="10">
                  <c:v>1</c:v>
                </c:pt>
                <c:pt idx="11">
                  <c:v>1</c:v>
                </c:pt>
                <c:pt idx="12">
                  <c:v>0</c:v>
                </c:pt>
                <c:pt idx="13">
                  <c:v>1</c:v>
                </c:pt>
                <c:pt idx="14">
                  <c:v>1</c:v>
                </c:pt>
                <c:pt idx="15">
                  <c:v>1</c:v>
                </c:pt>
                <c:pt idx="16">
                  <c:v>1</c:v>
                </c:pt>
                <c:pt idx="17">
                  <c:v>0</c:v>
                </c:pt>
                <c:pt idx="18">
                  <c:v>0</c:v>
                </c:pt>
                <c:pt idx="19">
                  <c:v>0</c:v>
                </c:pt>
                <c:pt idx="20">
                  <c:v>0</c:v>
                </c:pt>
                <c:pt idx="21">
                  <c:v>1</c:v>
                </c:pt>
                <c:pt idx="22">
                  <c:v>1</c:v>
                </c:pt>
                <c:pt idx="23">
                  <c:v>1</c:v>
                </c:pt>
                <c:pt idx="24">
                  <c:v>0</c:v>
                </c:pt>
                <c:pt idx="25">
                  <c:v>0</c:v>
                </c:pt>
                <c:pt idx="26">
                  <c:v>1</c:v>
                </c:pt>
                <c:pt idx="27">
                  <c:v>1</c:v>
                </c:pt>
                <c:pt idx="28">
                  <c:v>0</c:v>
                </c:pt>
                <c:pt idx="29">
                  <c:v>1</c:v>
                </c:pt>
                <c:pt idx="30">
                  <c:v>1</c:v>
                </c:pt>
                <c:pt idx="31">
                  <c:v>1</c:v>
                </c:pt>
                <c:pt idx="32">
                  <c:v>1</c:v>
                </c:pt>
                <c:pt idx="33">
                  <c:v>0</c:v>
                </c:pt>
                <c:pt idx="34">
                  <c:v>0</c:v>
                </c:pt>
                <c:pt idx="35">
                  <c:v>0</c:v>
                </c:pt>
                <c:pt idx="36">
                  <c:v>1</c:v>
                </c:pt>
                <c:pt idx="37">
                  <c:v>1</c:v>
                </c:pt>
                <c:pt idx="38">
                  <c:v>0</c:v>
                </c:pt>
                <c:pt idx="39">
                  <c:v>1</c:v>
                </c:pt>
                <c:pt idx="40">
                  <c:v>1</c:v>
                </c:pt>
                <c:pt idx="41">
                  <c:v>1</c:v>
                </c:pt>
                <c:pt idx="42">
                  <c:v>1</c:v>
                </c:pt>
                <c:pt idx="43">
                  <c:v>1</c:v>
                </c:pt>
                <c:pt idx="44">
                  <c:v>1</c:v>
                </c:pt>
                <c:pt idx="45">
                  <c:v>1</c:v>
                </c:pt>
                <c:pt idx="46">
                  <c:v>1</c:v>
                </c:pt>
                <c:pt idx="47">
                  <c:v>0</c:v>
                </c:pt>
                <c:pt idx="48">
                  <c:v>1</c:v>
                </c:pt>
                <c:pt idx="49">
                  <c:v>1</c:v>
                </c:pt>
                <c:pt idx="50">
                  <c:v>0</c:v>
                </c:pt>
                <c:pt idx="51">
                  <c:v>1</c:v>
                </c:pt>
                <c:pt idx="52">
                  <c:v>1</c:v>
                </c:pt>
                <c:pt idx="53">
                  <c:v>1</c:v>
                </c:pt>
                <c:pt idx="54">
                  <c:v>1</c:v>
                </c:pt>
                <c:pt idx="55">
                  <c:v>1</c:v>
                </c:pt>
                <c:pt idx="56">
                  <c:v>1</c:v>
                </c:pt>
                <c:pt idx="57">
                  <c:v>1</c:v>
                </c:pt>
                <c:pt idx="58">
                  <c:v>0</c:v>
                </c:pt>
                <c:pt idx="59">
                  <c:v>1</c:v>
                </c:pt>
                <c:pt idx="60">
                  <c:v>0</c:v>
                </c:pt>
                <c:pt idx="61">
                  <c:v>1</c:v>
                </c:pt>
                <c:pt idx="62">
                  <c:v>1</c:v>
                </c:pt>
                <c:pt idx="63">
                  <c:v>0</c:v>
                </c:pt>
                <c:pt idx="64">
                  <c:v>0</c:v>
                </c:pt>
                <c:pt idx="65">
                  <c:v>0</c:v>
                </c:pt>
                <c:pt idx="66">
                  <c:v>1</c:v>
                </c:pt>
                <c:pt idx="67">
                  <c:v>1</c:v>
                </c:pt>
                <c:pt idx="68">
                  <c:v>1</c:v>
                </c:pt>
                <c:pt idx="69">
                  <c:v>0</c:v>
                </c:pt>
                <c:pt idx="70">
                  <c:v>1</c:v>
                </c:pt>
                <c:pt idx="71">
                  <c:v>1</c:v>
                </c:pt>
                <c:pt idx="72">
                  <c:v>0</c:v>
                </c:pt>
                <c:pt idx="73">
                  <c:v>1</c:v>
                </c:pt>
                <c:pt idx="74">
                  <c:v>0</c:v>
                </c:pt>
                <c:pt idx="75">
                  <c:v>1</c:v>
                </c:pt>
                <c:pt idx="76">
                  <c:v>0</c:v>
                </c:pt>
                <c:pt idx="77">
                  <c:v>1</c:v>
                </c:pt>
                <c:pt idx="78">
                  <c:v>0</c:v>
                </c:pt>
                <c:pt idx="79">
                  <c:v>0</c:v>
                </c:pt>
                <c:pt idx="80">
                  <c:v>0</c:v>
                </c:pt>
                <c:pt idx="81">
                  <c:v>1</c:v>
                </c:pt>
                <c:pt idx="82">
                  <c:v>0</c:v>
                </c:pt>
                <c:pt idx="83">
                  <c:v>0</c:v>
                </c:pt>
                <c:pt idx="84">
                  <c:v>1</c:v>
                </c:pt>
                <c:pt idx="85">
                  <c:v>1</c:v>
                </c:pt>
                <c:pt idx="86">
                  <c:v>1</c:v>
                </c:pt>
                <c:pt idx="87">
                  <c:v>0</c:v>
                </c:pt>
                <c:pt idx="88">
                  <c:v>0</c:v>
                </c:pt>
                <c:pt idx="89">
                  <c:v>1</c:v>
                </c:pt>
                <c:pt idx="90">
                  <c:v>1</c:v>
                </c:pt>
                <c:pt idx="91">
                  <c:v>0</c:v>
                </c:pt>
                <c:pt idx="92">
                  <c:v>0</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0</c:v>
                </c:pt>
                <c:pt idx="108">
                  <c:v>1</c:v>
                </c:pt>
                <c:pt idx="109">
                  <c:v>0</c:v>
                </c:pt>
                <c:pt idx="110">
                  <c:v>1</c:v>
                </c:pt>
                <c:pt idx="111">
                  <c:v>1</c:v>
                </c:pt>
                <c:pt idx="112">
                  <c:v>1</c:v>
                </c:pt>
                <c:pt idx="113">
                  <c:v>1</c:v>
                </c:pt>
                <c:pt idx="114">
                  <c:v>0</c:v>
                </c:pt>
                <c:pt idx="115">
                  <c:v>1</c:v>
                </c:pt>
                <c:pt idx="116">
                  <c:v>0</c:v>
                </c:pt>
                <c:pt idx="117">
                  <c:v>0</c:v>
                </c:pt>
                <c:pt idx="118">
                  <c:v>1</c:v>
                </c:pt>
                <c:pt idx="119">
                  <c:v>1</c:v>
                </c:pt>
                <c:pt idx="120">
                  <c:v>1</c:v>
                </c:pt>
                <c:pt idx="121">
                  <c:v>1</c:v>
                </c:pt>
                <c:pt idx="122">
                  <c:v>1</c:v>
                </c:pt>
                <c:pt idx="123">
                  <c:v>1</c:v>
                </c:pt>
                <c:pt idx="124">
                  <c:v>1</c:v>
                </c:pt>
                <c:pt idx="125">
                  <c:v>1</c:v>
                </c:pt>
                <c:pt idx="126">
                  <c:v>0</c:v>
                </c:pt>
                <c:pt idx="127">
                  <c:v>1</c:v>
                </c:pt>
                <c:pt idx="128">
                  <c:v>0</c:v>
                </c:pt>
                <c:pt idx="129">
                  <c:v>0</c:v>
                </c:pt>
                <c:pt idx="130">
                  <c:v>1</c:v>
                </c:pt>
                <c:pt idx="131">
                  <c:v>0</c:v>
                </c:pt>
                <c:pt idx="132">
                  <c:v>1</c:v>
                </c:pt>
                <c:pt idx="133">
                  <c:v>1</c:v>
                </c:pt>
                <c:pt idx="134">
                  <c:v>1</c:v>
                </c:pt>
                <c:pt idx="135">
                  <c:v>0</c:v>
                </c:pt>
                <c:pt idx="136">
                  <c:v>1</c:v>
                </c:pt>
                <c:pt idx="137">
                  <c:v>1</c:v>
                </c:pt>
                <c:pt idx="138">
                  <c:v>0</c:v>
                </c:pt>
                <c:pt idx="139">
                  <c:v>0</c:v>
                </c:pt>
                <c:pt idx="140">
                  <c:v>1</c:v>
                </c:pt>
                <c:pt idx="141">
                  <c:v>1</c:v>
                </c:pt>
                <c:pt idx="142">
                  <c:v>0</c:v>
                </c:pt>
                <c:pt idx="143">
                  <c:v>1</c:v>
                </c:pt>
                <c:pt idx="144">
                  <c:v>1</c:v>
                </c:pt>
                <c:pt idx="145">
                  <c:v>1</c:v>
                </c:pt>
                <c:pt idx="146">
                  <c:v>1</c:v>
                </c:pt>
                <c:pt idx="147">
                  <c:v>1</c:v>
                </c:pt>
                <c:pt idx="148">
                  <c:v>1</c:v>
                </c:pt>
                <c:pt idx="149">
                  <c:v>1</c:v>
                </c:pt>
                <c:pt idx="150">
                  <c:v>1</c:v>
                </c:pt>
                <c:pt idx="151">
                  <c:v>0</c:v>
                </c:pt>
                <c:pt idx="152">
                  <c:v>0</c:v>
                </c:pt>
                <c:pt idx="153">
                  <c:v>0</c:v>
                </c:pt>
                <c:pt idx="154">
                  <c:v>1</c:v>
                </c:pt>
                <c:pt idx="155">
                  <c:v>0</c:v>
                </c:pt>
                <c:pt idx="156">
                  <c:v>1</c:v>
                </c:pt>
                <c:pt idx="157">
                  <c:v>1</c:v>
                </c:pt>
                <c:pt idx="158">
                  <c:v>1</c:v>
                </c:pt>
                <c:pt idx="159">
                  <c:v>1</c:v>
                </c:pt>
                <c:pt idx="160">
                  <c:v>1</c:v>
                </c:pt>
                <c:pt idx="161">
                  <c:v>1</c:v>
                </c:pt>
                <c:pt idx="162">
                  <c:v>0</c:v>
                </c:pt>
                <c:pt idx="163">
                  <c:v>1</c:v>
                </c:pt>
                <c:pt idx="164">
                  <c:v>1</c:v>
                </c:pt>
                <c:pt idx="165">
                  <c:v>1</c:v>
                </c:pt>
                <c:pt idx="166">
                  <c:v>1</c:v>
                </c:pt>
                <c:pt idx="167">
                  <c:v>1</c:v>
                </c:pt>
                <c:pt idx="168">
                  <c:v>0</c:v>
                </c:pt>
                <c:pt idx="169">
                  <c:v>1</c:v>
                </c:pt>
                <c:pt idx="170">
                  <c:v>1</c:v>
                </c:pt>
                <c:pt idx="171">
                  <c:v>1</c:v>
                </c:pt>
                <c:pt idx="172">
                  <c:v>0</c:v>
                </c:pt>
                <c:pt idx="173">
                  <c:v>0</c:v>
                </c:pt>
                <c:pt idx="174">
                  <c:v>0</c:v>
                </c:pt>
                <c:pt idx="175">
                  <c:v>0</c:v>
                </c:pt>
                <c:pt idx="176">
                  <c:v>1</c:v>
                </c:pt>
                <c:pt idx="177">
                  <c:v>1</c:v>
                </c:pt>
                <c:pt idx="178">
                  <c:v>1</c:v>
                </c:pt>
                <c:pt idx="179">
                  <c:v>1</c:v>
                </c:pt>
                <c:pt idx="180">
                  <c:v>1</c:v>
                </c:pt>
                <c:pt idx="181">
                  <c:v>1</c:v>
                </c:pt>
                <c:pt idx="182">
                  <c:v>1</c:v>
                </c:pt>
                <c:pt idx="183">
                  <c:v>1</c:v>
                </c:pt>
                <c:pt idx="184">
                  <c:v>1</c:v>
                </c:pt>
                <c:pt idx="185">
                  <c:v>0</c:v>
                </c:pt>
                <c:pt idx="186">
                  <c:v>0</c:v>
                </c:pt>
                <c:pt idx="187">
                  <c:v>1</c:v>
                </c:pt>
                <c:pt idx="188">
                  <c:v>1</c:v>
                </c:pt>
                <c:pt idx="189">
                  <c:v>1</c:v>
                </c:pt>
                <c:pt idx="190">
                  <c:v>0</c:v>
                </c:pt>
                <c:pt idx="191">
                  <c:v>0</c:v>
                </c:pt>
                <c:pt idx="192">
                  <c:v>1</c:v>
                </c:pt>
                <c:pt idx="193">
                  <c:v>1</c:v>
                </c:pt>
                <c:pt idx="194">
                  <c:v>1</c:v>
                </c:pt>
                <c:pt idx="195">
                  <c:v>1</c:v>
                </c:pt>
                <c:pt idx="196">
                  <c:v>1</c:v>
                </c:pt>
                <c:pt idx="197">
                  <c:v>1</c:v>
                </c:pt>
                <c:pt idx="198">
                  <c:v>1</c:v>
                </c:pt>
                <c:pt idx="199">
                  <c:v>1</c:v>
                </c:pt>
              </c:numCache>
            </c:numRef>
          </c:xVal>
          <c:yVal>
            <c:numRef>
              <c:f>'Bubble comercio'!$P$2:$P$217</c:f>
              <c:numCache>
                <c:formatCode>0%</c:formatCode>
                <c:ptCount val="200"/>
                <c:pt idx="0">
                  <c:v>3.5888881299973489E-5</c:v>
                </c:pt>
                <c:pt idx="1">
                  <c:v>2.0785981174724546E-2</c:v>
                </c:pt>
                <c:pt idx="2">
                  <c:v>3.1050548920702001E-2</c:v>
                </c:pt>
                <c:pt idx="3">
                  <c:v>1.6915035775300665E-3</c:v>
                </c:pt>
                <c:pt idx="4">
                  <c:v>6.133926928504846E-4</c:v>
                </c:pt>
                <c:pt idx="5">
                  <c:v>5.080213903743316E-4</c:v>
                </c:pt>
                <c:pt idx="6">
                  <c:v>9.713666952789779E-2</c:v>
                </c:pt>
                <c:pt idx="7">
                  <c:v>7.3922480667493864E-2</c:v>
                </c:pt>
                <c:pt idx="8">
                  <c:v>6.696401879775671E-4</c:v>
                </c:pt>
                <c:pt idx="9">
                  <c:v>0.3275876858697368</c:v>
                </c:pt>
                <c:pt idx="10">
                  <c:v>2.9038350878499066E-2</c:v>
                </c:pt>
                <c:pt idx="11">
                  <c:v>3.8306861406016531E-2</c:v>
                </c:pt>
                <c:pt idx="12">
                  <c:v>3.9831368133044217E-4</c:v>
                </c:pt>
                <c:pt idx="13">
                  <c:v>2.2386558451238685E-5</c:v>
                </c:pt>
                <c:pt idx="14">
                  <c:v>2.1758872494559895E-2</c:v>
                </c:pt>
                <c:pt idx="15">
                  <c:v>9.2323835987831264E-5</c:v>
                </c:pt>
                <c:pt idx="16">
                  <c:v>1.9258493414164874E-2</c:v>
                </c:pt>
                <c:pt idx="17">
                  <c:v>1.7726048340787923E-2</c:v>
                </c:pt>
                <c:pt idx="18">
                  <c:v>2.6459131258523678E-3</c:v>
                </c:pt>
                <c:pt idx="19">
                  <c:v>2.9441359519994039E-3</c:v>
                </c:pt>
                <c:pt idx="20">
                  <c:v>1.6479658369516931E-4</c:v>
                </c:pt>
                <c:pt idx="21">
                  <c:v>4.5219968898742524E-2</c:v>
                </c:pt>
                <c:pt idx="22">
                  <c:v>2.6069267117486065E-3</c:v>
                </c:pt>
                <c:pt idx="23">
                  <c:v>1.5272774618328589E-5</c:v>
                </c:pt>
                <c:pt idx="24">
                  <c:v>0.2806786856398687</c:v>
                </c:pt>
                <c:pt idx="25">
                  <c:v>1.2026472817741841E-3</c:v>
                </c:pt>
                <c:pt idx="26">
                  <c:v>5.9105849300539998E-2</c:v>
                </c:pt>
                <c:pt idx="27">
                  <c:v>2.7680135775903555E-2</c:v>
                </c:pt>
                <c:pt idx="28">
                  <c:v>4.2184841790744538E-3</c:v>
                </c:pt>
                <c:pt idx="29">
                  <c:v>3.0701657336313144E-2</c:v>
                </c:pt>
                <c:pt idx="30">
                  <c:v>1.0989188577708107E-3</c:v>
                </c:pt>
                <c:pt idx="31">
                  <c:v>6.827433256421267E-2</c:v>
                </c:pt>
                <c:pt idx="32">
                  <c:v>0.17740544602908279</c:v>
                </c:pt>
                <c:pt idx="33">
                  <c:v>3.923550771842902E-2</c:v>
                </c:pt>
                <c:pt idx="34">
                  <c:v>5.33989750001628E-5</c:v>
                </c:pt>
                <c:pt idx="35">
                  <c:v>5.9445167783626615E-2</c:v>
                </c:pt>
                <c:pt idx="36">
                  <c:v>0.3332825635266678</c:v>
                </c:pt>
                <c:pt idx="37">
                  <c:v>0.31349754017450793</c:v>
                </c:pt>
                <c:pt idx="38">
                  <c:v>0.1155788686133928</c:v>
                </c:pt>
                <c:pt idx="39">
                  <c:v>2.8204198396389861E-4</c:v>
                </c:pt>
                <c:pt idx="40">
                  <c:v>0.59767586413753693</c:v>
                </c:pt>
                <c:pt idx="41">
                  <c:v>0.26644323221294042</c:v>
                </c:pt>
                <c:pt idx="42">
                  <c:v>3.9289926137421639E-2</c:v>
                </c:pt>
                <c:pt idx="43">
                  <c:v>1.0657639950066434E-2</c:v>
                </c:pt>
                <c:pt idx="44">
                  <c:v>2.9192036516858349E-5</c:v>
                </c:pt>
                <c:pt idx="45">
                  <c:v>7.0593475375152741E-3</c:v>
                </c:pt>
                <c:pt idx="46">
                  <c:v>0.29026515672267494</c:v>
                </c:pt>
                <c:pt idx="47">
                  <c:v>1.349443614017605E-4</c:v>
                </c:pt>
                <c:pt idx="48">
                  <c:v>1.0956860733579691E-2</c:v>
                </c:pt>
                <c:pt idx="49">
                  <c:v>1.2381082822048521E-2</c:v>
                </c:pt>
                <c:pt idx="50">
                  <c:v>3.4579072911552163E-2</c:v>
                </c:pt>
                <c:pt idx="51">
                  <c:v>0.10385323561419163</c:v>
                </c:pt>
                <c:pt idx="52">
                  <c:v>8.0181543116490169E-3</c:v>
                </c:pt>
                <c:pt idx="53">
                  <c:v>3.0351090890545007E-2</c:v>
                </c:pt>
                <c:pt idx="54">
                  <c:v>0.1297318210237732</c:v>
                </c:pt>
                <c:pt idx="55">
                  <c:v>1.8180724277209282E-2</c:v>
                </c:pt>
                <c:pt idx="56">
                  <c:v>1.0826734159156299E-2</c:v>
                </c:pt>
                <c:pt idx="57">
                  <c:v>0.33966931461005523</c:v>
                </c:pt>
                <c:pt idx="58">
                  <c:v>0.42057383766713891</c:v>
                </c:pt>
                <c:pt idx="59">
                  <c:v>1.1270926802838104E-2</c:v>
                </c:pt>
                <c:pt idx="60">
                  <c:v>1.2988557081211453E-4</c:v>
                </c:pt>
                <c:pt idx="61">
                  <c:v>4.6430646175350983E-2</c:v>
                </c:pt>
                <c:pt idx="62">
                  <c:v>3.6257608955577891E-2</c:v>
                </c:pt>
                <c:pt idx="63">
                  <c:v>5.2757722025850481E-2</c:v>
                </c:pt>
                <c:pt idx="64">
                  <c:v>4.211419144603791E-2</c:v>
                </c:pt>
                <c:pt idx="65">
                  <c:v>3.7071539081737159E-2</c:v>
                </c:pt>
                <c:pt idx="66">
                  <c:v>0.63173687140064694</c:v>
                </c:pt>
                <c:pt idx="67">
                  <c:v>0.13523290789366718</c:v>
                </c:pt>
                <c:pt idx="68">
                  <c:v>7.7189805964239161E-2</c:v>
                </c:pt>
                <c:pt idx="69">
                  <c:v>7.2266510903976774E-2</c:v>
                </c:pt>
                <c:pt idx="70">
                  <c:v>1.6749468863076257E-4</c:v>
                </c:pt>
                <c:pt idx="71">
                  <c:v>2.6371363396898242E-2</c:v>
                </c:pt>
                <c:pt idx="72">
                  <c:v>0.2114429839977443</c:v>
                </c:pt>
                <c:pt idx="73">
                  <c:v>4.9302514428235843E-4</c:v>
                </c:pt>
                <c:pt idx="74">
                  <c:v>1.6900877467833572E-2</c:v>
                </c:pt>
                <c:pt idx="75">
                  <c:v>0.3740557178545354</c:v>
                </c:pt>
                <c:pt idx="76">
                  <c:v>3.3635446524363878E-2</c:v>
                </c:pt>
                <c:pt idx="77">
                  <c:v>8.0829470274946698E-3</c:v>
                </c:pt>
                <c:pt idx="78">
                  <c:v>3.3442373752803631E-3</c:v>
                </c:pt>
                <c:pt idx="79">
                  <c:v>1.7627669585848433E-6</c:v>
                </c:pt>
                <c:pt idx="80">
                  <c:v>0.55266553141405517</c:v>
                </c:pt>
                <c:pt idx="81">
                  <c:v>1.3638828168694262E-2</c:v>
                </c:pt>
                <c:pt idx="82">
                  <c:v>2.4820035863800136E-2</c:v>
                </c:pt>
                <c:pt idx="83">
                  <c:v>5.3453346304317348E-2</c:v>
                </c:pt>
                <c:pt idx="84">
                  <c:v>0.16675445732136132</c:v>
                </c:pt>
                <c:pt idx="85">
                  <c:v>0.43514075620483994</c:v>
                </c:pt>
                <c:pt idx="86">
                  <c:v>0.26096563671060774</c:v>
                </c:pt>
                <c:pt idx="87">
                  <c:v>5.3955906449387851E-2</c:v>
                </c:pt>
                <c:pt idx="88">
                  <c:v>8.0785585210602293E-2</c:v>
                </c:pt>
                <c:pt idx="89">
                  <c:v>2.7000391292635463E-2</c:v>
                </c:pt>
                <c:pt idx="90">
                  <c:v>2.2815253370786162E-5</c:v>
                </c:pt>
                <c:pt idx="91">
                  <c:v>0.19086407654796259</c:v>
                </c:pt>
                <c:pt idx="92">
                  <c:v>2.4887774050913778E-2</c:v>
                </c:pt>
                <c:pt idx="93">
                  <c:v>0.13553373630886659</c:v>
                </c:pt>
                <c:pt idx="94">
                  <c:v>2.5454303072963851E-2</c:v>
                </c:pt>
                <c:pt idx="95">
                  <c:v>1.9511153588059459E-2</c:v>
                </c:pt>
                <c:pt idx="96">
                  <c:v>0.25116176474322099</c:v>
                </c:pt>
                <c:pt idx="97">
                  <c:v>1.4123904810353794E-2</c:v>
                </c:pt>
                <c:pt idx="98">
                  <c:v>4.1449461766001762E-2</c:v>
                </c:pt>
                <c:pt idx="99">
                  <c:v>2.8786114650427089E-4</c:v>
                </c:pt>
                <c:pt idx="100">
                  <c:v>1.2420484052787888E-2</c:v>
                </c:pt>
                <c:pt idx="101">
                  <c:v>3.6429174427486033E-3</c:v>
                </c:pt>
                <c:pt idx="102">
                  <c:v>2.7479674796747969E-2</c:v>
                </c:pt>
                <c:pt idx="103">
                  <c:v>5.6154075927059989E-2</c:v>
                </c:pt>
                <c:pt idx="104">
                  <c:v>0.16170224100247507</c:v>
                </c:pt>
                <c:pt idx="105">
                  <c:v>9.3252730283324928E-3</c:v>
                </c:pt>
                <c:pt idx="106">
                  <c:v>1.4024731093284332E-2</c:v>
                </c:pt>
                <c:pt idx="107">
                  <c:v>0.1038181297931704</c:v>
                </c:pt>
                <c:pt idx="108">
                  <c:v>6.5210575573233509E-2</c:v>
                </c:pt>
                <c:pt idx="109">
                  <c:v>3.8656798647948541E-2</c:v>
                </c:pt>
                <c:pt idx="110">
                  <c:v>0.14152985715028008</c:v>
                </c:pt>
                <c:pt idx="111">
                  <c:v>2.5313892264074525E-8</c:v>
                </c:pt>
                <c:pt idx="112">
                  <c:v>9.0315027712258163E-6</c:v>
                </c:pt>
                <c:pt idx="113">
                  <c:v>1.3543795161776156E-2</c:v>
                </c:pt>
                <c:pt idx="114">
                  <c:v>3.5888447915604936E-2</c:v>
                </c:pt>
                <c:pt idx="115">
                  <c:v>0.30290680075485144</c:v>
                </c:pt>
                <c:pt idx="116">
                  <c:v>1.7069775683655673E-2</c:v>
                </c:pt>
                <c:pt idx="117">
                  <c:v>1.5042910303384428E-2</c:v>
                </c:pt>
                <c:pt idx="118">
                  <c:v>8.7881138576150847E-2</c:v>
                </c:pt>
                <c:pt idx="119">
                  <c:v>6.2687893665903244E-3</c:v>
                </c:pt>
                <c:pt idx="120">
                  <c:v>8.8882961313449223E-4</c:v>
                </c:pt>
                <c:pt idx="121">
                  <c:v>4.1910157791876464E-2</c:v>
                </c:pt>
                <c:pt idx="122">
                  <c:v>9.5784430726550511E-3</c:v>
                </c:pt>
                <c:pt idx="123">
                  <c:v>6.8567881883305912E-2</c:v>
                </c:pt>
                <c:pt idx="124">
                  <c:v>0.31777594313804913</c:v>
                </c:pt>
                <c:pt idx="125">
                  <c:v>0.25561250596918156</c:v>
                </c:pt>
                <c:pt idx="126">
                  <c:v>6.6763425253991288E-4</c:v>
                </c:pt>
                <c:pt idx="127">
                  <c:v>1.8878128943581321E-5</c:v>
                </c:pt>
                <c:pt idx="128">
                  <c:v>2.4822603792260662E-2</c:v>
                </c:pt>
                <c:pt idx="129">
                  <c:v>0.5745715399386282</c:v>
                </c:pt>
                <c:pt idx="130">
                  <c:v>0.28846136470459566</c:v>
                </c:pt>
                <c:pt idx="131">
                  <c:v>5.4154031263412622E-3</c:v>
                </c:pt>
                <c:pt idx="132">
                  <c:v>3.2774681090647745E-4</c:v>
                </c:pt>
                <c:pt idx="133">
                  <c:v>3.1053655665138347E-2</c:v>
                </c:pt>
                <c:pt idx="134">
                  <c:v>2.3076823650849929E-2</c:v>
                </c:pt>
                <c:pt idx="135">
                  <c:v>4.1327701393731112E-2</c:v>
                </c:pt>
                <c:pt idx="136">
                  <c:v>0.46309322079374043</c:v>
                </c:pt>
                <c:pt idx="137">
                  <c:v>8.5768029537319171E-2</c:v>
                </c:pt>
                <c:pt idx="138">
                  <c:v>2.5653289273446672E-3</c:v>
                </c:pt>
                <c:pt idx="139">
                  <c:v>1.7847306777990375E-7</c:v>
                </c:pt>
                <c:pt idx="140">
                  <c:v>4.6553950323058306E-2</c:v>
                </c:pt>
                <c:pt idx="141">
                  <c:v>0.25970605658269702</c:v>
                </c:pt>
                <c:pt idx="142">
                  <c:v>1.4047241805971639E-3</c:v>
                </c:pt>
                <c:pt idx="143">
                  <c:v>0.29155028859722903</c:v>
                </c:pt>
                <c:pt idx="144">
                  <c:v>0.13690364334768679</c:v>
                </c:pt>
                <c:pt idx="145">
                  <c:v>1.0726327337566973E-2</c:v>
                </c:pt>
                <c:pt idx="146">
                  <c:v>1.0048509728174284E-2</c:v>
                </c:pt>
                <c:pt idx="147">
                  <c:v>0.12365560349415992</c:v>
                </c:pt>
                <c:pt idx="148">
                  <c:v>1.0995520910636224E-2</c:v>
                </c:pt>
                <c:pt idx="149">
                  <c:v>0.13432981114611614</c:v>
                </c:pt>
                <c:pt idx="150">
                  <c:v>5.6664465965598478E-6</c:v>
                </c:pt>
                <c:pt idx="151">
                  <c:v>4.5987204662063727E-3</c:v>
                </c:pt>
                <c:pt idx="152">
                  <c:v>1.4806284445175618E-6</c:v>
                </c:pt>
                <c:pt idx="153">
                  <c:v>4.9584727903805629E-5</c:v>
                </c:pt>
                <c:pt idx="154">
                  <c:v>1.358062227627445E-2</c:v>
                </c:pt>
                <c:pt idx="155">
                  <c:v>1.4198782961460446E-3</c:v>
                </c:pt>
                <c:pt idx="156">
                  <c:v>3.7092378918548274E-2</c:v>
                </c:pt>
                <c:pt idx="157">
                  <c:v>6.617017205528318E-2</c:v>
                </c:pt>
                <c:pt idx="158">
                  <c:v>1.6277648202957885E-2</c:v>
                </c:pt>
                <c:pt idx="159">
                  <c:v>3.2773458351432316E-3</c:v>
                </c:pt>
                <c:pt idx="160">
                  <c:v>0.25974085766903449</c:v>
                </c:pt>
                <c:pt idx="161">
                  <c:v>0.13224436085008059</c:v>
                </c:pt>
                <c:pt idx="162">
                  <c:v>3.7796976241900648E-4</c:v>
                </c:pt>
                <c:pt idx="163">
                  <c:v>2.1115975098623237E-2</c:v>
                </c:pt>
                <c:pt idx="164">
                  <c:v>7.9138845785000373E-3</c:v>
                </c:pt>
                <c:pt idx="165">
                  <c:v>0.65421661140865428</c:v>
                </c:pt>
                <c:pt idx="166">
                  <c:v>4.4591076999636339E-2</c:v>
                </c:pt>
                <c:pt idx="167">
                  <c:v>0.10683200951635717</c:v>
                </c:pt>
                <c:pt idx="168">
                  <c:v>2.257780474216823E-2</c:v>
                </c:pt>
                <c:pt idx="169">
                  <c:v>2.1428399630003151E-2</c:v>
                </c:pt>
                <c:pt idx="170">
                  <c:v>0.17656802430868712</c:v>
                </c:pt>
                <c:pt idx="171">
                  <c:v>1.6826538057696072E-2</c:v>
                </c:pt>
                <c:pt idx="172">
                  <c:v>4.6950719811008811E-2</c:v>
                </c:pt>
                <c:pt idx="173">
                  <c:v>6.8627508934108933E-2</c:v>
                </c:pt>
                <c:pt idx="174">
                  <c:v>1.898831248328852E-3</c:v>
                </c:pt>
                <c:pt idx="175">
                  <c:v>0.27885652800238953</c:v>
                </c:pt>
                <c:pt idx="176">
                  <c:v>4.9665277591074072E-2</c:v>
                </c:pt>
                <c:pt idx="177">
                  <c:v>4.6771827187188877E-2</c:v>
                </c:pt>
                <c:pt idx="178">
                  <c:v>0.11819207775973528</c:v>
                </c:pt>
                <c:pt idx="179">
                  <c:v>0.19924070964444768</c:v>
                </c:pt>
                <c:pt idx="180">
                  <c:v>9.1035704253924661E-3</c:v>
                </c:pt>
                <c:pt idx="181">
                  <c:v>8.0217203504874737E-3</c:v>
                </c:pt>
                <c:pt idx="182">
                  <c:v>6.1236636626498579E-2</c:v>
                </c:pt>
                <c:pt idx="183">
                  <c:v>3.1214352539569666E-6</c:v>
                </c:pt>
                <c:pt idx="184">
                  <c:v>1.5074685255651574E-2</c:v>
                </c:pt>
                <c:pt idx="185">
                  <c:v>2.8984499089886727E-5</c:v>
                </c:pt>
                <c:pt idx="186">
                  <c:v>1.2765121759622938E-3</c:v>
                </c:pt>
                <c:pt idx="187">
                  <c:v>1.139995819051935E-2</c:v>
                </c:pt>
                <c:pt idx="188">
                  <c:v>7.2013007669801704E-2</c:v>
                </c:pt>
                <c:pt idx="189">
                  <c:v>2.9650832792707925E-5</c:v>
                </c:pt>
                <c:pt idx="190">
                  <c:v>6.4387823366541572E-2</c:v>
                </c:pt>
                <c:pt idx="191">
                  <c:v>6.479611228970214E-2</c:v>
                </c:pt>
                <c:pt idx="192">
                  <c:v>0.2747307200025384</c:v>
                </c:pt>
                <c:pt idx="193">
                  <c:v>0.12322617363240043</c:v>
                </c:pt>
                <c:pt idx="194">
                  <c:v>8.459948738079294E-2</c:v>
                </c:pt>
                <c:pt idx="195">
                  <c:v>0.28140536573503205</c:v>
                </c:pt>
                <c:pt idx="196">
                  <c:v>0.15658587136829125</c:v>
                </c:pt>
                <c:pt idx="197">
                  <c:v>0.54863086945897999</c:v>
                </c:pt>
                <c:pt idx="198">
                  <c:v>0.21630484536676228</c:v>
                </c:pt>
                <c:pt idx="199">
                  <c:v>7.5875406366897661E-4</c:v>
                </c:pt>
              </c:numCache>
            </c:numRef>
          </c:yVal>
          <c:bubbleSize>
            <c:numRef>
              <c:f>'Bubble comercio'!$L$2:$L$217</c:f>
              <c:numCache>
                <c:formatCode>General</c:formatCode>
                <c:ptCount val="200"/>
                <c:pt idx="0">
                  <c:v>31002</c:v>
                </c:pt>
                <c:pt idx="1">
                  <c:v>56526000</c:v>
                </c:pt>
                <c:pt idx="2">
                  <c:v>1141660000</c:v>
                </c:pt>
                <c:pt idx="3">
                  <c:v>200000</c:v>
                </c:pt>
                <c:pt idx="4">
                  <c:v>21357868</c:v>
                </c:pt>
                <c:pt idx="5">
                  <c:v>19000</c:v>
                </c:pt>
                <c:pt idx="6">
                  <c:v>6325086000</c:v>
                </c:pt>
                <c:pt idx="7">
                  <c:v>193682000</c:v>
                </c:pt>
                <c:pt idx="8">
                  <c:v>56000</c:v>
                </c:pt>
                <c:pt idx="9">
                  <c:v>89293723000</c:v>
                </c:pt>
                <c:pt idx="10">
                  <c:v>4981008000</c:v>
                </c:pt>
                <c:pt idx="11">
                  <c:v>752163000</c:v>
                </c:pt>
                <c:pt idx="12">
                  <c:v>214000</c:v>
                </c:pt>
                <c:pt idx="13">
                  <c:v>317157</c:v>
                </c:pt>
                <c:pt idx="14">
                  <c:v>1036436000</c:v>
                </c:pt>
                <c:pt idx="15">
                  <c:v>41000</c:v>
                </c:pt>
                <c:pt idx="16">
                  <c:v>634666000</c:v>
                </c:pt>
                <c:pt idx="17">
                  <c:v>7921361000</c:v>
                </c:pt>
                <c:pt idx="18">
                  <c:v>648000</c:v>
                </c:pt>
                <c:pt idx="19">
                  <c:v>79000</c:v>
                </c:pt>
                <c:pt idx="20">
                  <c:v>46000</c:v>
                </c:pt>
                <c:pt idx="21">
                  <c:v>403561000</c:v>
                </c:pt>
                <c:pt idx="22">
                  <c:v>17149000</c:v>
                </c:pt>
                <c:pt idx="23">
                  <c:v>80000</c:v>
                </c:pt>
                <c:pt idx="24">
                  <c:v>62871652000</c:v>
                </c:pt>
                <c:pt idx="25">
                  <c:v>495000</c:v>
                </c:pt>
                <c:pt idx="26">
                  <c:v>428506000</c:v>
                </c:pt>
                <c:pt idx="27">
                  <c:v>923172000</c:v>
                </c:pt>
                <c:pt idx="28">
                  <c:v>13757000</c:v>
                </c:pt>
                <c:pt idx="29">
                  <c:v>5550000</c:v>
                </c:pt>
                <c:pt idx="30">
                  <c:v>68000</c:v>
                </c:pt>
                <c:pt idx="31">
                  <c:v>1012148000</c:v>
                </c:pt>
                <c:pt idx="32">
                  <c:v>1015043000</c:v>
                </c:pt>
                <c:pt idx="33">
                  <c:v>17521099000</c:v>
                </c:pt>
                <c:pt idx="34">
                  <c:v>82000</c:v>
                </c:pt>
                <c:pt idx="35">
                  <c:v>7442000</c:v>
                </c:pt>
                <c:pt idx="36">
                  <c:v>439827000</c:v>
                </c:pt>
                <c:pt idx="37">
                  <c:v>21677089000</c:v>
                </c:pt>
                <c:pt idx="38">
                  <c:v>4564929000</c:v>
                </c:pt>
                <c:pt idx="39">
                  <c:v>14000</c:v>
                </c:pt>
                <c:pt idx="40">
                  <c:v>3333674000</c:v>
                </c:pt>
                <c:pt idx="41">
                  <c:v>3565623000</c:v>
                </c:pt>
                <c:pt idx="42">
                  <c:v>1266000</c:v>
                </c:pt>
                <c:pt idx="43">
                  <c:v>122060000</c:v>
                </c:pt>
                <c:pt idx="44">
                  <c:v>371260</c:v>
                </c:pt>
                <c:pt idx="45">
                  <c:v>120454000</c:v>
                </c:pt>
                <c:pt idx="46">
                  <c:v>491944000</c:v>
                </c:pt>
                <c:pt idx="47">
                  <c:v>13000</c:v>
                </c:pt>
                <c:pt idx="48">
                  <c:v>38578000</c:v>
                </c:pt>
                <c:pt idx="49">
                  <c:v>2469651000</c:v>
                </c:pt>
                <c:pt idx="50">
                  <c:v>3803406000</c:v>
                </c:pt>
                <c:pt idx="51">
                  <c:v>20136000</c:v>
                </c:pt>
                <c:pt idx="52">
                  <c:v>477000</c:v>
                </c:pt>
                <c:pt idx="53">
                  <c:v>305884000</c:v>
                </c:pt>
                <c:pt idx="54">
                  <c:v>2896831000</c:v>
                </c:pt>
                <c:pt idx="55">
                  <c:v>556922000</c:v>
                </c:pt>
                <c:pt idx="56">
                  <c:v>51726000</c:v>
                </c:pt>
                <c:pt idx="57">
                  <c:v>1723012000</c:v>
                </c:pt>
                <c:pt idx="58">
                  <c:v>209892000</c:v>
                </c:pt>
                <c:pt idx="59">
                  <c:v>189548000</c:v>
                </c:pt>
                <c:pt idx="60">
                  <c:v>260000</c:v>
                </c:pt>
                <c:pt idx="61">
                  <c:v>124363000</c:v>
                </c:pt>
                <c:pt idx="62">
                  <c:v>37299000</c:v>
                </c:pt>
                <c:pt idx="63">
                  <c:v>3842829000</c:v>
                </c:pt>
                <c:pt idx="64">
                  <c:v>23438669000</c:v>
                </c:pt>
                <c:pt idx="65">
                  <c:v>6805000</c:v>
                </c:pt>
                <c:pt idx="66">
                  <c:v>4612508000</c:v>
                </c:pt>
                <c:pt idx="67">
                  <c:v>3327000</c:v>
                </c:pt>
                <c:pt idx="68">
                  <c:v>208386000</c:v>
                </c:pt>
                <c:pt idx="69">
                  <c:v>107451431000</c:v>
                </c:pt>
                <c:pt idx="70">
                  <c:v>2808597</c:v>
                </c:pt>
                <c:pt idx="71">
                  <c:v>999093000</c:v>
                </c:pt>
                <c:pt idx="72">
                  <c:v>273714000</c:v>
                </c:pt>
                <c:pt idx="73">
                  <c:v>17000</c:v>
                </c:pt>
                <c:pt idx="74">
                  <c:v>189004000</c:v>
                </c:pt>
                <c:pt idx="75">
                  <c:v>2504860000</c:v>
                </c:pt>
                <c:pt idx="76">
                  <c:v>8402000</c:v>
                </c:pt>
                <c:pt idx="77">
                  <c:v>31056000</c:v>
                </c:pt>
                <c:pt idx="78">
                  <c:v>4488000</c:v>
                </c:pt>
                <c:pt idx="79">
                  <c:v>5449</c:v>
                </c:pt>
                <c:pt idx="80">
                  <c:v>296069015000</c:v>
                </c:pt>
                <c:pt idx="81">
                  <c:v>1666401000</c:v>
                </c:pt>
                <c:pt idx="82">
                  <c:v>129845000</c:v>
                </c:pt>
                <c:pt idx="83">
                  <c:v>17278833000</c:v>
                </c:pt>
                <c:pt idx="84">
                  <c:v>27961887000</c:v>
                </c:pt>
                <c:pt idx="85">
                  <c:v>13401559000</c:v>
                </c:pt>
                <c:pt idx="86">
                  <c:v>23806377000</c:v>
                </c:pt>
                <c:pt idx="87">
                  <c:v>9212614000</c:v>
                </c:pt>
                <c:pt idx="88">
                  <c:v>4721776000</c:v>
                </c:pt>
                <c:pt idx="89">
                  <c:v>14519418000</c:v>
                </c:pt>
                <c:pt idx="90">
                  <c:v>36193</c:v>
                </c:pt>
                <c:pt idx="91">
                  <c:v>134719884000</c:v>
                </c:pt>
                <c:pt idx="92">
                  <c:v>206890000</c:v>
                </c:pt>
                <c:pt idx="93">
                  <c:v>7823406000</c:v>
                </c:pt>
                <c:pt idx="94">
                  <c:v>148552000</c:v>
                </c:pt>
                <c:pt idx="95">
                  <c:v>1919000</c:v>
                </c:pt>
                <c:pt idx="96">
                  <c:v>136213398000</c:v>
                </c:pt>
                <c:pt idx="97">
                  <c:v>910739000</c:v>
                </c:pt>
                <c:pt idx="98">
                  <c:v>81469000</c:v>
                </c:pt>
                <c:pt idx="99">
                  <c:v>1672285</c:v>
                </c:pt>
                <c:pt idx="100">
                  <c:v>179440000</c:v>
                </c:pt>
                <c:pt idx="101">
                  <c:v>13593000</c:v>
                </c:pt>
                <c:pt idx="102">
                  <c:v>17745000</c:v>
                </c:pt>
                <c:pt idx="103">
                  <c:v>112419000</c:v>
                </c:pt>
                <c:pt idx="104">
                  <c:v>4765665000</c:v>
                </c:pt>
                <c:pt idx="105">
                  <c:v>309140000</c:v>
                </c:pt>
                <c:pt idx="106">
                  <c:v>205707000</c:v>
                </c:pt>
                <c:pt idx="107">
                  <c:v>106308000</c:v>
                </c:pt>
                <c:pt idx="108">
                  <c:v>167226000</c:v>
                </c:pt>
                <c:pt idx="109">
                  <c:v>35293000</c:v>
                </c:pt>
                <c:pt idx="110">
                  <c:v>33706910000</c:v>
                </c:pt>
                <c:pt idx="111">
                  <c:v>4</c:v>
                </c:pt>
                <c:pt idx="112">
                  <c:v>32895</c:v>
                </c:pt>
                <c:pt idx="113">
                  <c:v>40737000</c:v>
                </c:pt>
                <c:pt idx="114">
                  <c:v>45069000</c:v>
                </c:pt>
                <c:pt idx="115">
                  <c:v>875593000</c:v>
                </c:pt>
                <c:pt idx="116">
                  <c:v>31982000</c:v>
                </c:pt>
                <c:pt idx="117">
                  <c:v>6930326000</c:v>
                </c:pt>
                <c:pt idx="118">
                  <c:v>12575000</c:v>
                </c:pt>
                <c:pt idx="119">
                  <c:v>17422000</c:v>
                </c:pt>
                <c:pt idx="120">
                  <c:v>6772663</c:v>
                </c:pt>
                <c:pt idx="121">
                  <c:v>17413000</c:v>
                </c:pt>
                <c:pt idx="122">
                  <c:v>283450000</c:v>
                </c:pt>
                <c:pt idx="123">
                  <c:v>323799000</c:v>
                </c:pt>
                <c:pt idx="124">
                  <c:v>5753615000</c:v>
                </c:pt>
                <c:pt idx="125">
                  <c:v>1645972000</c:v>
                </c:pt>
                <c:pt idx="126">
                  <c:v>23000</c:v>
                </c:pt>
                <c:pt idx="127">
                  <c:v>18116</c:v>
                </c:pt>
                <c:pt idx="128">
                  <c:v>14317292000</c:v>
                </c:pt>
                <c:pt idx="129">
                  <c:v>1040695000</c:v>
                </c:pt>
                <c:pt idx="130">
                  <c:v>11014410000</c:v>
                </c:pt>
                <c:pt idx="131">
                  <c:v>28553000</c:v>
                </c:pt>
                <c:pt idx="132">
                  <c:v>280000</c:v>
                </c:pt>
                <c:pt idx="133">
                  <c:v>1665243000</c:v>
                </c:pt>
                <c:pt idx="134">
                  <c:v>166041000</c:v>
                </c:pt>
                <c:pt idx="135">
                  <c:v>4248228000</c:v>
                </c:pt>
                <c:pt idx="136">
                  <c:v>19460465000</c:v>
                </c:pt>
                <c:pt idx="137">
                  <c:v>2042893000</c:v>
                </c:pt>
                <c:pt idx="138">
                  <c:v>59000</c:v>
                </c:pt>
                <c:pt idx="139">
                  <c:v>197</c:v>
                </c:pt>
                <c:pt idx="140">
                  <c:v>534157000</c:v>
                </c:pt>
                <c:pt idx="141">
                  <c:v>3064927000</c:v>
                </c:pt>
                <c:pt idx="142">
                  <c:v>10749000</c:v>
                </c:pt>
                <c:pt idx="143">
                  <c:v>13159187000</c:v>
                </c:pt>
                <c:pt idx="144">
                  <c:v>9628984000</c:v>
                </c:pt>
                <c:pt idx="145">
                  <c:v>2701584000</c:v>
                </c:pt>
                <c:pt idx="146">
                  <c:v>673894000</c:v>
                </c:pt>
                <c:pt idx="147">
                  <c:v>9018816000</c:v>
                </c:pt>
                <c:pt idx="148">
                  <c:v>849940000</c:v>
                </c:pt>
                <c:pt idx="149">
                  <c:v>56791577000</c:v>
                </c:pt>
                <c:pt idx="150">
                  <c:v>6583</c:v>
                </c:pt>
                <c:pt idx="151">
                  <c:v>363000</c:v>
                </c:pt>
                <c:pt idx="152">
                  <c:v>144</c:v>
                </c:pt>
                <c:pt idx="153">
                  <c:v>2000</c:v>
                </c:pt>
                <c:pt idx="154">
                  <c:v>670000</c:v>
                </c:pt>
                <c:pt idx="155">
                  <c:v>14000</c:v>
                </c:pt>
                <c:pt idx="156">
                  <c:v>9339878000</c:v>
                </c:pt>
                <c:pt idx="157">
                  <c:v>276314000</c:v>
                </c:pt>
                <c:pt idx="158">
                  <c:v>318351000</c:v>
                </c:pt>
                <c:pt idx="159">
                  <c:v>2769000</c:v>
                </c:pt>
                <c:pt idx="160">
                  <c:v>197455000</c:v>
                </c:pt>
                <c:pt idx="161">
                  <c:v>51626378000</c:v>
                </c:pt>
                <c:pt idx="162">
                  <c:v>7000</c:v>
                </c:pt>
                <c:pt idx="163">
                  <c:v>1898518000</c:v>
                </c:pt>
                <c:pt idx="164">
                  <c:v>297361000</c:v>
                </c:pt>
                <c:pt idx="165">
                  <c:v>461733000</c:v>
                </c:pt>
                <c:pt idx="166">
                  <c:v>18638000</c:v>
                </c:pt>
                <c:pt idx="167">
                  <c:v>9659694000</c:v>
                </c:pt>
                <c:pt idx="168">
                  <c:v>7613577000</c:v>
                </c:pt>
                <c:pt idx="169">
                  <c:v>256587000</c:v>
                </c:pt>
                <c:pt idx="170">
                  <c:v>740420000</c:v>
                </c:pt>
                <c:pt idx="171">
                  <c:v>24583000</c:v>
                </c:pt>
                <c:pt idx="172">
                  <c:v>7538779000</c:v>
                </c:pt>
                <c:pt idx="173">
                  <c:v>21559003000</c:v>
                </c:pt>
                <c:pt idx="174">
                  <c:v>1399000</c:v>
                </c:pt>
                <c:pt idx="175">
                  <c:v>91886693000</c:v>
                </c:pt>
                <c:pt idx="176">
                  <c:v>55419000</c:v>
                </c:pt>
                <c:pt idx="177">
                  <c:v>230712000</c:v>
                </c:pt>
                <c:pt idx="178">
                  <c:v>29002027000</c:v>
                </c:pt>
                <c:pt idx="179">
                  <c:v>24561000</c:v>
                </c:pt>
                <c:pt idx="180">
                  <c:v>9334000</c:v>
                </c:pt>
                <c:pt idx="181">
                  <c:v>130000</c:v>
                </c:pt>
                <c:pt idx="182">
                  <c:v>682025000</c:v>
                </c:pt>
                <c:pt idx="183">
                  <c:v>46647</c:v>
                </c:pt>
                <c:pt idx="184">
                  <c:v>2726571000</c:v>
                </c:pt>
                <c:pt idx="185">
                  <c:v>5000</c:v>
                </c:pt>
                <c:pt idx="186">
                  <c:v>26000</c:v>
                </c:pt>
                <c:pt idx="187">
                  <c:v>40627000</c:v>
                </c:pt>
                <c:pt idx="188">
                  <c:v>3590068000</c:v>
                </c:pt>
                <c:pt idx="189">
                  <c:v>9367965</c:v>
                </c:pt>
                <c:pt idx="190">
                  <c:v>30154261000</c:v>
                </c:pt>
                <c:pt idx="191">
                  <c:v>106448372000</c:v>
                </c:pt>
                <c:pt idx="192">
                  <c:v>2147303000</c:v>
                </c:pt>
                <c:pt idx="193">
                  <c:v>1767642000</c:v>
                </c:pt>
                <c:pt idx="194">
                  <c:v>14655000</c:v>
                </c:pt>
                <c:pt idx="195">
                  <c:v>4788365000</c:v>
                </c:pt>
                <c:pt idx="196">
                  <c:v>41434238000</c:v>
                </c:pt>
                <c:pt idx="197">
                  <c:v>864442000</c:v>
                </c:pt>
                <c:pt idx="198">
                  <c:v>1506024000</c:v>
                </c:pt>
                <c:pt idx="199">
                  <c:v>3247000</c:v>
                </c:pt>
              </c:numCache>
            </c:numRef>
          </c:bubbleSize>
          <c:bubble3D val="0"/>
          <c:extLst>
            <c:ext xmlns:c16="http://schemas.microsoft.com/office/drawing/2014/chart" uri="{C3380CC4-5D6E-409C-BE32-E72D297353CC}">
              <c16:uniqueId val="{000000C8-0187-449D-BC4C-B66FE3731923}"/>
            </c:ext>
          </c:extLst>
        </c:ser>
        <c:dLbls>
          <c:showLegendKey val="0"/>
          <c:showVal val="0"/>
          <c:showCatName val="0"/>
          <c:showSerName val="0"/>
          <c:showPercent val="0"/>
          <c:showBubbleSize val="0"/>
        </c:dLbls>
        <c:bubbleScale val="100"/>
        <c:showNegBubbles val="0"/>
        <c:axId val="572123664"/>
        <c:axId val="2137859728"/>
      </c:bubbleChart>
      <c:valAx>
        <c:axId val="572123664"/>
        <c:scaling>
          <c:orientation val="minMax"/>
          <c:max val="1.5"/>
          <c:min val="-0.5"/>
        </c:scaling>
        <c:delete val="0"/>
        <c:axPos val="b"/>
        <c:title>
          <c:tx>
            <c:rich>
              <a:bodyPr/>
              <a:lstStyle/>
              <a:p>
                <a:pPr>
                  <a:defRPr b="0"/>
                </a:pPr>
                <a:r>
                  <a:rPr lang="es-AR" b="0"/>
                  <a:t>Pertenencia</a:t>
                </a:r>
                <a:r>
                  <a:rPr lang="es-AR" b="0" baseline="0"/>
                  <a:t> a BRI (izq. 0 - der. 1)</a:t>
                </a:r>
                <a:endParaRPr lang="es-AR" b="0"/>
              </a:p>
            </c:rich>
          </c:tx>
          <c:layout>
            <c:manualLayout>
              <c:xMode val="edge"/>
              <c:yMode val="edge"/>
              <c:x val="0.32401795382456877"/>
              <c:y val="0.96002007376540877"/>
            </c:manualLayout>
          </c:layout>
          <c:overlay val="0"/>
        </c:title>
        <c:numFmt formatCode="General" sourceLinked="1"/>
        <c:majorTickMark val="none"/>
        <c:minorTickMark val="none"/>
        <c:tickLblPos val="none"/>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2137859728"/>
        <c:crosses val="autoZero"/>
        <c:crossBetween val="midCat"/>
        <c:majorUnit val="0.5"/>
        <c:minorUnit val="0.5"/>
      </c:valAx>
      <c:valAx>
        <c:axId val="2137859728"/>
        <c:scaling>
          <c:orientation val="minMax"/>
          <c:min val="0"/>
        </c:scaling>
        <c:delete val="0"/>
        <c:axPos val="l"/>
        <c:title>
          <c:tx>
            <c:rich>
              <a:bodyPr/>
              <a:lstStyle/>
              <a:p>
                <a:pPr>
                  <a:defRPr b="0">
                    <a:solidFill>
                      <a:schemeClr val="tx1">
                        <a:lumMod val="65000"/>
                        <a:lumOff val="35000"/>
                      </a:schemeClr>
                    </a:solidFill>
                  </a:defRPr>
                </a:pPr>
                <a:r>
                  <a:rPr lang="es-AR" b="0">
                    <a:solidFill>
                      <a:schemeClr val="tx1">
                        <a:lumMod val="65000"/>
                        <a:lumOff val="35000"/>
                      </a:schemeClr>
                    </a:solidFill>
                  </a:rPr>
                  <a:t>Concentración geográfica del comercio</a:t>
                </a:r>
              </a:p>
            </c:rich>
          </c:tx>
          <c:layout>
            <c:manualLayout>
              <c:xMode val="edge"/>
              <c:yMode val="edge"/>
              <c:x val="3.4985879629629624E-2"/>
              <c:y val="0.33200788530465952"/>
            </c:manualLayout>
          </c:layout>
          <c:overlay val="0"/>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572123664"/>
        <c:crossesAt val="-0.5"/>
        <c:crossBetween val="midCat"/>
      </c:valAx>
    </c:plotArea>
    <c:plotVisOnly val="1"/>
    <c:dispBlanksAs val="gap"/>
    <c:showDLblsOverMax val="0"/>
    <c:extLst/>
  </c:chart>
  <c:spPr>
    <a:ln>
      <a:solidFill>
        <a:schemeClr val="tx1"/>
      </a:solidFill>
    </a:ln>
  </c:spPr>
  <c:txPr>
    <a:bodyPr/>
    <a:lstStyle/>
    <a:p>
      <a:pPr>
        <a:defRPr/>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4"/>
    </mc:Choice>
    <mc:Fallback>
      <c:style val="4"/>
    </mc:Fallback>
  </mc:AlternateContent>
  <c:pivotSource>
    <c:name>[BRI (Recuperado).xlsx]Inversiones!TablaDinámica51</c:name>
    <c:fmtId val="6"/>
  </c:pivotSource>
  <c:chart>
    <c:title>
      <c:tx>
        <c:rich>
          <a:bodyPr rot="0" spcFirstLastPara="1" vertOverflow="ellipsis" vert="horz" wrap="square" anchor="ctr" anchorCtr="1"/>
          <a:lstStyle/>
          <a:p>
            <a:pPr>
              <a:defRPr sz="1100" b="1" i="0" u="none" strike="noStrike" kern="1200" cap="none" spc="0" normalizeH="0" baseline="0">
                <a:solidFill>
                  <a:schemeClr val="tx1">
                    <a:lumMod val="65000"/>
                    <a:lumOff val="35000"/>
                  </a:schemeClr>
                </a:solidFill>
                <a:latin typeface="+mj-lt"/>
                <a:ea typeface="+mj-ea"/>
                <a:cs typeface="+mj-cs"/>
              </a:defRPr>
            </a:pPr>
            <a:r>
              <a:rPr lang="es-AR" sz="1100" b="1" dirty="0"/>
              <a:t>Inversiones chinas previas y posteriores </a:t>
            </a:r>
            <a:r>
              <a:rPr lang="es-AR" sz="1100" b="1" baseline="0" dirty="0"/>
              <a:t>a</a:t>
            </a:r>
            <a:r>
              <a:rPr lang="es-AR" sz="1100" b="1" dirty="0"/>
              <a:t> BRI por grupo de ingresos (2005-2017)</a:t>
            </a:r>
          </a:p>
        </c:rich>
      </c:tx>
      <c:overlay val="0"/>
      <c:spPr>
        <a:noFill/>
        <a:ln>
          <a:noFill/>
        </a:ln>
        <a:effectLst/>
      </c:spPr>
      <c:txPr>
        <a:bodyPr rot="0" spcFirstLastPara="1" vertOverflow="ellipsis" vert="horz" wrap="square" anchor="ctr" anchorCtr="1"/>
        <a:lstStyle/>
        <a:p>
          <a:pPr>
            <a:defRPr sz="1100" b="1" i="0" u="none" strike="noStrike" kern="1200" cap="none" spc="0" normalizeH="0" baseline="0">
              <a:solidFill>
                <a:schemeClr val="tx1">
                  <a:lumMod val="65000"/>
                  <a:lumOff val="35000"/>
                </a:schemeClr>
              </a:solidFill>
              <a:latin typeface="+mj-lt"/>
              <a:ea typeface="+mj-ea"/>
              <a:cs typeface="+mj-cs"/>
            </a:defRPr>
          </a:pPr>
          <a:endParaRPr lang="es-AR"/>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8"/>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3"/>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5"/>
        <c:spPr>
          <a:solidFill>
            <a:schemeClr val="accent2"/>
          </a:solidFill>
          <a:ln>
            <a:noFill/>
          </a:ln>
          <a:effectLst/>
        </c:spPr>
        <c:marker>
          <c:symbol val="circle"/>
          <c:size val="8"/>
          <c:spPr>
            <a:solidFill>
              <a:schemeClr val="accent2"/>
            </a:solidFill>
            <a:ln w="6350" cap="flat" cmpd="sng" algn="ctr">
              <a:solidFill>
                <a:schemeClr val="accent2"/>
              </a:solidFill>
              <a:prstDash val="solid"/>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26"/>
        <c:spPr>
          <a:solidFill>
            <a:schemeClr val="accent2"/>
          </a:solidFill>
          <a:ln>
            <a:noFill/>
          </a:ln>
          <a:effectLst/>
        </c:spPr>
        <c:marker>
          <c:symbol val="circle"/>
          <c:size val="8"/>
          <c:spPr>
            <a:solidFill>
              <a:schemeClr val="accent2"/>
            </a:solidFill>
            <a:ln w="6350" cap="flat" cmpd="sng" algn="ctr">
              <a:solidFill>
                <a:schemeClr val="accent2"/>
              </a:solidFill>
              <a:prstDash val="solid"/>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2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2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2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
        <c:idx val="13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s-A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115373387764354"/>
          <c:y val="0.22019598256597239"/>
          <c:w val="0.82843077994118375"/>
          <c:h val="0.60598553197717275"/>
        </c:manualLayout>
      </c:layout>
      <c:barChart>
        <c:barDir val="col"/>
        <c:grouping val="clustered"/>
        <c:varyColors val="0"/>
        <c:ser>
          <c:idx val="0"/>
          <c:order val="0"/>
          <c:tx>
            <c:strRef>
              <c:f>Inversiones!$B$23</c:f>
              <c:strCache>
                <c:ptCount val="1"/>
                <c:pt idx="0">
                  <c:v>Inversiones previas a BRI</c:v>
                </c:pt>
              </c:strCache>
            </c:strRef>
          </c:tx>
          <c:spPr>
            <a:solidFill>
              <a:schemeClr val="accent2">
                <a:tint val="77000"/>
              </a:schemeClr>
            </a:solidFill>
            <a:ln>
              <a:noFill/>
            </a:ln>
            <a:effectLst/>
          </c:spPr>
          <c:invertIfNegative val="0"/>
          <c:cat>
            <c:strRef>
              <c:f>Inversiones!$A$24:$A$28</c:f>
              <c:strCache>
                <c:ptCount val="4"/>
                <c:pt idx="0">
                  <c:v>High income</c:v>
                </c:pt>
                <c:pt idx="1">
                  <c:v>Low income</c:v>
                </c:pt>
                <c:pt idx="2">
                  <c:v>Lower middle income</c:v>
                </c:pt>
                <c:pt idx="3">
                  <c:v>Upper middle income</c:v>
                </c:pt>
              </c:strCache>
            </c:strRef>
          </c:cat>
          <c:val>
            <c:numRef>
              <c:f>Inversiones!$B$24:$B$28</c:f>
              <c:numCache>
                <c:formatCode>_-* #,##0_-;\-* #,##0_-;_-* "-"??_-;_-@_-</c:formatCode>
                <c:ptCount val="4"/>
                <c:pt idx="0">
                  <c:v>67710000000</c:v>
                </c:pt>
                <c:pt idx="1">
                  <c:v>78150000000</c:v>
                </c:pt>
                <c:pt idx="2">
                  <c:v>197250000000</c:v>
                </c:pt>
                <c:pt idx="3">
                  <c:v>124510000000</c:v>
                </c:pt>
              </c:numCache>
            </c:numRef>
          </c:val>
          <c:extLst>
            <c:ext xmlns:c16="http://schemas.microsoft.com/office/drawing/2014/chart" uri="{C3380CC4-5D6E-409C-BE32-E72D297353CC}">
              <c16:uniqueId val="{00000000-1BDC-45CD-A25D-70E33480AD40}"/>
            </c:ext>
          </c:extLst>
        </c:ser>
        <c:ser>
          <c:idx val="1"/>
          <c:order val="1"/>
          <c:tx>
            <c:strRef>
              <c:f>Inversiones!$C$23</c:f>
              <c:strCache>
                <c:ptCount val="1"/>
                <c:pt idx="0">
                  <c:v>Inversiones posteriores a BRI</c:v>
                </c:pt>
              </c:strCache>
            </c:strRef>
          </c:tx>
          <c:spPr>
            <a:solidFill>
              <a:schemeClr val="accent2">
                <a:shade val="76000"/>
              </a:schemeClr>
            </a:solidFill>
            <a:ln>
              <a:noFill/>
            </a:ln>
            <a:effectLst/>
          </c:spPr>
          <c:invertIfNegative val="0"/>
          <c:cat>
            <c:strRef>
              <c:f>Inversiones!$A$24:$A$28</c:f>
              <c:strCache>
                <c:ptCount val="4"/>
                <c:pt idx="0">
                  <c:v>High income</c:v>
                </c:pt>
                <c:pt idx="1">
                  <c:v>Low income</c:v>
                </c:pt>
                <c:pt idx="2">
                  <c:v>Lower middle income</c:v>
                </c:pt>
                <c:pt idx="3">
                  <c:v>Upper middle income</c:v>
                </c:pt>
              </c:strCache>
            </c:strRef>
          </c:cat>
          <c:val>
            <c:numRef>
              <c:f>Inversiones!$C$24:$C$28</c:f>
              <c:numCache>
                <c:formatCode>_-* #,##0_-;\-* #,##0_-;_-* "-"??_-;_-@_-</c:formatCode>
                <c:ptCount val="4"/>
                <c:pt idx="0">
                  <c:v>181910000000</c:v>
                </c:pt>
                <c:pt idx="1">
                  <c:v>49410000000</c:v>
                </c:pt>
                <c:pt idx="2">
                  <c:v>367700000000</c:v>
                </c:pt>
                <c:pt idx="3">
                  <c:v>172020000000</c:v>
                </c:pt>
              </c:numCache>
            </c:numRef>
          </c:val>
          <c:extLst>
            <c:ext xmlns:c16="http://schemas.microsoft.com/office/drawing/2014/chart" uri="{C3380CC4-5D6E-409C-BE32-E72D297353CC}">
              <c16:uniqueId val="{00000001-1BDC-45CD-A25D-70E33480AD40}"/>
            </c:ext>
          </c:extLst>
        </c:ser>
        <c:dLbls>
          <c:showLegendKey val="0"/>
          <c:showVal val="0"/>
          <c:showCatName val="0"/>
          <c:showSerName val="0"/>
          <c:showPercent val="0"/>
          <c:showBubbleSize val="0"/>
        </c:dLbls>
        <c:gapWidth val="199"/>
        <c:axId val="1081992080"/>
        <c:axId val="1024510576"/>
      </c:barChart>
      <c:catAx>
        <c:axId val="108199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s-AR"/>
          </a:p>
        </c:txPr>
        <c:crossAx val="1024510576"/>
        <c:crosses val="autoZero"/>
        <c:auto val="1"/>
        <c:lblAlgn val="ctr"/>
        <c:lblOffset val="100"/>
        <c:noMultiLvlLbl val="0"/>
      </c:catAx>
      <c:valAx>
        <c:axId val="1024510576"/>
        <c:scaling>
          <c:orientation val="minMax"/>
        </c:scaling>
        <c:delete val="0"/>
        <c:axPos val="l"/>
        <c:majorGridlines>
          <c:spPr>
            <a:ln w="9525" cap="flat" cmpd="sng" algn="ctr">
              <a:solidFill>
                <a:schemeClr val="tx1">
                  <a:lumMod val="15000"/>
                  <a:lumOff val="85000"/>
                </a:schemeClr>
              </a:solidFill>
              <a:prstDash val="solid"/>
              <a:round/>
            </a:ln>
            <a:effectLst/>
          </c:spPr>
        </c:majorGridlines>
        <c:minorGridlines>
          <c:spPr>
            <a:ln w="9525" cap="flat" cmpd="sng" algn="ctr">
              <a:solidFill>
                <a:schemeClr val="tx1">
                  <a:lumMod val="5000"/>
                  <a:lumOff val="95000"/>
                </a:schemeClr>
              </a:solidFill>
              <a:prstDash val="solid"/>
              <a:round/>
            </a:ln>
            <a:effectLst/>
          </c:spPr>
        </c:minorGridlines>
        <c:numFmt formatCode="_-* #,##0_-;\-* #,##0_-;_-* &quot;-&quot;??_-;_-@_-"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081992080"/>
        <c:crosses val="autoZero"/>
        <c:crossBetween val="between"/>
        <c:dispUnits>
          <c:builtInUnit val="millions"/>
          <c:dispUnitsLbl>
            <c:layout>
              <c:manualLayout>
                <c:xMode val="edge"/>
                <c:yMode val="edge"/>
                <c:x val="2.7154349875365413E-3"/>
                <c:y val="0.3659070654193185"/>
              </c:manualLayout>
            </c:layout>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s-AR"/>
                    <a:t>Millones USD</a:t>
                  </a:r>
                </a:p>
              </c:rich>
            </c:tx>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s-AR"/>
              </a:p>
            </c:txPr>
          </c:dispUnitsLbl>
        </c:dispUnits>
      </c:valAx>
      <c:spPr>
        <a:noFill/>
        <a:ln>
          <a:noFill/>
        </a:ln>
        <a:effectLst/>
      </c:spPr>
    </c:plotArea>
    <c:legend>
      <c:legendPos val="t"/>
      <c:layout>
        <c:manualLayout>
          <c:xMode val="edge"/>
          <c:yMode val="edge"/>
          <c:x val="0.17576969948250776"/>
          <c:y val="0.10941870902079066"/>
          <c:w val="0.64450658173270448"/>
          <c:h val="7.507562605149110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noFill/>
    <a:ln w="9525" cap="flat" cmpd="sng" algn="ctr">
      <a:solidFill>
        <a:schemeClr val="tx1"/>
      </a:solidFill>
      <a:prstDash val="solid"/>
    </a:ln>
    <a:effectLst/>
  </c:spPr>
  <c:txPr>
    <a:bodyPr/>
    <a:lstStyle/>
    <a:p>
      <a:pPr>
        <a:defRPr/>
      </a:pPr>
      <a:endParaRPr lang="es-AR"/>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4"/>
    </mc:Choice>
    <mc:Fallback>
      <c:style val="4"/>
    </mc:Fallback>
  </mc:AlternateContent>
  <c:pivotSource>
    <c:name>[BRI (Recuperado).xlsx]Inversiones!TablaDinámica52</c:name>
    <c:fmtId val="8"/>
  </c:pivotSource>
  <c:chart>
    <c:title>
      <c:tx>
        <c:rich>
          <a:bodyPr rot="0" spcFirstLastPara="1" vertOverflow="ellipsis" vert="horz" wrap="square" anchor="ctr" anchorCtr="1"/>
          <a:lstStyle/>
          <a:p>
            <a:pPr>
              <a:defRPr sz="1100" b="1" i="0" u="none" strike="noStrike" kern="1200" cap="none" spc="0" normalizeH="0" baseline="0">
                <a:solidFill>
                  <a:schemeClr val="tx1">
                    <a:lumMod val="65000"/>
                    <a:lumOff val="35000"/>
                  </a:schemeClr>
                </a:solidFill>
                <a:latin typeface="+mj-lt"/>
                <a:ea typeface="+mj-ea"/>
                <a:cs typeface="+mj-cs"/>
              </a:defRPr>
            </a:pPr>
            <a:r>
              <a:rPr lang="es-AR" sz="1100" b="1" dirty="0"/>
              <a:t>Inversiones chinas previas y posteriores </a:t>
            </a:r>
            <a:r>
              <a:rPr lang="es-AR" sz="1100" b="1" baseline="0" dirty="0"/>
              <a:t>a</a:t>
            </a:r>
            <a:r>
              <a:rPr lang="es-AR" sz="1100" b="1" dirty="0"/>
              <a:t> BRI por región (2005-2017)</a:t>
            </a:r>
          </a:p>
        </c:rich>
      </c:tx>
      <c:overlay val="0"/>
      <c:spPr>
        <a:noFill/>
        <a:ln>
          <a:noFill/>
        </a:ln>
        <a:effectLst/>
      </c:spPr>
    </c:title>
    <c:autoTitleDeleted val="0"/>
    <c:pivotFmts>
      <c:pivotFmt>
        <c:idx val="0"/>
        <c:dLbl>
          <c:idx val="0"/>
          <c:delete val="1"/>
          <c:extLst>
            <c:ext xmlns:c15="http://schemas.microsoft.com/office/drawing/2012/chart" uri="{CE6537A1-D6FC-4f65-9D91-7224C49458BB}"/>
          </c:extLst>
        </c:dLbl>
      </c:pivotFmt>
      <c:pivotFmt>
        <c:idx val="1"/>
        <c:dLbl>
          <c:idx val="0"/>
          <c:delete val="1"/>
          <c:extLst>
            <c:ext xmlns:c15="http://schemas.microsoft.com/office/drawing/2012/chart" uri="{CE6537A1-D6FC-4f65-9D91-7224C49458BB}"/>
          </c:extLst>
        </c:dLbl>
      </c:pivotFmt>
      <c:pivotFmt>
        <c:idx val="2"/>
        <c:dLbl>
          <c:idx val="0"/>
          <c:delete val="1"/>
          <c:extLst>
            <c:ext xmlns:c15="http://schemas.microsoft.com/office/drawing/2012/chart" uri="{CE6537A1-D6FC-4f65-9D91-7224C49458BB}"/>
          </c:extLst>
        </c:dLbl>
      </c:pivotFmt>
      <c:pivotFmt>
        <c:idx val="3"/>
        <c:dLbl>
          <c:idx val="0"/>
          <c:delete val="1"/>
          <c:extLst>
            <c:ext xmlns:c15="http://schemas.microsoft.com/office/drawing/2012/chart" uri="{CE6537A1-D6FC-4f65-9D91-7224C49458BB}"/>
          </c:extLst>
        </c:dLbl>
      </c:pivotFmt>
      <c:pivotFmt>
        <c:idx val="4"/>
        <c:dLbl>
          <c:idx val="0"/>
          <c:delete val="1"/>
          <c:extLst>
            <c:ext xmlns:c15="http://schemas.microsoft.com/office/drawing/2012/chart" uri="{CE6537A1-D6FC-4f65-9D91-7224C49458BB}"/>
          </c:extLst>
        </c:dLbl>
      </c:pivotFmt>
      <c:pivotFmt>
        <c:idx val="5"/>
        <c:dLbl>
          <c:idx val="0"/>
          <c:delete val="1"/>
          <c:extLst>
            <c:ext xmlns:c15="http://schemas.microsoft.com/office/drawing/2012/chart" uri="{CE6537A1-D6FC-4f65-9D91-7224C49458BB}"/>
          </c:extLst>
        </c:dLbl>
      </c:pivotFmt>
      <c:pivotFmt>
        <c:idx val="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8"/>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3"/>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5"/>
        <c:spPr>
          <a:solidFill>
            <a:schemeClr val="accent2"/>
          </a:solidFill>
          <a:ln>
            <a:noFill/>
          </a:ln>
          <a:effectLst/>
        </c:spPr>
        <c:marker>
          <c:symbol val="circle"/>
          <c:size val="8"/>
          <c:spPr>
            <a:solidFill>
              <a:schemeClr val="accent2"/>
            </a:solidFill>
            <a:ln w="6350" cap="flat" cmpd="sng" algn="ctr">
              <a:solidFill>
                <a:schemeClr val="accent2"/>
              </a:solidFill>
              <a:prstDash val="solid"/>
              <a:round/>
            </a:ln>
            <a:effectLst/>
          </c:spPr>
        </c:marker>
        <c:dLbl>
          <c:idx val="0"/>
          <c:delete val="1"/>
          <c:extLst>
            <c:ext xmlns:c15="http://schemas.microsoft.com/office/drawing/2012/chart" uri="{CE6537A1-D6FC-4f65-9D91-7224C49458BB}"/>
          </c:extLst>
        </c:dLbl>
      </c:pivotFmt>
      <c:pivotFmt>
        <c:idx val="126"/>
        <c:spPr>
          <a:solidFill>
            <a:schemeClr val="accent2"/>
          </a:solidFill>
          <a:ln>
            <a:noFill/>
          </a:ln>
          <a:effectLst/>
        </c:spPr>
        <c:marker>
          <c:symbol val="circle"/>
          <c:size val="8"/>
          <c:spPr>
            <a:solidFill>
              <a:schemeClr val="accent2"/>
            </a:solidFill>
            <a:ln w="6350" cap="flat" cmpd="sng" algn="ctr">
              <a:solidFill>
                <a:schemeClr val="accent2"/>
              </a:solidFill>
              <a:prstDash val="solid"/>
              <a:round/>
            </a:ln>
            <a:effectLst/>
          </c:spPr>
        </c:marker>
        <c:dLbl>
          <c:idx val="0"/>
          <c:delete val="1"/>
          <c:extLst>
            <c:ext xmlns:c15="http://schemas.microsoft.com/office/drawing/2012/chart" uri="{CE6537A1-D6FC-4f65-9D91-7224C49458BB}"/>
          </c:extLst>
        </c:dLbl>
      </c:pivotFmt>
      <c:pivotFmt>
        <c:idx val="127"/>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28"/>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29"/>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0"/>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1"/>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2"/>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3"/>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4"/>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5"/>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6"/>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7"/>
        <c:spPr>
          <a:solidFill>
            <a:schemeClr val="accent2">
              <a:tint val="77000"/>
            </a:schemeClr>
          </a:solidFill>
          <a:ln>
            <a:noFill/>
          </a:ln>
          <a:effectLst/>
        </c:spPr>
        <c:marker>
          <c:symbol val="none"/>
        </c:marker>
        <c:dLbl>
          <c:idx val="0"/>
          <c:delete val="1"/>
          <c:extLst>
            <c:ext xmlns:c15="http://schemas.microsoft.com/office/drawing/2012/chart" uri="{CE6537A1-D6FC-4f65-9D91-7224C49458BB}"/>
          </c:extLst>
        </c:dLbl>
      </c:pivotFmt>
      <c:pivotFmt>
        <c:idx val="138"/>
        <c:spPr>
          <a:solidFill>
            <a:schemeClr val="accent2">
              <a:shade val="76000"/>
            </a:schemeClr>
          </a:solidFill>
          <a:ln>
            <a:noFill/>
          </a:ln>
          <a:effectLst/>
        </c:spPr>
        <c:marker>
          <c:symbol val="none"/>
        </c:marker>
        <c:dLbl>
          <c:idx val="0"/>
          <c:delete val="1"/>
          <c:extLst>
            <c:ext xmlns:c15="http://schemas.microsoft.com/office/drawing/2012/chart" uri="{CE6537A1-D6FC-4f65-9D91-7224C49458BB}"/>
          </c:extLst>
        </c:dLbl>
      </c:pivotFmt>
      <c:pivotFmt>
        <c:idx val="139"/>
        <c:spPr>
          <a:solidFill>
            <a:schemeClr val="accent2">
              <a:tint val="77000"/>
            </a:schemeClr>
          </a:solidFill>
          <a:ln>
            <a:noFill/>
          </a:ln>
          <a:effectLst/>
        </c:spPr>
        <c:marker>
          <c:symbol val="none"/>
        </c:marker>
        <c:dLbl>
          <c:idx val="0"/>
          <c:delete val="1"/>
          <c:extLst>
            <c:ext xmlns:c15="http://schemas.microsoft.com/office/drawing/2012/chart" uri="{CE6537A1-D6FC-4f65-9D91-7224C49458BB}"/>
          </c:extLst>
        </c:dLbl>
      </c:pivotFmt>
      <c:pivotFmt>
        <c:idx val="140"/>
        <c:spPr>
          <a:solidFill>
            <a:schemeClr val="accent2">
              <a:shade val="76000"/>
            </a:schemeClr>
          </a:solidFill>
          <a:ln>
            <a:noFill/>
          </a:ln>
          <a:effectLst/>
        </c:spPr>
        <c:marker>
          <c:symbol val="none"/>
        </c:marker>
        <c:dLbl>
          <c:idx val="0"/>
          <c:delete val="1"/>
          <c:extLst>
            <c:ext xmlns:c15="http://schemas.microsoft.com/office/drawing/2012/chart" uri="{CE6537A1-D6FC-4f65-9D91-7224C49458BB}"/>
          </c:extLst>
        </c:dLbl>
      </c:pivotFmt>
      <c:pivotFmt>
        <c:idx val="141"/>
        <c:spPr>
          <a:solidFill>
            <a:schemeClr val="accent2">
              <a:tint val="77000"/>
            </a:schemeClr>
          </a:solidFill>
          <a:ln>
            <a:noFill/>
          </a:ln>
          <a:effectLst/>
        </c:spPr>
        <c:marker>
          <c:symbol val="none"/>
        </c:marker>
        <c:dLbl>
          <c:idx val="0"/>
          <c:delete val="1"/>
          <c:extLst>
            <c:ext xmlns:c15="http://schemas.microsoft.com/office/drawing/2012/chart" uri="{CE6537A1-D6FC-4f65-9D91-7224C49458BB}"/>
          </c:extLst>
        </c:dLbl>
      </c:pivotFmt>
      <c:pivotFmt>
        <c:idx val="142"/>
        <c:spPr>
          <a:solidFill>
            <a:schemeClr val="accent2">
              <a:shade val="76000"/>
            </a:schemeClr>
          </a:solidFill>
          <a:ln>
            <a:noFill/>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0.11667131731161895"/>
          <c:y val="0.1913518512430176"/>
          <c:w val="0.85068762183692825"/>
          <c:h val="0.63482966330012747"/>
        </c:manualLayout>
      </c:layout>
      <c:barChart>
        <c:barDir val="col"/>
        <c:grouping val="clustered"/>
        <c:varyColors val="0"/>
        <c:ser>
          <c:idx val="0"/>
          <c:order val="0"/>
          <c:tx>
            <c:strRef>
              <c:f>Inversiones!$B$64</c:f>
              <c:strCache>
                <c:ptCount val="1"/>
                <c:pt idx="0">
                  <c:v>Inversiones previas a BRI</c:v>
                </c:pt>
              </c:strCache>
            </c:strRef>
          </c:tx>
          <c:spPr>
            <a:solidFill>
              <a:schemeClr val="accent2">
                <a:tint val="77000"/>
              </a:schemeClr>
            </a:solidFill>
            <a:ln>
              <a:noFill/>
            </a:ln>
            <a:effectLst/>
          </c:spPr>
          <c:invertIfNegative val="0"/>
          <c:cat>
            <c:strRef>
              <c:f>Inversiones!$A$65:$A$71</c:f>
              <c:strCache>
                <c:ptCount val="6"/>
                <c:pt idx="0">
                  <c:v>East Asia &amp; Pacific</c:v>
                </c:pt>
                <c:pt idx="1">
                  <c:v>Europe &amp; Central Asia</c:v>
                </c:pt>
                <c:pt idx="2">
                  <c:v>Latin America &amp; Caribbean</c:v>
                </c:pt>
                <c:pt idx="3">
                  <c:v>Middle East &amp; North Africa</c:v>
                </c:pt>
                <c:pt idx="4">
                  <c:v>South Asia</c:v>
                </c:pt>
                <c:pt idx="5">
                  <c:v>Sub-Saharan Africa</c:v>
                </c:pt>
              </c:strCache>
            </c:strRef>
          </c:cat>
          <c:val>
            <c:numRef>
              <c:f>Inversiones!$B$65:$B$71</c:f>
              <c:numCache>
                <c:formatCode>_-* #,##0_-;\-* #,##0_-;_-* "-"??_-;_-@_-</c:formatCode>
                <c:ptCount val="6"/>
                <c:pt idx="0">
                  <c:v>87770000000</c:v>
                </c:pt>
                <c:pt idx="1">
                  <c:v>92760000000</c:v>
                </c:pt>
                <c:pt idx="2">
                  <c:v>31650000000</c:v>
                </c:pt>
                <c:pt idx="3">
                  <c:v>91400000000</c:v>
                </c:pt>
                <c:pt idx="4">
                  <c:v>26250000000</c:v>
                </c:pt>
                <c:pt idx="5">
                  <c:v>149420000000</c:v>
                </c:pt>
              </c:numCache>
            </c:numRef>
          </c:val>
          <c:extLst>
            <c:ext xmlns:c16="http://schemas.microsoft.com/office/drawing/2014/chart" uri="{C3380CC4-5D6E-409C-BE32-E72D297353CC}">
              <c16:uniqueId val="{00000000-9ABE-4E91-9A24-46B7AAB85956}"/>
            </c:ext>
          </c:extLst>
        </c:ser>
        <c:ser>
          <c:idx val="1"/>
          <c:order val="1"/>
          <c:tx>
            <c:strRef>
              <c:f>Inversiones!$C$64</c:f>
              <c:strCache>
                <c:ptCount val="1"/>
                <c:pt idx="0">
                  <c:v>Inversiones posteriores a BRI</c:v>
                </c:pt>
              </c:strCache>
            </c:strRef>
          </c:tx>
          <c:spPr>
            <a:solidFill>
              <a:schemeClr val="accent2">
                <a:shade val="76000"/>
              </a:schemeClr>
            </a:solidFill>
            <a:ln>
              <a:noFill/>
            </a:ln>
            <a:effectLst/>
          </c:spPr>
          <c:invertIfNegative val="0"/>
          <c:cat>
            <c:strRef>
              <c:f>Inversiones!$A$65:$A$71</c:f>
              <c:strCache>
                <c:ptCount val="6"/>
                <c:pt idx="0">
                  <c:v>East Asia &amp; Pacific</c:v>
                </c:pt>
                <c:pt idx="1">
                  <c:v>Europe &amp; Central Asia</c:v>
                </c:pt>
                <c:pt idx="2">
                  <c:v>Latin America &amp; Caribbean</c:v>
                </c:pt>
                <c:pt idx="3">
                  <c:v>Middle East &amp; North Africa</c:v>
                </c:pt>
                <c:pt idx="4">
                  <c:v>South Asia</c:v>
                </c:pt>
                <c:pt idx="5">
                  <c:v>Sub-Saharan Africa</c:v>
                </c:pt>
              </c:strCache>
            </c:strRef>
          </c:cat>
          <c:val>
            <c:numRef>
              <c:f>Inversiones!$C$65:$C$71</c:f>
              <c:numCache>
                <c:formatCode>_-* #,##0_-;\-* #,##0_-;_-* "-"??_-;_-@_-</c:formatCode>
                <c:ptCount val="6"/>
                <c:pt idx="0">
                  <c:v>209010000000</c:v>
                </c:pt>
                <c:pt idx="1">
                  <c:v>134330000000</c:v>
                </c:pt>
                <c:pt idx="2">
                  <c:v>62980000000</c:v>
                </c:pt>
                <c:pt idx="3">
                  <c:v>125270000000</c:v>
                </c:pt>
                <c:pt idx="4">
                  <c:v>90030000000</c:v>
                </c:pt>
                <c:pt idx="5">
                  <c:v>157560000000</c:v>
                </c:pt>
              </c:numCache>
            </c:numRef>
          </c:val>
          <c:extLst>
            <c:ext xmlns:c16="http://schemas.microsoft.com/office/drawing/2014/chart" uri="{C3380CC4-5D6E-409C-BE32-E72D297353CC}">
              <c16:uniqueId val="{00000001-9ABE-4E91-9A24-46B7AAB85956}"/>
            </c:ext>
          </c:extLst>
        </c:ser>
        <c:dLbls>
          <c:showLegendKey val="0"/>
          <c:showVal val="0"/>
          <c:showCatName val="0"/>
          <c:showSerName val="0"/>
          <c:showPercent val="0"/>
          <c:showBubbleSize val="0"/>
        </c:dLbls>
        <c:gapWidth val="199"/>
        <c:axId val="1081992080"/>
        <c:axId val="1024510576"/>
      </c:barChart>
      <c:catAx>
        <c:axId val="108199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s-AR"/>
          </a:p>
        </c:txPr>
        <c:crossAx val="1024510576"/>
        <c:crosses val="autoZero"/>
        <c:auto val="1"/>
        <c:lblAlgn val="ctr"/>
        <c:lblOffset val="100"/>
        <c:noMultiLvlLbl val="0"/>
      </c:catAx>
      <c:valAx>
        <c:axId val="1024510576"/>
        <c:scaling>
          <c:orientation val="minMax"/>
        </c:scaling>
        <c:delete val="0"/>
        <c:axPos val="l"/>
        <c:majorGridlines>
          <c:spPr>
            <a:ln w="9525" cap="flat" cmpd="sng" algn="ctr">
              <a:solidFill>
                <a:schemeClr val="tx1">
                  <a:lumMod val="15000"/>
                  <a:lumOff val="85000"/>
                </a:schemeClr>
              </a:solidFill>
              <a:prstDash val="solid"/>
              <a:round/>
            </a:ln>
            <a:effectLst/>
          </c:spPr>
        </c:majorGridlines>
        <c:minorGridlines>
          <c:spPr>
            <a:ln w="9525" cap="flat" cmpd="sng" algn="ctr">
              <a:solidFill>
                <a:schemeClr val="tx1">
                  <a:lumMod val="5000"/>
                  <a:lumOff val="95000"/>
                </a:schemeClr>
              </a:solidFill>
              <a:prstDash val="solid"/>
              <a:round/>
            </a:ln>
            <a:effectLst/>
          </c:spPr>
        </c:minorGridlines>
        <c:numFmt formatCode="_-* #,##0_-;\-* #,##0_-;_-* &quot;-&quot;??_-;_-@_-"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081992080"/>
        <c:crosses val="autoZero"/>
        <c:crossBetween val="between"/>
        <c:dispUnits>
          <c:builtInUnit val="millions"/>
          <c:dispUnitsLbl>
            <c:layout>
              <c:manualLayout>
                <c:xMode val="edge"/>
                <c:yMode val="edge"/>
                <c:x val="5.6051857870685774E-3"/>
                <c:y val="0.37150723077248632"/>
              </c:manualLayout>
            </c:layout>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s-AR"/>
                    <a:t>Millones USD</a:t>
                  </a:r>
                </a:p>
              </c:rich>
            </c:tx>
            <c:spPr>
              <a:noFill/>
              <a:ln>
                <a:noFill/>
              </a:ln>
              <a:effectLst/>
            </c:spPr>
          </c:dispUnitsLbl>
        </c:dispUnits>
      </c:valAx>
    </c:plotArea>
    <c:legend>
      <c:legendPos val="t"/>
      <c:layout>
        <c:manualLayout>
          <c:xMode val="edge"/>
          <c:yMode val="edge"/>
          <c:x val="0.24425332160063024"/>
          <c:y val="0.11480206071931449"/>
          <c:w val="0.51957842550702915"/>
          <c:h val="5.965156878422737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ln>
      <a:solidFill>
        <a:schemeClr val="tx1"/>
      </a:solidFill>
    </a:ln>
  </c:spPr>
  <c:txPr>
    <a:bodyPr/>
    <a:lstStyle/>
    <a:p>
      <a:pPr>
        <a:defRPr/>
      </a:pPr>
      <a:endParaRPr lang="es-AR"/>
    </a:p>
  </c:txPr>
  <c:externalData r:id="rId1">
    <c:autoUpdate val="0"/>
  </c:externalData>
  <c:userShapes r:id="rId2"/>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[BRI (Recuperado).xlsx]Finanzas!TablaDinámica94</c:name>
    <c:fmtId val="4"/>
  </c:pivotSource>
  <c:chart>
    <c:title>
      <c:tx>
        <c:rich>
          <a:bodyPr rot="0" spcFirstLastPara="1" vertOverflow="ellipsis" vert="horz" wrap="square" anchor="ctr" anchorCtr="1"/>
          <a:lstStyle/>
          <a:p>
            <a:pPr>
              <a:defRPr sz="1200" b="0" i="0" u="none" strike="noStrike" kern="1200" cap="none" spc="0" normalizeH="0" baseline="0">
                <a:solidFill>
                  <a:schemeClr val="tx1">
                    <a:lumMod val="65000"/>
                    <a:lumOff val="35000"/>
                  </a:schemeClr>
                </a:solidFill>
                <a:latin typeface="+mj-lt"/>
                <a:ea typeface="+mj-ea"/>
                <a:cs typeface="+mj-cs"/>
              </a:defRPr>
            </a:pPr>
            <a:r>
              <a:rPr lang="es-AR" sz="1200"/>
              <a:t>Financiamiento chino al desarrollo acumulado por región </a:t>
            </a:r>
            <a:r>
              <a:rPr lang="es-AR" sz="1200" b="0" i="0" u="none" strike="noStrike" cap="none" normalizeH="0" baseline="0">
                <a:effectLst/>
              </a:rPr>
              <a:t>(2000-2017)</a:t>
            </a:r>
            <a:endParaRPr lang="es-AR" sz="1200"/>
          </a:p>
        </c:rich>
      </c:tx>
      <c:overlay val="0"/>
      <c:spPr>
        <a:noFill/>
        <a:ln>
          <a:noFill/>
        </a:ln>
        <a:effectLst/>
      </c:spPr>
    </c:title>
    <c:autoTitleDeleted val="0"/>
    <c:pivotFmts>
      <c:pivotFmt>
        <c:idx val="0"/>
        <c:dLbl>
          <c:idx val="0"/>
          <c:delete val="1"/>
          <c:extLst>
            <c:ext xmlns:c15="http://schemas.microsoft.com/office/drawing/2012/chart" uri="{CE6537A1-D6FC-4f65-9D91-7224C49458BB}"/>
          </c:extLst>
        </c:dLbl>
      </c:pivotFmt>
      <c:pivotFmt>
        <c:idx val="1"/>
        <c:dLbl>
          <c:idx val="0"/>
          <c:delete val="1"/>
          <c:extLst>
            <c:ext xmlns:c15="http://schemas.microsoft.com/office/drawing/2012/chart" uri="{CE6537A1-D6FC-4f65-9D91-7224C49458BB}"/>
          </c:extLst>
        </c:dLbl>
      </c:pivotFmt>
      <c:pivotFmt>
        <c:idx val="2"/>
        <c:dLbl>
          <c:idx val="0"/>
          <c:delete val="1"/>
          <c:extLst>
            <c:ext xmlns:c15="http://schemas.microsoft.com/office/drawing/2012/chart" uri="{CE6537A1-D6FC-4f65-9D91-7224C49458BB}"/>
          </c:extLst>
        </c:dLbl>
      </c:pivotFmt>
      <c:pivotFmt>
        <c:idx val="3"/>
        <c:dLbl>
          <c:idx val="0"/>
          <c:delete val="1"/>
          <c:extLst>
            <c:ext xmlns:c15="http://schemas.microsoft.com/office/drawing/2012/chart" uri="{CE6537A1-D6FC-4f65-9D91-7224C49458BB}"/>
          </c:extLst>
        </c:dLbl>
      </c:pivotFmt>
      <c:pivotFmt>
        <c:idx val="4"/>
        <c:dLbl>
          <c:idx val="0"/>
          <c:delete val="1"/>
          <c:extLst>
            <c:ext xmlns:c15="http://schemas.microsoft.com/office/drawing/2012/chart" uri="{CE6537A1-D6FC-4f65-9D91-7224C49458BB}"/>
          </c:extLst>
        </c:dLbl>
      </c:pivotFmt>
      <c:pivotFmt>
        <c:idx val="5"/>
        <c:dLbl>
          <c:idx val="0"/>
          <c:delete val="1"/>
          <c:extLst>
            <c:ext xmlns:c15="http://schemas.microsoft.com/office/drawing/2012/chart" uri="{CE6537A1-D6FC-4f65-9D91-7224C49458BB}"/>
          </c:extLst>
        </c:dLbl>
      </c:pivotFmt>
      <c:pivotFmt>
        <c:idx val="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4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5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6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7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8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9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8"/>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09"/>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1"/>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3"/>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4"/>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5"/>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6"/>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7"/>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18"/>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2"/>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3"/>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5"/>
        <c:spPr>
          <a:solidFill>
            <a:schemeClr val="accent1"/>
          </a:solidFill>
          <a:ln>
            <a:noFill/>
          </a:ln>
          <a:effectLst/>
        </c:spPr>
        <c:marker>
          <c:symbol val="circle"/>
          <c:size val="8"/>
          <c:spPr>
            <a:solidFill>
              <a:schemeClr val="accent2"/>
            </a:solidFill>
            <a:ln>
              <a:noFill/>
            </a:ln>
            <a:effectLst/>
          </c:spPr>
        </c:marker>
        <c:dLbl>
          <c:idx val="0"/>
          <c:delete val="1"/>
          <c:extLst>
            <c:ext xmlns:c15="http://schemas.microsoft.com/office/drawing/2012/chart" uri="{CE6537A1-D6FC-4f65-9D91-7224C49458BB}"/>
          </c:extLst>
        </c:dLbl>
      </c:pivotFmt>
      <c:pivotFmt>
        <c:idx val="126"/>
        <c:spPr>
          <a:solidFill>
            <a:schemeClr val="accent1"/>
          </a:solidFill>
          <a:ln>
            <a:noFill/>
          </a:ln>
          <a:effectLst/>
        </c:spPr>
        <c:marker>
          <c:symbol val="circle"/>
          <c:size val="8"/>
          <c:spPr>
            <a:solidFill>
              <a:schemeClr val="accent1"/>
            </a:solidFill>
            <a:ln>
              <a:noFill/>
            </a:ln>
            <a:effectLst/>
          </c:spPr>
        </c:marker>
        <c:dLbl>
          <c:idx val="0"/>
          <c:delete val="1"/>
          <c:extLst>
            <c:ext xmlns:c15="http://schemas.microsoft.com/office/drawing/2012/chart" uri="{CE6537A1-D6FC-4f65-9D91-7224C49458BB}"/>
          </c:extLst>
        </c:dLbl>
      </c:pivotFmt>
      <c:pivotFmt>
        <c:idx val="127"/>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2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29"/>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2"/>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4"/>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5"/>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6"/>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7"/>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8"/>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39"/>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40"/>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
        <c:idx val="14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42"/>
        <c:spPr>
          <a:solidFill>
            <a:schemeClr val="accent2"/>
          </a:solidFill>
          <a:ln>
            <a:noFill/>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0.14869234711677173"/>
          <c:y val="0.16116135244232122"/>
          <c:w val="0.79436729358012514"/>
          <c:h val="0.6586868125763804"/>
        </c:manualLayout>
      </c:layout>
      <c:barChart>
        <c:barDir val="col"/>
        <c:grouping val="clustered"/>
        <c:varyColors val="0"/>
        <c:ser>
          <c:idx val="0"/>
          <c:order val="0"/>
          <c:tx>
            <c:strRef>
              <c:f>Finanzas!$B$19:$B$20</c:f>
              <c:strCache>
                <c:ptCount val="1"/>
                <c:pt idx="0">
                  <c:v>No miembro</c:v>
                </c:pt>
              </c:strCache>
            </c:strRef>
          </c:tx>
          <c:spPr>
            <a:solidFill>
              <a:schemeClr val="accent1"/>
            </a:solidFill>
            <a:ln>
              <a:noFill/>
            </a:ln>
            <a:effectLst/>
          </c:spPr>
          <c:invertIfNegative val="0"/>
          <c:cat>
            <c:strRef>
              <c:f>Finanzas!$A$21:$A$27</c:f>
              <c:strCache>
                <c:ptCount val="6"/>
                <c:pt idx="0">
                  <c:v>East Asia &amp; Pacific</c:v>
                </c:pt>
                <c:pt idx="1">
                  <c:v>Europe &amp; Central Asia</c:v>
                </c:pt>
                <c:pt idx="2">
                  <c:v>Latin America &amp; Caribbean</c:v>
                </c:pt>
                <c:pt idx="3">
                  <c:v>Middle East &amp; North Africa</c:v>
                </c:pt>
                <c:pt idx="4">
                  <c:v>South Asia</c:v>
                </c:pt>
                <c:pt idx="5">
                  <c:v>Sub-Saharan Africa</c:v>
                </c:pt>
              </c:strCache>
            </c:strRef>
          </c:cat>
          <c:val>
            <c:numRef>
              <c:f>Finanzas!$B$21:$B$27</c:f>
              <c:numCache>
                <c:formatCode>_-* #,##0_-;\-* #,##0_-;_-* "-"??_-;_-@_-</c:formatCode>
                <c:ptCount val="6"/>
                <c:pt idx="0">
                  <c:v>15813375695.066916</c:v>
                </c:pt>
                <c:pt idx="1">
                  <c:v>9634636425.0091076</c:v>
                </c:pt>
                <c:pt idx="2">
                  <c:v>133214440349.66335</c:v>
                </c:pt>
                <c:pt idx="3">
                  <c:v>7850640369.9818707</c:v>
                </c:pt>
                <c:pt idx="4">
                  <c:v>39265828068.341133</c:v>
                </c:pt>
                <c:pt idx="5">
                  <c:v>5603835851.4801435</c:v>
                </c:pt>
              </c:numCache>
            </c:numRef>
          </c:val>
          <c:extLst>
            <c:ext xmlns:c16="http://schemas.microsoft.com/office/drawing/2014/chart" uri="{C3380CC4-5D6E-409C-BE32-E72D297353CC}">
              <c16:uniqueId val="{00000000-BD5D-444D-B1C0-D9C8F356192F}"/>
            </c:ext>
          </c:extLst>
        </c:ser>
        <c:ser>
          <c:idx val="1"/>
          <c:order val="1"/>
          <c:tx>
            <c:strRef>
              <c:f>Finanzas!$C$19:$C$20</c:f>
              <c:strCache>
                <c:ptCount val="1"/>
                <c:pt idx="0">
                  <c:v>Miembro BRI</c:v>
                </c:pt>
              </c:strCache>
            </c:strRef>
          </c:tx>
          <c:spPr>
            <a:solidFill>
              <a:schemeClr val="accent2"/>
            </a:solidFill>
            <a:ln>
              <a:noFill/>
            </a:ln>
            <a:effectLst/>
          </c:spPr>
          <c:invertIfNegative val="0"/>
          <c:cat>
            <c:strRef>
              <c:f>Finanzas!$A$21:$A$27</c:f>
              <c:strCache>
                <c:ptCount val="6"/>
                <c:pt idx="0">
                  <c:v>East Asia &amp; Pacific</c:v>
                </c:pt>
                <c:pt idx="1">
                  <c:v>Europe &amp; Central Asia</c:v>
                </c:pt>
                <c:pt idx="2">
                  <c:v>Latin America &amp; Caribbean</c:v>
                </c:pt>
                <c:pt idx="3">
                  <c:v>Middle East &amp; North Africa</c:v>
                </c:pt>
                <c:pt idx="4">
                  <c:v>South Asia</c:v>
                </c:pt>
                <c:pt idx="5">
                  <c:v>Sub-Saharan Africa</c:v>
                </c:pt>
              </c:strCache>
            </c:strRef>
          </c:cat>
          <c:val>
            <c:numRef>
              <c:f>Finanzas!$C$21:$C$27</c:f>
              <c:numCache>
                <c:formatCode>_-* #,##0_-;\-* #,##0_-;_-* "-"??_-;_-@_-</c:formatCode>
                <c:ptCount val="6"/>
                <c:pt idx="0">
                  <c:v>249447460996.24606</c:v>
                </c:pt>
                <c:pt idx="1">
                  <c:v>390205066819.98944</c:v>
                </c:pt>
                <c:pt idx="2">
                  <c:v>244598424537.0564</c:v>
                </c:pt>
                <c:pt idx="3">
                  <c:v>119620629000.84271</c:v>
                </c:pt>
                <c:pt idx="4">
                  <c:v>82761281687.172318</c:v>
                </c:pt>
                <c:pt idx="5">
                  <c:v>429866807280.6319</c:v>
                </c:pt>
              </c:numCache>
            </c:numRef>
          </c:val>
          <c:extLst>
            <c:ext xmlns:c16="http://schemas.microsoft.com/office/drawing/2014/chart" uri="{C3380CC4-5D6E-409C-BE32-E72D297353CC}">
              <c16:uniqueId val="{00000001-BD5D-444D-B1C0-D9C8F356192F}"/>
            </c:ext>
          </c:extLst>
        </c:ser>
        <c:dLbls>
          <c:showLegendKey val="0"/>
          <c:showVal val="0"/>
          <c:showCatName val="0"/>
          <c:showSerName val="0"/>
          <c:showPercent val="0"/>
          <c:showBubbleSize val="0"/>
        </c:dLbls>
        <c:gapWidth val="199"/>
        <c:axId val="1081992080"/>
        <c:axId val="1024510576"/>
      </c:barChart>
      <c:catAx>
        <c:axId val="108199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s-AR"/>
          </a:p>
        </c:txPr>
        <c:crossAx val="1024510576"/>
        <c:crosses val="autoZero"/>
        <c:auto val="1"/>
        <c:lblAlgn val="ctr"/>
        <c:lblOffset val="100"/>
        <c:noMultiLvlLbl val="0"/>
      </c:catAx>
      <c:valAx>
        <c:axId val="102451057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AR"/>
          </a:p>
        </c:txPr>
        <c:crossAx val="1081992080"/>
        <c:crosses val="autoZero"/>
        <c:crossBetween val="between"/>
        <c:dispUnits>
          <c:builtInUnit val="millions"/>
          <c:dispUnitsLbl>
            <c:layout>
              <c:manualLayout>
                <c:xMode val="edge"/>
                <c:yMode val="edge"/>
                <c:x val="8.0170402977305811E-3"/>
                <c:y val="0.41132596378180203"/>
              </c:manualLayout>
            </c:layout>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s-AR"/>
                    <a:t>Millones USD</a:t>
                  </a:r>
                </a:p>
              </c:rich>
            </c:tx>
            <c:spPr>
              <a:noFill/>
              <a:ln>
                <a:noFill/>
              </a:ln>
              <a:effectLst/>
            </c:spPr>
          </c:dispUnitsLbl>
        </c:dispUnits>
      </c:valAx>
    </c:plotArea>
    <c:plotVisOnly val="1"/>
    <c:dispBlanksAs val="gap"/>
    <c:showDLblsOverMax val="0"/>
  </c:chart>
  <c:spPr>
    <a:ln>
      <a:solidFill>
        <a:schemeClr val="tx1"/>
      </a:solidFill>
    </a:ln>
  </c:spPr>
  <c:txPr>
    <a:bodyPr/>
    <a:lstStyle/>
    <a:p>
      <a:pPr>
        <a:defRPr/>
      </a:pPr>
      <a:endParaRPr lang="es-AR"/>
    </a:p>
  </c:txPr>
  <c:externalData r:id="rId1">
    <c:autoUpdate val="0"/>
  </c:externalData>
  <c:userShapes r:id="rId2"/>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1-11-09T09:57:07.206" idx="19">
    <p:pos x="3600" y="222"/>
    <p:text>Un índice mayor de 0.18 se
considera como un mercado “concentrado”. Entre 0.10 y 0.18 “moderadamente concetrado”,
mientras el rango entre 0.0 y 0.10 se considera “diversificado”.</p:text>
    <p:extLst>
      <p:ext uri="{C676402C-5697-4E1C-873F-D02D1690AC5C}">
        <p15:threadingInfo xmlns:p15="http://schemas.microsoft.com/office/powerpoint/2012/main" timeZoneBias="180"/>
      </p:ext>
    </p:extLst>
  </p:cm>
  <p:cm authorId="1" dt="2021-11-09T10:00:27.865" idx="21">
    <p:pos x="3108" y="2587"/>
    <p:text>En las importaciones de los BRIs, los datos está más concentrados en comparación con las exportaciones. Se ve un cluster bastante disperso entre 5 y 25%. De nuevo, prima la heterogeneidad de las partes.</p:text>
    <p:extLst>
      <p:ext uri="{C676402C-5697-4E1C-873F-D02D1690AC5C}">
        <p15:threadingInfo xmlns:p15="http://schemas.microsoft.com/office/powerpoint/2012/main" timeZoneBias="180"/>
      </p:ext>
    </p:extLst>
  </p:cm>
  <p:cm authorId="1" dt="2021-11-09T10:04:48.224" idx="22">
    <p:pos x="6337" y="2630"/>
    <p:text>En exportaciones de BRIs, hay algunos clusters cercanos al 30% (bastante concentrado), y otro en torno al 15% (moderadamente concentrado). Después hay casos aislados muy altos, pero se ven varios también cercanos a cero. Se ve bastante disperso. Da cuenta de la heterogeneidad de los países de BRI.</p:text>
    <p:extLst>
      <p:ext uri="{C676402C-5697-4E1C-873F-D02D1690AC5C}">
        <p15:threadingInfo xmlns:p15="http://schemas.microsoft.com/office/powerpoint/2012/main" timeZoneBias="180"/>
      </p:ext>
    </p:extLst>
  </p:cm>
  <p:cm authorId="1" dt="2021-11-09T10:06:28.465" idx="23">
    <p:pos x="3605" y="531"/>
    <p:text>No se ve relación entre dependencia comercial y pertenencia a BRI. De ser así, los de la izquierda estarían cercanos a cero, y los de la derecha estarían más altos. Sin embargo, se ve una importante dispersión de los BRIs en comparación con los noBRIs, sobre todo en exportaciones. Da cuenta de una importante heterogeneidad.  En los BRIs, al ser circulos más pequeños, se nota que comercian menos. También se ven mayor cantidad de puntos (muchos países). En los no BRIs, por su parte, salvo el caso de Hong Kong (y Macao y Nueva Caledonia en impo y expo resp), la dispersión es un poco menor en las importaciones. Pero no deja de ser heterogeneo. En las exportaciones hay más dispersión. Son menores casos pero de gran comercio. Estas leves diferencias llevan a estas conclusiones: las diferencias en los montos comerciados, la cantidad de socios, y la leve dispersión en favor de los BRIs (que podría responder a que son más casos).</p:text>
    <p:extLst>
      <p:ext uri="{C676402C-5697-4E1C-873F-D02D1690AC5C}">
        <p15:threadingInfo xmlns:p15="http://schemas.microsoft.com/office/powerpoint/2012/main" timeZoneBias="180"/>
      </p:ext>
    </p:extLst>
  </p:cm>
  <p:cm authorId="1" dt="2021-11-09T10:15:45.860" idx="24">
    <p:pos x="10" y="10"/>
    <p:text>IMPORTANTE! ME PARECE QUE LA DEPENDENCIA NO SE MANIFIESTA EN BRI, SINO POR REGIONES. LO CUAL SUPONDRÍA DOS COSAS: QUE LA CERCANÍA GEOGRÁFICA CON UN GIGANTE GENERA DEPENDENCIA. EL GRUPO DE INGRESOS MOSTRARÍA TAMBIÉN CONCENTRACIÓN EN PAÍSES CONO HONG KONG, AUSTRALIA, TAIWAN, BRASIL. PERO QUIZAS NOS DICE ALGO INTERESANTE DEL GENERAL. ARMAR GRAFICO CON ESAS DOS VARIABLES!</p:text>
    <p:extLst>
      <p:ext uri="{C676402C-5697-4E1C-873F-D02D1690AC5C}">
        <p15:threadingInfo xmlns:p15="http://schemas.microsoft.com/office/powerpoint/2012/main" timeZoneBias="180"/>
      </p:ext>
    </p:extLst>
  </p:cm>
</p:cmLst>
</file>

<file path=ppt/drawings/_rels/drawing4.xml.rels><?xml version="1.0" encoding="UTF-8" standalone="yes"?>
<Relationships xmlns="http://schemas.openxmlformats.org/package/2006/relationships"><Relationship Id="rId1" Type="http://schemas.openxmlformats.org/officeDocument/2006/relationships/image" Target="../media/image5.png"/></Relationships>
</file>

<file path=ppt/drawings/_rels/drawing5.xml.rels><?xml version="1.0" encoding="UTF-8" standalone="yes"?>
<Relationships xmlns="http://schemas.openxmlformats.org/package/2006/relationships"><Relationship Id="rId1" Type="http://schemas.openxmlformats.org/officeDocument/2006/relationships/image" Target="../media/image5.png"/></Relationships>
</file>

<file path=ppt/drawings/drawing1.xml><?xml version="1.0" encoding="utf-8"?>
<c:userShapes xmlns:c="http://schemas.openxmlformats.org/drawingml/2006/chart">
  <cdr:relSizeAnchor xmlns:cdr="http://schemas.openxmlformats.org/drawingml/2006/chartDrawing">
    <cdr:from>
      <cdr:x>0</cdr:x>
      <cdr:y>0.91902</cdr:y>
    </cdr:from>
    <cdr:to>
      <cdr:x>0.10178</cdr:x>
      <cdr:y>0.95468</cdr:y>
    </cdr:to>
    <cdr:sp macro="" textlink="">
      <cdr:nvSpPr>
        <cdr:cNvPr id="6" name="CuadroTexto 1">
          <a:extLst xmlns:a="http://schemas.openxmlformats.org/drawingml/2006/main">
            <a:ext uri="{FF2B5EF4-FFF2-40B4-BE49-F238E27FC236}">
              <a16:creationId xmlns:a16="http://schemas.microsoft.com/office/drawing/2014/main" id="{4CC84C6B-EB83-4F8B-A295-0C64D9984C60}"/>
            </a:ext>
          </a:extLst>
        </cdr:cNvPr>
        <cdr:cNvSpPr txBox="1"/>
      </cdr:nvSpPr>
      <cdr:spPr>
        <a:xfrm xmlns:a="http://schemas.openxmlformats.org/drawingml/2006/main">
          <a:off x="0" y="2451578"/>
          <a:ext cx="569200" cy="95127"/>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800" dirty="0">
              <a:solidFill>
                <a:schemeClr val="tx1">
                  <a:lumMod val="65000"/>
                  <a:lumOff val="35000"/>
                </a:schemeClr>
              </a:solidFill>
            </a:rPr>
            <a:t>Elaborado en base a datos de Green </a:t>
          </a:r>
          <a:r>
            <a:rPr lang="es-AR" sz="800" dirty="0" err="1">
              <a:solidFill>
                <a:schemeClr val="tx1">
                  <a:lumMod val="65000"/>
                  <a:lumOff val="35000"/>
                </a:schemeClr>
              </a:solidFill>
            </a:rPr>
            <a:t>Belt</a:t>
          </a:r>
          <a:r>
            <a:rPr lang="es-AR" sz="800" dirty="0">
              <a:solidFill>
                <a:schemeClr val="tx1">
                  <a:lumMod val="65000"/>
                  <a:lumOff val="35000"/>
                </a:schemeClr>
              </a:solidFill>
            </a:rPr>
            <a:t> and Road </a:t>
          </a:r>
          <a:r>
            <a:rPr lang="es-AR" sz="800" dirty="0" err="1">
              <a:solidFill>
                <a:schemeClr val="tx1">
                  <a:lumMod val="65000"/>
                  <a:lumOff val="35000"/>
                </a:schemeClr>
              </a:solidFill>
            </a:rPr>
            <a:t>Initiative</a:t>
          </a:r>
          <a:r>
            <a:rPr lang="es-AR" sz="800" dirty="0">
              <a:solidFill>
                <a:schemeClr val="tx1">
                  <a:lumMod val="65000"/>
                  <a:lumOff val="35000"/>
                </a:schemeClr>
              </a:solidFill>
            </a:rPr>
            <a:t> Center y </a:t>
          </a:r>
          <a:r>
            <a:rPr lang="es-AR" sz="800" dirty="0" err="1">
              <a:solidFill>
                <a:schemeClr val="tx1">
                  <a:lumMod val="65000"/>
                  <a:lumOff val="35000"/>
                </a:schemeClr>
              </a:solidFill>
            </a:rPr>
            <a:t>Belt</a:t>
          </a:r>
          <a:r>
            <a:rPr lang="es-AR" sz="800" dirty="0">
              <a:solidFill>
                <a:schemeClr val="tx1">
                  <a:lumMod val="65000"/>
                  <a:lumOff val="35000"/>
                </a:schemeClr>
              </a:solidFill>
            </a:rPr>
            <a:t> and Road Portal (2021) y Banco Mundial (2021) </a:t>
          </a:r>
        </a:p>
      </cdr:txBody>
    </cdr:sp>
  </cdr:relSizeAnchor>
</c:userShapes>
</file>

<file path=ppt/drawings/drawing2.xml><?xml version="1.0" encoding="utf-8"?>
<c:userShapes xmlns:c="http://schemas.openxmlformats.org/drawingml/2006/chart">
  <cdr:relSizeAnchor xmlns:cdr="http://schemas.openxmlformats.org/drawingml/2006/chartDrawing">
    <cdr:from>
      <cdr:x>0</cdr:x>
      <cdr:y>0.91093</cdr:y>
    </cdr:from>
    <cdr:to>
      <cdr:x>0.13542</cdr:x>
      <cdr:y>0.94658</cdr:y>
    </cdr:to>
    <cdr:sp macro="" textlink="">
      <cdr:nvSpPr>
        <cdr:cNvPr id="2" name="CuadroTexto 1">
          <a:extLst xmlns:a="http://schemas.openxmlformats.org/drawingml/2006/main">
            <a:ext uri="{FF2B5EF4-FFF2-40B4-BE49-F238E27FC236}">
              <a16:creationId xmlns:a16="http://schemas.microsoft.com/office/drawing/2014/main" id="{438D12B9-BAFC-4141-B89C-FB8287E97825}"/>
            </a:ext>
          </a:extLst>
        </cdr:cNvPr>
        <cdr:cNvSpPr txBox="1"/>
      </cdr:nvSpPr>
      <cdr:spPr>
        <a:xfrm xmlns:a="http://schemas.openxmlformats.org/drawingml/2006/main">
          <a:off x="-386300" y="2099020"/>
          <a:ext cx="757330" cy="82147"/>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800" dirty="0">
              <a:solidFill>
                <a:schemeClr val="tx1">
                  <a:lumMod val="65000"/>
                  <a:lumOff val="35000"/>
                </a:schemeClr>
              </a:solidFill>
            </a:rPr>
            <a:t>Elaborado en base a datos de Green </a:t>
          </a:r>
          <a:r>
            <a:rPr lang="es-AR" sz="800" dirty="0" err="1">
              <a:solidFill>
                <a:schemeClr val="tx1">
                  <a:lumMod val="65000"/>
                  <a:lumOff val="35000"/>
                </a:schemeClr>
              </a:solidFill>
            </a:rPr>
            <a:t>Belt</a:t>
          </a:r>
          <a:r>
            <a:rPr lang="es-AR" sz="800" dirty="0">
              <a:solidFill>
                <a:schemeClr val="tx1">
                  <a:lumMod val="65000"/>
                  <a:lumOff val="35000"/>
                </a:schemeClr>
              </a:solidFill>
            </a:rPr>
            <a:t> and Road </a:t>
          </a:r>
          <a:r>
            <a:rPr lang="es-AR" sz="800" dirty="0" err="1">
              <a:solidFill>
                <a:schemeClr val="tx1">
                  <a:lumMod val="65000"/>
                  <a:lumOff val="35000"/>
                </a:schemeClr>
              </a:solidFill>
            </a:rPr>
            <a:t>Initiative</a:t>
          </a:r>
          <a:r>
            <a:rPr lang="es-AR" sz="800" dirty="0">
              <a:solidFill>
                <a:schemeClr val="tx1">
                  <a:lumMod val="65000"/>
                  <a:lumOff val="35000"/>
                </a:schemeClr>
              </a:solidFill>
            </a:rPr>
            <a:t> Center y </a:t>
          </a:r>
          <a:r>
            <a:rPr lang="es-AR" sz="800" dirty="0" err="1">
              <a:solidFill>
                <a:schemeClr val="tx1">
                  <a:lumMod val="65000"/>
                  <a:lumOff val="35000"/>
                </a:schemeClr>
              </a:solidFill>
            </a:rPr>
            <a:t>Belt</a:t>
          </a:r>
          <a:r>
            <a:rPr lang="es-AR" sz="800" dirty="0">
              <a:solidFill>
                <a:schemeClr val="tx1">
                  <a:lumMod val="65000"/>
                  <a:lumOff val="35000"/>
                </a:schemeClr>
              </a:solidFill>
            </a:rPr>
            <a:t> and Road Portal (2021) y Banco Mundial (2021) </a:t>
          </a: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0.9324</cdr:y>
    </cdr:from>
    <cdr:to>
      <cdr:x>0.08329</cdr:x>
      <cdr:y>1</cdr:y>
    </cdr:to>
    <cdr:sp macro="" textlink="">
      <cdr:nvSpPr>
        <cdr:cNvPr id="2" name="CuadroTexto 1">
          <a:extLst xmlns:a="http://schemas.openxmlformats.org/drawingml/2006/main">
            <a:ext uri="{FF2B5EF4-FFF2-40B4-BE49-F238E27FC236}">
              <a16:creationId xmlns:a16="http://schemas.microsoft.com/office/drawing/2014/main" id="{9808FAC9-6600-4907-A2FE-CCEA4144434D}"/>
            </a:ext>
          </a:extLst>
        </cdr:cNvPr>
        <cdr:cNvSpPr txBox="1"/>
      </cdr:nvSpPr>
      <cdr:spPr>
        <a:xfrm xmlns:a="http://schemas.openxmlformats.org/drawingml/2006/main">
          <a:off x="-1129035" y="2551330"/>
          <a:ext cx="563769" cy="18497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s-AR" sz="800" dirty="0">
              <a:solidFill>
                <a:schemeClr val="tx1">
                  <a:lumMod val="65000"/>
                  <a:lumOff val="35000"/>
                </a:schemeClr>
              </a:solidFill>
            </a:rPr>
            <a:t>Elaborado</a:t>
          </a:r>
          <a:r>
            <a:rPr lang="es-AR" sz="800" baseline="0" dirty="0">
              <a:solidFill>
                <a:schemeClr val="tx1">
                  <a:lumMod val="65000"/>
                  <a:lumOff val="35000"/>
                </a:schemeClr>
              </a:solidFill>
            </a:rPr>
            <a:t> en base a datos de ITC (2021), Banco Mundial (2021) y Green </a:t>
          </a:r>
          <a:r>
            <a:rPr lang="es-AR" sz="800" baseline="0" dirty="0" err="1">
              <a:solidFill>
                <a:schemeClr val="tx1">
                  <a:lumMod val="65000"/>
                  <a:lumOff val="35000"/>
                </a:schemeClr>
              </a:solidFill>
            </a:rPr>
            <a:t>Belt</a:t>
          </a:r>
          <a:r>
            <a:rPr lang="es-AR" sz="800" baseline="0" dirty="0">
              <a:solidFill>
                <a:schemeClr val="tx1">
                  <a:lumMod val="65000"/>
                  <a:lumOff val="35000"/>
                </a:schemeClr>
              </a:solidFill>
            </a:rPr>
            <a:t> and Road </a:t>
          </a:r>
          <a:r>
            <a:rPr lang="es-AR" sz="800" baseline="0" dirty="0" err="1">
              <a:solidFill>
                <a:schemeClr val="tx1">
                  <a:lumMod val="65000"/>
                  <a:lumOff val="35000"/>
                </a:schemeClr>
              </a:solidFill>
            </a:rPr>
            <a:t>Initiative</a:t>
          </a:r>
          <a:r>
            <a:rPr lang="es-AR" sz="800" baseline="0" dirty="0">
              <a:solidFill>
                <a:schemeClr val="tx1">
                  <a:lumMod val="65000"/>
                  <a:lumOff val="35000"/>
                </a:schemeClr>
              </a:solidFill>
            </a:rPr>
            <a:t> Center y </a:t>
          </a:r>
          <a:r>
            <a:rPr lang="es-AR" sz="800" baseline="0" dirty="0" err="1">
              <a:solidFill>
                <a:schemeClr val="tx1">
                  <a:lumMod val="65000"/>
                  <a:lumOff val="35000"/>
                </a:schemeClr>
              </a:solidFill>
            </a:rPr>
            <a:t>Belt</a:t>
          </a:r>
          <a:r>
            <a:rPr lang="es-AR" sz="800" baseline="0" dirty="0">
              <a:solidFill>
                <a:schemeClr val="tx1">
                  <a:lumMod val="65000"/>
                  <a:lumOff val="35000"/>
                </a:schemeClr>
              </a:solidFill>
            </a:rPr>
            <a:t> and Road Portal (2021)</a:t>
          </a:r>
          <a:endParaRPr lang="es-AR" sz="800" dirty="0">
            <a:solidFill>
              <a:schemeClr val="tx1">
                <a:lumMod val="65000"/>
                <a:lumOff val="35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1.93745E-7</cdr:x>
      <cdr:y>0.93738</cdr:y>
    </cdr:from>
    <cdr:to>
      <cdr:x>1</cdr:x>
      <cdr:y>1</cdr:y>
    </cdr:to>
    <cdr:pic>
      <cdr:nvPicPr>
        <cdr:cNvPr id="2" name="chart">
          <a:extLst xmlns:a="http://schemas.openxmlformats.org/drawingml/2006/main">
            <a:ext uri="{FF2B5EF4-FFF2-40B4-BE49-F238E27FC236}">
              <a16:creationId xmlns:a16="http://schemas.microsoft.com/office/drawing/2014/main" id="{7BFA577A-219E-4278-AFA5-554775E2B1F0}"/>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0800" y="2702386"/>
          <a:ext cx="5161429" cy="177135"/>
        </a:xfrm>
        <a:prstGeom xmlns:a="http://schemas.openxmlformats.org/drawingml/2006/main" prst="rect">
          <a:avLst/>
        </a:prstGeom>
      </cdr:spPr>
    </cdr:pic>
  </cdr:relSizeAnchor>
</c:userShapes>
</file>

<file path=ppt/drawings/drawing5.xml><?xml version="1.0" encoding="utf-8"?>
<c:userShapes xmlns:c="http://schemas.openxmlformats.org/drawingml/2006/chart">
  <cdr:relSizeAnchor xmlns:cdr="http://schemas.openxmlformats.org/drawingml/2006/chartDrawing">
    <cdr:from>
      <cdr:x>0.00802</cdr:x>
      <cdr:y>0.93604</cdr:y>
    </cdr:from>
    <cdr:to>
      <cdr:x>0.81802</cdr:x>
      <cdr:y>1</cdr:y>
    </cdr:to>
    <cdr:pic>
      <cdr:nvPicPr>
        <cdr:cNvPr id="2" name="chart">
          <a:extLst xmlns:a="http://schemas.openxmlformats.org/drawingml/2006/main">
            <a:ext uri="{FF2B5EF4-FFF2-40B4-BE49-F238E27FC236}">
              <a16:creationId xmlns:a16="http://schemas.microsoft.com/office/drawing/2014/main" id="{F98B8438-18AF-4D43-80A3-7A366116DFD7}"/>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0800" y="2698596"/>
          <a:ext cx="5132730" cy="180925"/>
        </a:xfrm>
        <a:prstGeom xmlns:a="http://schemas.openxmlformats.org/drawingml/2006/main" prst="rect">
          <a:avLst/>
        </a:prstGeom>
      </cdr:spPr>
    </cdr:pic>
  </cdr:relSizeAnchor>
</c:userShapes>
</file>

<file path=ppt/drawings/drawing6.xml><?xml version="1.0" encoding="utf-8"?>
<c:userShapes xmlns:c="http://schemas.openxmlformats.org/drawingml/2006/chart">
  <cdr:relSizeAnchor xmlns:cdr="http://schemas.openxmlformats.org/drawingml/2006/chartDrawing">
    <cdr:from>
      <cdr:x>0</cdr:x>
      <cdr:y>0.93657</cdr:y>
    </cdr:from>
    <cdr:to>
      <cdr:x>0.10703</cdr:x>
      <cdr:y>1</cdr:y>
    </cdr:to>
    <cdr:sp macro="" textlink="">
      <cdr:nvSpPr>
        <cdr:cNvPr id="2" name="CuadroTexto 1">
          <a:extLst xmlns:a="http://schemas.openxmlformats.org/drawingml/2006/main">
            <a:ext uri="{FF2B5EF4-FFF2-40B4-BE49-F238E27FC236}">
              <a16:creationId xmlns:a16="http://schemas.microsoft.com/office/drawing/2014/main" id="{11C69EB3-BAC3-41EF-9F68-EF16D41E0BF4}"/>
            </a:ext>
          </a:extLst>
        </cdr:cNvPr>
        <cdr:cNvSpPr txBox="1"/>
      </cdr:nvSpPr>
      <cdr:spPr>
        <a:xfrm xmlns:a="http://schemas.openxmlformats.org/drawingml/2006/main">
          <a:off x="0" y="3920836"/>
          <a:ext cx="742242" cy="265545"/>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s-AR" sz="900">
              <a:solidFill>
                <a:schemeClr val="tx1">
                  <a:lumMod val="65000"/>
                  <a:lumOff val="35000"/>
                </a:schemeClr>
              </a:solidFill>
            </a:rPr>
            <a:t>Elaborado</a:t>
          </a:r>
          <a:r>
            <a:rPr lang="es-AR" sz="900" baseline="0">
              <a:solidFill>
                <a:schemeClr val="tx1">
                  <a:lumMod val="65000"/>
                  <a:lumOff val="35000"/>
                </a:schemeClr>
              </a:solidFill>
            </a:rPr>
            <a:t> en base a datos de AidData (2021), Banco Mundial (2021) y Green Belt and Road Initiative Center y Belt and Road Portal (2021)</a:t>
          </a:r>
          <a:endParaRPr lang="es-AR" sz="900">
            <a:solidFill>
              <a:schemeClr val="tx1">
                <a:lumMod val="65000"/>
                <a:lumOff val="35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A3B8E4-5FC4-4416-B621-71DA7CF64307}" type="datetimeFigureOut">
              <a:rPr lang="es-AR" smtClean="0"/>
              <a:t>10/11/2021</a:t>
            </a:fld>
            <a:endParaRPr lang="es-AR"/>
          </a:p>
        </p:txBody>
      </p:sp>
      <p:sp>
        <p:nvSpPr>
          <p:cNvPr id="4" name="3 Marcador de imagen de diapositiva"/>
          <p:cNvSpPr>
            <a:spLocks noGrp="1" noRot="1" noChangeAspect="1"/>
          </p:cNvSpPr>
          <p:nvPr>
            <p:ph type="sldImg" idx="2"/>
          </p:nvPr>
        </p:nvSpPr>
        <p:spPr>
          <a:xfrm>
            <a:off x="333375" y="685800"/>
            <a:ext cx="619125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D36E94-E6CB-495C-B30D-BFF018B4EA63}" type="slidenum">
              <a:rPr lang="es-AR" smtClean="0"/>
              <a:t>‹Nº›</a:t>
            </a:fld>
            <a:endParaRPr lang="es-AR"/>
          </a:p>
        </p:txBody>
      </p:sp>
    </p:spTree>
    <p:extLst>
      <p:ext uri="{BB962C8B-B14F-4D97-AF65-F5344CB8AC3E}">
        <p14:creationId xmlns:p14="http://schemas.microsoft.com/office/powerpoint/2010/main" val="3649738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75D36E94-E6CB-495C-B30D-BFF018B4EA63}" type="slidenum">
              <a:rPr lang="es-AR" smtClean="0"/>
              <a:t>1</a:t>
            </a:fld>
            <a:endParaRPr lang="es-AR"/>
          </a:p>
        </p:txBody>
      </p:sp>
    </p:spTree>
    <p:extLst>
      <p:ext uri="{BB962C8B-B14F-4D97-AF65-F5344CB8AC3E}">
        <p14:creationId xmlns:p14="http://schemas.microsoft.com/office/powerpoint/2010/main" val="821781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2</a:t>
            </a:fld>
            <a:endParaRPr lang="es-AR"/>
          </a:p>
        </p:txBody>
      </p:sp>
    </p:spTree>
    <p:extLst>
      <p:ext uri="{BB962C8B-B14F-4D97-AF65-F5344CB8AC3E}">
        <p14:creationId xmlns:p14="http://schemas.microsoft.com/office/powerpoint/2010/main" val="55968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3</a:t>
            </a:fld>
            <a:endParaRPr lang="es-AR"/>
          </a:p>
        </p:txBody>
      </p:sp>
    </p:spTree>
    <p:extLst>
      <p:ext uri="{BB962C8B-B14F-4D97-AF65-F5344CB8AC3E}">
        <p14:creationId xmlns:p14="http://schemas.microsoft.com/office/powerpoint/2010/main" val="2322819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4</a:t>
            </a:fld>
            <a:endParaRPr lang="es-AR"/>
          </a:p>
        </p:txBody>
      </p:sp>
    </p:spTree>
    <p:extLst>
      <p:ext uri="{BB962C8B-B14F-4D97-AF65-F5344CB8AC3E}">
        <p14:creationId xmlns:p14="http://schemas.microsoft.com/office/powerpoint/2010/main" val="3236993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5</a:t>
            </a:fld>
            <a:endParaRPr lang="es-AR"/>
          </a:p>
        </p:txBody>
      </p:sp>
    </p:spTree>
    <p:extLst>
      <p:ext uri="{BB962C8B-B14F-4D97-AF65-F5344CB8AC3E}">
        <p14:creationId xmlns:p14="http://schemas.microsoft.com/office/powerpoint/2010/main" val="4469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6</a:t>
            </a:fld>
            <a:endParaRPr lang="es-AR"/>
          </a:p>
        </p:txBody>
      </p:sp>
    </p:spTree>
    <p:extLst>
      <p:ext uri="{BB962C8B-B14F-4D97-AF65-F5344CB8AC3E}">
        <p14:creationId xmlns:p14="http://schemas.microsoft.com/office/powerpoint/2010/main" val="2124234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5D36E94-E6CB-495C-B30D-BFF018B4EA63}" type="slidenum">
              <a:rPr lang="es-AR" smtClean="0"/>
              <a:t>12</a:t>
            </a:fld>
            <a:endParaRPr lang="es-AR"/>
          </a:p>
        </p:txBody>
      </p:sp>
    </p:spTree>
    <p:extLst>
      <p:ext uri="{BB962C8B-B14F-4D97-AF65-F5344CB8AC3E}">
        <p14:creationId xmlns:p14="http://schemas.microsoft.com/office/powerpoint/2010/main" val="3907996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639" y="2097385"/>
            <a:ext cx="10365899" cy="1447226"/>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829277" y="3825928"/>
            <a:ext cx="8536622" cy="172541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2221875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886883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336" y="4338554"/>
            <a:ext cx="10365899" cy="1340950"/>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963336" y="2861633"/>
            <a:ext cx="10365899" cy="147692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143482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813013" y="1575384"/>
            <a:ext cx="7213362" cy="445576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8229627" y="1575384"/>
            <a:ext cx="7215479" cy="445576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3322844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759" y="270379"/>
            <a:ext cx="10975658" cy="1125273"/>
          </a:xfrm>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609759" y="1511305"/>
            <a:ext cx="5388320" cy="62984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759" y="2141144"/>
            <a:ext cx="5388320" cy="38900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6194980" y="1511305"/>
            <a:ext cx="5390437" cy="62984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4980" y="2141144"/>
            <a:ext cx="5390437" cy="389000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4010969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3625462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1277774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759" y="268815"/>
            <a:ext cx="4012129" cy="1144028"/>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4767975" y="268817"/>
            <a:ext cx="6817441" cy="57623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609759" y="1412844"/>
            <a:ext cx="4012129" cy="461830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376542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90339" y="4726147"/>
            <a:ext cx="7317105" cy="55794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2390339" y="603271"/>
            <a:ext cx="7317105" cy="40509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2390339" y="5284095"/>
            <a:ext cx="7317105" cy="79237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1426819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687696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11788670" y="270380"/>
            <a:ext cx="3656436" cy="5760773"/>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813012" y="270380"/>
            <a:ext cx="10772404" cy="576077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48AF5DE3-6290-4BCD-A968-AC2D23161990}" type="slidenum">
              <a:rPr lang="es-AR" smtClean="0"/>
              <a:pPr/>
              <a:t>‹Nº›</a:t>
            </a:fld>
            <a:endParaRPr lang="es-AR"/>
          </a:p>
        </p:txBody>
      </p:sp>
    </p:spTree>
    <p:extLst>
      <p:ext uri="{BB962C8B-B14F-4D97-AF65-F5344CB8AC3E}">
        <p14:creationId xmlns:p14="http://schemas.microsoft.com/office/powerpoint/2010/main" val="906320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759" y="270379"/>
            <a:ext cx="10975658" cy="112527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609759" y="1575384"/>
            <a:ext cx="10975658" cy="4455769"/>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609759" y="6257770"/>
            <a:ext cx="2845541" cy="359462"/>
          </a:xfrm>
          <a:prstGeom prst="rect">
            <a:avLst/>
          </a:prstGeom>
        </p:spPr>
        <p:txBody>
          <a:bodyPr vert="horz" lIns="91440" tIns="45720" rIns="91440" bIns="45720" rtlCol="0" anchor="ctr"/>
          <a:lstStyle>
            <a:lvl1pPr algn="l">
              <a:defRPr sz="1200">
                <a:solidFill>
                  <a:schemeClr val="tx1">
                    <a:tint val="75000"/>
                  </a:schemeClr>
                </a:solidFill>
              </a:defRPr>
            </a:lvl1pPr>
          </a:lstStyle>
          <a:p>
            <a:fld id="{2EAF5ECA-8AA5-4797-8C09-0963575699CD}" type="datetimeFigureOut">
              <a:rPr lang="es-AR" smtClean="0"/>
              <a:pPr/>
              <a:t>10/11/2021</a:t>
            </a:fld>
            <a:endParaRPr lang="es-AR"/>
          </a:p>
        </p:txBody>
      </p:sp>
      <p:sp>
        <p:nvSpPr>
          <p:cNvPr id="5" name="4 Marcador de pie de página"/>
          <p:cNvSpPr>
            <a:spLocks noGrp="1"/>
          </p:cNvSpPr>
          <p:nvPr>
            <p:ph type="ftr" sz="quarter" idx="3"/>
          </p:nvPr>
        </p:nvSpPr>
        <p:spPr>
          <a:xfrm>
            <a:off x="4166686" y="6257770"/>
            <a:ext cx="3861805" cy="3594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8739876" y="6257770"/>
            <a:ext cx="2845541" cy="359462"/>
          </a:xfrm>
          <a:prstGeom prst="rect">
            <a:avLst/>
          </a:prstGeom>
        </p:spPr>
        <p:txBody>
          <a:bodyPr vert="horz" lIns="91440" tIns="45720" rIns="91440" bIns="45720" rtlCol="0" anchor="ctr"/>
          <a:lstStyle>
            <a:lvl1pPr algn="r">
              <a:defRPr sz="1200">
                <a:solidFill>
                  <a:schemeClr val="tx1">
                    <a:tint val="75000"/>
                  </a:schemeClr>
                </a:solidFill>
              </a:defRPr>
            </a:lvl1pPr>
          </a:lstStyle>
          <a:p>
            <a:fld id="{48AF5DE3-6290-4BCD-A968-AC2D23161990}" type="slidenum">
              <a:rPr lang="es-AR" smtClean="0"/>
              <a:pPr/>
              <a:t>‹Nº›</a:t>
            </a:fld>
            <a:endParaRPr lang="es-AR"/>
          </a:p>
        </p:txBody>
      </p:sp>
    </p:spTree>
    <p:extLst>
      <p:ext uri="{BB962C8B-B14F-4D97-AF65-F5344CB8AC3E}">
        <p14:creationId xmlns:p14="http://schemas.microsoft.com/office/powerpoint/2010/main" val="296802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6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07" y="-6268"/>
            <a:ext cx="12217683" cy="6757905"/>
          </a:xfrm>
          <a:prstGeom prst="rect">
            <a:avLst/>
          </a:prstGeom>
        </p:spPr>
      </p:pic>
      <p:sp>
        <p:nvSpPr>
          <p:cNvPr id="8" name="Subtítulo 2"/>
          <p:cNvSpPr txBox="1">
            <a:spLocks/>
          </p:cNvSpPr>
          <p:nvPr/>
        </p:nvSpPr>
        <p:spPr>
          <a:xfrm>
            <a:off x="7681763" y="999555"/>
            <a:ext cx="3943740" cy="33557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s-AR" sz="2000" b="1" dirty="0" err="1">
                <a:effectLst>
                  <a:outerShdw blurRad="38100" dist="38100" dir="2700000" algn="tl">
                    <a:srgbClr val="000000">
                      <a:alpha val="43137"/>
                    </a:srgbClr>
                  </a:outerShdw>
                </a:effectLst>
                <a:latin typeface="+mj-lt"/>
                <a:cs typeface="Arial" panose="020B0604020202020204" pitchFamily="34" charset="0"/>
              </a:rPr>
              <a:t>Belt</a:t>
            </a:r>
            <a:r>
              <a:rPr lang="es-AR" sz="2000" b="1" dirty="0">
                <a:effectLst>
                  <a:outerShdw blurRad="38100" dist="38100" dir="2700000" algn="tl">
                    <a:srgbClr val="000000">
                      <a:alpha val="43137"/>
                    </a:srgbClr>
                  </a:outerShdw>
                </a:effectLst>
                <a:latin typeface="+mj-lt"/>
                <a:cs typeface="Arial" panose="020B0604020202020204" pitchFamily="34" charset="0"/>
              </a:rPr>
              <a:t> and Road </a:t>
            </a:r>
            <a:r>
              <a:rPr lang="es-AR" sz="2000" b="1" dirty="0" err="1">
                <a:effectLst>
                  <a:outerShdw blurRad="38100" dist="38100" dir="2700000" algn="tl">
                    <a:srgbClr val="000000">
                      <a:alpha val="43137"/>
                    </a:srgbClr>
                  </a:outerShdw>
                </a:effectLst>
                <a:latin typeface="+mj-lt"/>
                <a:cs typeface="Arial" panose="020B0604020202020204" pitchFamily="34" charset="0"/>
              </a:rPr>
              <a:t>Initiative</a:t>
            </a:r>
            <a:r>
              <a:rPr lang="es-AR" sz="2000" b="1" dirty="0">
                <a:effectLst>
                  <a:outerShdw blurRad="38100" dist="38100" dir="2700000" algn="tl">
                    <a:srgbClr val="000000">
                      <a:alpha val="43137"/>
                    </a:srgbClr>
                  </a:outerShdw>
                </a:effectLst>
                <a:latin typeface="+mj-lt"/>
                <a:cs typeface="Arial" panose="020B0604020202020204" pitchFamily="34" charset="0"/>
              </a:rPr>
              <a:t>: potencialidades para la diplomacia económica de China</a:t>
            </a:r>
          </a:p>
          <a:p>
            <a:pPr marL="0" indent="0">
              <a:lnSpc>
                <a:spcPct val="100000"/>
              </a:lnSpc>
              <a:spcBef>
                <a:spcPts val="0"/>
              </a:spcBef>
              <a:buNone/>
            </a:pPr>
            <a:endParaRPr lang="es-AR" sz="1800" dirty="0">
              <a:solidFill>
                <a:srgbClr val="FF0000"/>
              </a:solidFill>
              <a:latin typeface="+mj-lt"/>
            </a:endParaRPr>
          </a:p>
          <a:p>
            <a:pPr marL="0" indent="0">
              <a:lnSpc>
                <a:spcPct val="100000"/>
              </a:lnSpc>
              <a:spcBef>
                <a:spcPts val="0"/>
              </a:spcBef>
              <a:buNone/>
            </a:pPr>
            <a:r>
              <a:rPr lang="es-ES" sz="1800" b="1" dirty="0">
                <a:latin typeface="+mj-lt"/>
              </a:rPr>
              <a:t>Panel</a:t>
            </a:r>
            <a:r>
              <a:rPr lang="es-ES" sz="1800" dirty="0">
                <a:latin typeface="+mj-lt"/>
              </a:rPr>
              <a:t>: La diplomacia económica de la Nueva Ruta de la Seda: enfoques, tensiones y desafíos desde el Sur Global</a:t>
            </a:r>
          </a:p>
          <a:p>
            <a:pPr marL="0" indent="0">
              <a:lnSpc>
                <a:spcPct val="100000"/>
              </a:lnSpc>
              <a:spcBef>
                <a:spcPts val="0"/>
              </a:spcBef>
              <a:buNone/>
            </a:pPr>
            <a:endParaRPr lang="es-AR" sz="1800" dirty="0">
              <a:latin typeface="+mj-lt"/>
            </a:endParaRPr>
          </a:p>
          <a:p>
            <a:pPr marL="0" indent="0">
              <a:lnSpc>
                <a:spcPct val="100000"/>
              </a:lnSpc>
              <a:spcBef>
                <a:spcPts val="0"/>
              </a:spcBef>
              <a:buNone/>
            </a:pPr>
            <a:r>
              <a:rPr lang="es-AR" sz="1800" b="1" dirty="0">
                <a:latin typeface="+mj-lt"/>
              </a:rPr>
              <a:t>Autores</a:t>
            </a:r>
            <a:r>
              <a:rPr lang="es-AR" sz="1800" dirty="0">
                <a:latin typeface="+mj-lt"/>
              </a:rPr>
              <a:t>: Rubiolo, M.F. y Aguirre F. L. (CONICET – UCC)</a:t>
            </a:r>
          </a:p>
        </p:txBody>
      </p:sp>
      <p:pic>
        <p:nvPicPr>
          <p:cNvPr id="3" name="Imagen 2">
            <a:extLst>
              <a:ext uri="{FF2B5EF4-FFF2-40B4-BE49-F238E27FC236}">
                <a16:creationId xmlns:a16="http://schemas.microsoft.com/office/drawing/2014/main" id="{B99442B5-51A2-4555-B8C0-F1793B46C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8667" y="4114600"/>
            <a:ext cx="2490546" cy="1245273"/>
          </a:xfrm>
          <a:prstGeom prst="rect">
            <a:avLst/>
          </a:prstGeom>
        </p:spPr>
      </p:pic>
      <p:pic>
        <p:nvPicPr>
          <p:cNvPr id="5" name="Imagen 4">
            <a:extLst>
              <a:ext uri="{FF2B5EF4-FFF2-40B4-BE49-F238E27FC236}">
                <a16:creationId xmlns:a16="http://schemas.microsoft.com/office/drawing/2014/main" id="{2F97AEFE-CD5B-4204-A282-7D3F39D150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7787" y="5268671"/>
            <a:ext cx="1582879" cy="1040014"/>
          </a:xfrm>
          <a:prstGeom prst="rect">
            <a:avLst/>
          </a:prstGeom>
        </p:spPr>
      </p:pic>
    </p:spTree>
    <p:extLst>
      <p:ext uri="{BB962C8B-B14F-4D97-AF65-F5344CB8AC3E}">
        <p14:creationId xmlns:p14="http://schemas.microsoft.com/office/powerpoint/2010/main" val="19896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sp>
        <p:nvSpPr>
          <p:cNvPr id="10" name="Título 9">
            <a:extLst>
              <a:ext uri="{FF2B5EF4-FFF2-40B4-BE49-F238E27FC236}">
                <a16:creationId xmlns:a16="http://schemas.microsoft.com/office/drawing/2014/main" id="{956928A4-7276-437A-9808-777B605416A1}"/>
              </a:ext>
            </a:extLst>
          </p:cNvPr>
          <p:cNvSpPr>
            <a:spLocks noGrp="1"/>
          </p:cNvSpPr>
          <p:nvPr>
            <p:ph type="title"/>
          </p:nvPr>
        </p:nvSpPr>
        <p:spPr/>
        <p:txBody>
          <a:bodyPr>
            <a:normAutofit/>
          </a:bodyPr>
          <a:lstStyle/>
          <a:p>
            <a:r>
              <a:rPr lang="es-AR" sz="3600" dirty="0"/>
              <a:t>El auge de China y la diplomacia económica</a:t>
            </a:r>
          </a:p>
        </p:txBody>
      </p:sp>
      <p:sp>
        <p:nvSpPr>
          <p:cNvPr id="11" name="Marcador de contenido 10">
            <a:extLst>
              <a:ext uri="{FF2B5EF4-FFF2-40B4-BE49-F238E27FC236}">
                <a16:creationId xmlns:a16="http://schemas.microsoft.com/office/drawing/2014/main" id="{27B768B4-B3A6-4399-BB54-3E2AF8027EAE}"/>
              </a:ext>
            </a:extLst>
          </p:cNvPr>
          <p:cNvSpPr>
            <a:spLocks noGrp="1"/>
          </p:cNvSpPr>
          <p:nvPr>
            <p:ph idx="1"/>
          </p:nvPr>
        </p:nvSpPr>
        <p:spPr/>
        <p:txBody>
          <a:bodyPr>
            <a:normAutofit/>
          </a:bodyPr>
          <a:lstStyle/>
          <a:p>
            <a:pPr algn="just"/>
            <a:r>
              <a:rPr lang="es-ES" sz="2200" dirty="0"/>
              <a:t>En las últimas cuatro décadas, a un ritmo sin precedentes, China se consolidó como segunda economía mundial y concentra el mayor flujo de comercio del globo.</a:t>
            </a:r>
          </a:p>
          <a:p>
            <a:pPr algn="just"/>
            <a:r>
              <a:rPr lang="es-ES" sz="2200" b="1" dirty="0"/>
              <a:t>Hoy su economía se encuentra íntimamente ligada </a:t>
            </a:r>
            <a:r>
              <a:rPr lang="es-ES" sz="2200" dirty="0"/>
              <a:t>y no puede ser separada de las de los demás países (</a:t>
            </a:r>
            <a:r>
              <a:rPr lang="es-ES" sz="2200" dirty="0" err="1"/>
              <a:t>Garlick</a:t>
            </a:r>
            <a:r>
              <a:rPr lang="es-ES" sz="2200" dirty="0"/>
              <a:t>, 2020).</a:t>
            </a:r>
          </a:p>
          <a:p>
            <a:pPr algn="just"/>
            <a:r>
              <a:rPr lang="es-ES" sz="2200" dirty="0"/>
              <a:t>Esta conexión también implica que </a:t>
            </a:r>
            <a:r>
              <a:rPr lang="es-ES" sz="2200" b="1" dirty="0"/>
              <a:t>la economía, principal fuente de proyección del poder de China hoy, se puede convertir en una herramienta para la concreción de intereses políticos</a:t>
            </a:r>
            <a:r>
              <a:rPr lang="es-ES" sz="2200" dirty="0"/>
              <a:t> a través de la influencia en terceros Estados y actores internacionales.</a:t>
            </a:r>
          </a:p>
          <a:p>
            <a:pPr algn="just"/>
            <a:r>
              <a:rPr lang="es-ES" sz="2200" dirty="0"/>
              <a:t>En este marco, </a:t>
            </a:r>
            <a:r>
              <a:rPr lang="es-ES" sz="2200" b="1" dirty="0"/>
              <a:t>la Iniciativa de la Franja y la Ruta </a:t>
            </a:r>
            <a:r>
              <a:rPr lang="es-ES" sz="2200" dirty="0"/>
              <a:t>es una compleja, multidimensional y flexible estrategia de alcance global de China que </a:t>
            </a:r>
            <a:r>
              <a:rPr lang="es-ES" sz="2200" b="1" dirty="0"/>
              <a:t>se convirtió en la herramienta central</a:t>
            </a:r>
            <a:r>
              <a:rPr lang="es-ES" sz="2200" dirty="0"/>
              <a:t> de la diplomacia económica del país.</a:t>
            </a:r>
            <a:endParaRPr lang="es-AR" sz="2200" dirty="0"/>
          </a:p>
        </p:txBody>
      </p:sp>
    </p:spTree>
    <p:extLst>
      <p:ext uri="{BB962C8B-B14F-4D97-AF65-F5344CB8AC3E}">
        <p14:creationId xmlns:p14="http://schemas.microsoft.com/office/powerpoint/2010/main" val="1315818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sp>
        <p:nvSpPr>
          <p:cNvPr id="10" name="Título 9">
            <a:extLst>
              <a:ext uri="{FF2B5EF4-FFF2-40B4-BE49-F238E27FC236}">
                <a16:creationId xmlns:a16="http://schemas.microsoft.com/office/drawing/2014/main" id="{956928A4-7276-437A-9808-777B605416A1}"/>
              </a:ext>
            </a:extLst>
          </p:cNvPr>
          <p:cNvSpPr>
            <a:spLocks noGrp="1"/>
          </p:cNvSpPr>
          <p:nvPr>
            <p:ph type="title"/>
          </p:nvPr>
        </p:nvSpPr>
        <p:spPr/>
        <p:txBody>
          <a:bodyPr>
            <a:normAutofit/>
          </a:bodyPr>
          <a:lstStyle/>
          <a:p>
            <a:r>
              <a:rPr lang="es-AR" sz="3600" dirty="0"/>
              <a:t>Aproximaciones teóricas</a:t>
            </a:r>
          </a:p>
        </p:txBody>
      </p:sp>
      <p:sp>
        <p:nvSpPr>
          <p:cNvPr id="11" name="Marcador de contenido 10">
            <a:extLst>
              <a:ext uri="{FF2B5EF4-FFF2-40B4-BE49-F238E27FC236}">
                <a16:creationId xmlns:a16="http://schemas.microsoft.com/office/drawing/2014/main" id="{27B768B4-B3A6-4399-BB54-3E2AF8027EAE}"/>
              </a:ext>
            </a:extLst>
          </p:cNvPr>
          <p:cNvSpPr>
            <a:spLocks noGrp="1"/>
          </p:cNvSpPr>
          <p:nvPr>
            <p:ph idx="1"/>
          </p:nvPr>
        </p:nvSpPr>
        <p:spPr/>
        <p:txBody>
          <a:bodyPr>
            <a:normAutofit/>
          </a:bodyPr>
          <a:lstStyle/>
          <a:p>
            <a:pPr algn="just"/>
            <a:r>
              <a:rPr lang="es-ES" sz="2200" dirty="0"/>
              <a:t>Traslación de la competencia interestatal del territorio a la riqueza. Interdependencia como condicionante de las dinámicas económicas internacionales, favoreciendo vínculos multinivel y </a:t>
            </a:r>
            <a:r>
              <a:rPr lang="es-ES" sz="2200" dirty="0" err="1"/>
              <a:t>multiactor</a:t>
            </a:r>
            <a:r>
              <a:rPr lang="es-ES" sz="2200" dirty="0"/>
              <a:t> (</a:t>
            </a:r>
            <a:r>
              <a:rPr lang="es-ES" sz="2200" dirty="0" err="1"/>
              <a:t>Stopford</a:t>
            </a:r>
            <a:r>
              <a:rPr lang="es-ES" sz="2200" dirty="0"/>
              <a:t> y </a:t>
            </a:r>
            <a:r>
              <a:rPr lang="es-ES" sz="2200" dirty="0" err="1"/>
              <a:t>Strange</a:t>
            </a:r>
            <a:r>
              <a:rPr lang="es-ES" sz="2200" dirty="0"/>
              <a:t>, 1991). </a:t>
            </a:r>
          </a:p>
          <a:p>
            <a:pPr algn="just"/>
            <a:r>
              <a:rPr lang="es-ES" sz="2200" dirty="0"/>
              <a:t>Paulatina traslación de poder de Occidente a Oriente y, particularmente, a Asia Pacífico, apuntalado por el crecimiento Chino (</a:t>
            </a:r>
            <a:r>
              <a:rPr lang="es-ES" sz="2200" dirty="0" err="1"/>
              <a:t>Okano-Heijmans</a:t>
            </a:r>
            <a:r>
              <a:rPr lang="es-ES" sz="2200" dirty="0"/>
              <a:t>, 2013).</a:t>
            </a:r>
          </a:p>
          <a:p>
            <a:pPr algn="just"/>
            <a:r>
              <a:rPr lang="es-ES" sz="2200" dirty="0"/>
              <a:t>“La diplomacia económica se fortalece cuando la aceleración de la globalización es acompañada por una ausencia de reglas de conducta consensuadas y por la emergencia de nuevos temas en la agenda comercial como resultado de una revolución industrial” (</a:t>
            </a:r>
            <a:r>
              <a:rPr lang="es-ES" sz="2200" dirty="0" err="1"/>
              <a:t>Coolsaet</a:t>
            </a:r>
            <a:r>
              <a:rPr lang="es-ES" sz="2200" dirty="0"/>
              <a:t>, 2004:61).</a:t>
            </a:r>
          </a:p>
        </p:txBody>
      </p:sp>
    </p:spTree>
    <p:extLst>
      <p:ext uri="{BB962C8B-B14F-4D97-AF65-F5344CB8AC3E}">
        <p14:creationId xmlns:p14="http://schemas.microsoft.com/office/powerpoint/2010/main" val="4123777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sp>
        <p:nvSpPr>
          <p:cNvPr id="10" name="Título 9">
            <a:extLst>
              <a:ext uri="{FF2B5EF4-FFF2-40B4-BE49-F238E27FC236}">
                <a16:creationId xmlns:a16="http://schemas.microsoft.com/office/drawing/2014/main" id="{956928A4-7276-437A-9808-777B605416A1}"/>
              </a:ext>
            </a:extLst>
          </p:cNvPr>
          <p:cNvSpPr>
            <a:spLocks noGrp="1"/>
          </p:cNvSpPr>
          <p:nvPr>
            <p:ph type="title"/>
          </p:nvPr>
        </p:nvSpPr>
        <p:spPr>
          <a:xfrm>
            <a:off x="609759" y="270380"/>
            <a:ext cx="10975658" cy="873192"/>
          </a:xfrm>
        </p:spPr>
        <p:txBody>
          <a:bodyPr>
            <a:normAutofit/>
          </a:bodyPr>
          <a:lstStyle/>
          <a:p>
            <a:r>
              <a:rPr lang="es-AR" sz="3600" dirty="0"/>
              <a:t>Conceptualización de la diplomacia económica</a:t>
            </a:r>
          </a:p>
        </p:txBody>
      </p:sp>
      <p:sp>
        <p:nvSpPr>
          <p:cNvPr id="11" name="Marcador de contenido 10">
            <a:extLst>
              <a:ext uri="{FF2B5EF4-FFF2-40B4-BE49-F238E27FC236}">
                <a16:creationId xmlns:a16="http://schemas.microsoft.com/office/drawing/2014/main" id="{27B768B4-B3A6-4399-BB54-3E2AF8027EAE}"/>
              </a:ext>
            </a:extLst>
          </p:cNvPr>
          <p:cNvSpPr>
            <a:spLocks noGrp="1"/>
          </p:cNvSpPr>
          <p:nvPr>
            <p:ph idx="1"/>
          </p:nvPr>
        </p:nvSpPr>
        <p:spPr>
          <a:xfrm>
            <a:off x="696987" y="1139072"/>
            <a:ext cx="10975658" cy="4743567"/>
          </a:xfrm>
        </p:spPr>
        <p:txBody>
          <a:bodyPr>
            <a:normAutofit/>
          </a:bodyPr>
          <a:lstStyle/>
          <a:p>
            <a:pPr algn="just"/>
            <a:r>
              <a:rPr lang="es-ES" sz="2000" dirty="0"/>
              <a:t>Procesos, prácticas e instrumentos para la creación y distribución de beneficios en las relaciones económicas internacionales (</a:t>
            </a:r>
            <a:r>
              <a:rPr lang="es-ES" sz="2000" dirty="0" err="1"/>
              <a:t>Woolcok</a:t>
            </a:r>
            <a:r>
              <a:rPr lang="es-ES" sz="2000" dirty="0"/>
              <a:t> y </a:t>
            </a:r>
            <a:r>
              <a:rPr lang="es-ES" sz="2000" dirty="0" err="1"/>
              <a:t>Bayne</a:t>
            </a:r>
            <a:r>
              <a:rPr lang="es-ES" sz="2000" dirty="0"/>
              <a:t>, 2018).</a:t>
            </a:r>
          </a:p>
          <a:p>
            <a:pPr algn="just"/>
            <a:r>
              <a:rPr lang="es-ES" sz="2000" dirty="0"/>
              <a:t>Rol del Estado como actor primario (</a:t>
            </a:r>
            <a:r>
              <a:rPr lang="es-ES" sz="2000" dirty="0" err="1"/>
              <a:t>Okano-Heijmans</a:t>
            </a:r>
            <a:r>
              <a:rPr lang="es-ES" sz="2000" dirty="0"/>
              <a:t>, 2011; Hill, 2016).</a:t>
            </a:r>
          </a:p>
          <a:p>
            <a:pPr algn="just"/>
            <a:r>
              <a:rPr lang="es-ES" sz="2000" dirty="0"/>
              <a:t>Abordar la esfera económica externa para maximizar sus ganancias nacionales (Rana, 2013)</a:t>
            </a:r>
          </a:p>
          <a:p>
            <a:pPr algn="just"/>
            <a:r>
              <a:rPr lang="es-ES" sz="2000" dirty="0"/>
              <a:t>Incorporar objetivos políticos nacionales.</a:t>
            </a:r>
          </a:p>
          <a:p>
            <a:pPr algn="just"/>
            <a:r>
              <a:rPr lang="es-ES" sz="2000" dirty="0"/>
              <a:t>Visión </a:t>
            </a:r>
            <a:r>
              <a:rPr lang="es-ES" sz="2000" dirty="0" err="1"/>
              <a:t>estato</a:t>
            </a:r>
            <a:r>
              <a:rPr lang="es-ES" sz="2000" dirty="0"/>
              <a:t>-céntrica: diplomacia económica </a:t>
            </a:r>
            <a:r>
              <a:rPr lang="es-ES" sz="2000" b="1" dirty="0"/>
              <a:t>acentúa el poder </a:t>
            </a:r>
            <a:r>
              <a:rPr lang="es-ES" sz="2000" dirty="0"/>
              <a:t>de los Estados.</a:t>
            </a:r>
          </a:p>
          <a:p>
            <a:pPr algn="just"/>
            <a:endParaRPr lang="es-ES" sz="2000" dirty="0"/>
          </a:p>
          <a:p>
            <a:pPr marL="0" indent="0" algn="just">
              <a:buNone/>
            </a:pPr>
            <a:r>
              <a:rPr lang="es-ES" sz="2000" b="1" i="1" dirty="0" err="1"/>
              <a:t>Economic</a:t>
            </a:r>
            <a:r>
              <a:rPr lang="es-ES" sz="2000" b="1" i="1" dirty="0"/>
              <a:t> </a:t>
            </a:r>
            <a:r>
              <a:rPr lang="es-ES" sz="2000" b="1" i="1" dirty="0" err="1"/>
              <a:t>stratecraft</a:t>
            </a:r>
            <a:endParaRPr lang="es-ES" sz="2000" b="1" i="1" dirty="0"/>
          </a:p>
          <a:p>
            <a:pPr marL="0" indent="0" algn="just">
              <a:buNone/>
            </a:pPr>
            <a:r>
              <a:rPr lang="es-ES" sz="2000" dirty="0"/>
              <a:t>Poder económico -sanciones e incentivos- para modificar conductas de terceros Estados en función de sus intereses políticos (Baldwin, 1985). </a:t>
            </a:r>
          </a:p>
          <a:p>
            <a:pPr algn="just"/>
            <a:r>
              <a:rPr lang="es-ES" sz="2000" dirty="0"/>
              <a:t>Instrumento económico</a:t>
            </a:r>
          </a:p>
          <a:p>
            <a:pPr algn="just"/>
            <a:r>
              <a:rPr lang="es-ES" sz="2000" dirty="0"/>
              <a:t>Influencia sobre otro actor</a:t>
            </a:r>
          </a:p>
          <a:p>
            <a:pPr algn="just"/>
            <a:r>
              <a:rPr lang="es-ES" sz="2000" dirty="0"/>
              <a:t>Dimensión de la conducta.</a:t>
            </a:r>
          </a:p>
          <a:p>
            <a:pPr algn="just"/>
            <a:endParaRPr lang="es-ES" sz="2000" dirty="0"/>
          </a:p>
        </p:txBody>
      </p:sp>
    </p:spTree>
    <p:extLst>
      <p:ext uri="{BB962C8B-B14F-4D97-AF65-F5344CB8AC3E}">
        <p14:creationId xmlns:p14="http://schemas.microsoft.com/office/powerpoint/2010/main" val="3256120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sp>
        <p:nvSpPr>
          <p:cNvPr id="10" name="Título 9">
            <a:extLst>
              <a:ext uri="{FF2B5EF4-FFF2-40B4-BE49-F238E27FC236}">
                <a16:creationId xmlns:a16="http://schemas.microsoft.com/office/drawing/2014/main" id="{956928A4-7276-437A-9808-777B605416A1}"/>
              </a:ext>
            </a:extLst>
          </p:cNvPr>
          <p:cNvSpPr>
            <a:spLocks noGrp="1"/>
          </p:cNvSpPr>
          <p:nvPr>
            <p:ph type="title"/>
          </p:nvPr>
        </p:nvSpPr>
        <p:spPr>
          <a:xfrm>
            <a:off x="609758" y="207467"/>
            <a:ext cx="10975658" cy="972565"/>
          </a:xfrm>
        </p:spPr>
        <p:txBody>
          <a:bodyPr>
            <a:normAutofit/>
          </a:bodyPr>
          <a:lstStyle/>
          <a:p>
            <a:r>
              <a:rPr lang="es-AR" sz="3600" dirty="0" err="1"/>
              <a:t>Belt</a:t>
            </a:r>
            <a:r>
              <a:rPr lang="es-AR" sz="3600" dirty="0"/>
              <a:t> and Road: ¿diplomacia económica?</a:t>
            </a:r>
          </a:p>
        </p:txBody>
      </p:sp>
      <p:sp>
        <p:nvSpPr>
          <p:cNvPr id="11" name="Marcador de contenido 10">
            <a:extLst>
              <a:ext uri="{FF2B5EF4-FFF2-40B4-BE49-F238E27FC236}">
                <a16:creationId xmlns:a16="http://schemas.microsoft.com/office/drawing/2014/main" id="{27B768B4-B3A6-4399-BB54-3E2AF8027EAE}"/>
              </a:ext>
            </a:extLst>
          </p:cNvPr>
          <p:cNvSpPr>
            <a:spLocks noGrp="1"/>
          </p:cNvSpPr>
          <p:nvPr>
            <p:ph idx="1"/>
          </p:nvPr>
        </p:nvSpPr>
        <p:spPr>
          <a:xfrm>
            <a:off x="480963" y="1071563"/>
            <a:ext cx="11233248" cy="4743567"/>
          </a:xfrm>
        </p:spPr>
        <p:txBody>
          <a:bodyPr>
            <a:normAutofit/>
          </a:bodyPr>
          <a:lstStyle/>
          <a:p>
            <a:pPr indent="0" algn="just">
              <a:lnSpc>
                <a:spcPct val="107000"/>
              </a:lnSpc>
              <a:buNone/>
            </a:pPr>
            <a:r>
              <a:rPr lang="es-AR" sz="1800" dirty="0">
                <a:effectLst/>
                <a:latin typeface="Calibri" panose="020F0502020204030204" pitchFamily="34" charset="0"/>
                <a:ea typeface="Times New Roman" panose="02020603050405020304" pitchFamily="18" charset="0"/>
                <a:cs typeface="Calibri" panose="020F0502020204030204" pitchFamily="34" charset="0"/>
              </a:rPr>
              <a:t>Estrategia económica y política con un enfoque en la inversión en infraestructura diseñada para mejorar la conectividad física a lo largo de una ruta de la seda marítima y continental (Mayer, 2018).</a:t>
            </a:r>
          </a:p>
          <a:p>
            <a:pPr indent="0" algn="just">
              <a:lnSpc>
                <a:spcPct val="107000"/>
              </a:lnSpc>
              <a:buNone/>
            </a:pPr>
            <a:endParaRPr lang="es-AR" sz="1800" dirty="0">
              <a:effectLst/>
              <a:latin typeface="Calibri" panose="020F0502020204030204" pitchFamily="34" charset="0"/>
              <a:ea typeface="Times New Roman" panose="02020603050405020304" pitchFamily="18" charset="0"/>
              <a:cs typeface="Calibri" panose="020F0502020204030204" pitchFamily="34" charset="0"/>
            </a:endParaRPr>
          </a:p>
          <a:p>
            <a:pPr indent="0" algn="just">
              <a:lnSpc>
                <a:spcPct val="107000"/>
              </a:lnSpc>
              <a:buNone/>
            </a:pPr>
            <a:r>
              <a:rPr lang="es-AR" sz="1800" dirty="0">
                <a:effectLst/>
                <a:latin typeface="Calibri" panose="020F0502020204030204" pitchFamily="34" charset="0"/>
                <a:ea typeface="Times New Roman" panose="02020603050405020304" pitchFamily="18" charset="0"/>
                <a:cs typeface="Calibri" panose="020F0502020204030204" pitchFamily="34" charset="0"/>
              </a:rPr>
              <a:t>Seis corredores económicos. </a:t>
            </a:r>
          </a:p>
          <a:p>
            <a:pPr marL="628650" indent="-285750" algn="just">
              <a:lnSpc>
                <a:spcPct val="107000"/>
              </a:lnSpc>
            </a:pPr>
            <a:r>
              <a:rPr lang="es-AR" sz="1800" dirty="0">
                <a:effectLst/>
                <a:latin typeface="Calibri" panose="020F0502020204030204" pitchFamily="34" charset="0"/>
                <a:ea typeface="Times New Roman" panose="02020603050405020304" pitchFamily="18" charset="0"/>
              </a:rPr>
              <a:t>Franja:  Asia Central, Rusia y Europa, Asia Central y Medio Oriente, Sudeste de Asia, sur de Asia y océano Índico.</a:t>
            </a:r>
          </a:p>
          <a:p>
            <a:pPr marL="628650" indent="-285750" algn="just">
              <a:lnSpc>
                <a:spcPct val="107000"/>
              </a:lnSpc>
            </a:pPr>
            <a:r>
              <a:rPr lang="es-AR" sz="1800" dirty="0">
                <a:effectLst/>
                <a:latin typeface="Calibri" panose="020F0502020204030204" pitchFamily="34" charset="0"/>
                <a:ea typeface="Times New Roman" panose="02020603050405020304" pitchFamily="18" charset="0"/>
              </a:rPr>
              <a:t>Ruta: China con Europa a través del mar de China meridional y el océano Índico; y el Pacífico sur a través del mar de China meridional</a:t>
            </a:r>
            <a:endParaRPr lang="es-AR" sz="1800" dirty="0">
              <a:effectLst/>
              <a:latin typeface="Calibri" panose="020F0502020204030204" pitchFamily="34" charset="0"/>
              <a:ea typeface="Times New Roman" panose="02020603050405020304" pitchFamily="18" charset="0"/>
              <a:cs typeface="Calibri" panose="020F0502020204030204" pitchFamily="34" charset="0"/>
            </a:endParaRPr>
          </a:p>
          <a:p>
            <a:pPr indent="0" algn="just">
              <a:lnSpc>
                <a:spcPct val="107000"/>
              </a:lnSpc>
              <a:buNone/>
            </a:pPr>
            <a:r>
              <a:rPr lang="es-AR" sz="1800" dirty="0">
                <a:effectLst/>
                <a:latin typeface="Calibri" panose="020F0502020204030204" pitchFamily="34" charset="0"/>
                <a:ea typeface="Times New Roman" panose="02020603050405020304" pitchFamily="18" charset="0"/>
                <a:cs typeface="Calibri" panose="020F0502020204030204" pitchFamily="34" charset="0"/>
              </a:rPr>
              <a:t>Iniciativa ya superó el ámbito territorial original, convirtiéndose en una empresa global. </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buNone/>
            </a:pPr>
            <a:r>
              <a:rPr lang="es-AR" sz="1800" dirty="0">
                <a:effectLst/>
                <a:latin typeface="Calibri" panose="020F0502020204030204" pitchFamily="34" charset="0"/>
                <a:ea typeface="Times New Roman" panose="02020603050405020304" pitchFamily="18" charset="0"/>
                <a:cs typeface="Calibri" panose="020F0502020204030204" pitchFamily="34" charset="0"/>
              </a:rPr>
              <a:t>Xi Jinping hizo de la nueva Ruta de la Seda una parte clave de las relaciones internacionales de China (Nolan, 2019).</a:t>
            </a:r>
          </a:p>
          <a:p>
            <a:pPr indent="0" algn="just">
              <a:lnSpc>
                <a:spcPct val="107000"/>
              </a:lnSpc>
              <a:spcAft>
                <a:spcPts val="0"/>
              </a:spcAft>
              <a:buNone/>
            </a:pPr>
            <a:endParaRPr lang="es-AR" sz="1800" dirty="0">
              <a:effectLst/>
              <a:latin typeface="Calibri" panose="020F0502020204030204" pitchFamily="34" charset="0"/>
              <a:ea typeface="Times New Roman" panose="02020603050405020304" pitchFamily="18" charset="0"/>
              <a:cs typeface="Calibri" panose="020F0502020204030204" pitchFamily="34" charset="0"/>
            </a:endParaRPr>
          </a:p>
          <a:p>
            <a:pPr indent="0" algn="just">
              <a:lnSpc>
                <a:spcPct val="107000"/>
              </a:lnSpc>
              <a:spcAft>
                <a:spcPts val="0"/>
              </a:spcAft>
              <a:buNone/>
            </a:pPr>
            <a:r>
              <a:rPr lang="es-AR" sz="1800" dirty="0">
                <a:latin typeface="Calibri" panose="020F0502020204030204" pitchFamily="34" charset="0"/>
                <a:ea typeface="Times New Roman" panose="02020603050405020304" pitchFamily="18" charset="0"/>
                <a:cs typeface="Calibri" panose="020F0502020204030204" pitchFamily="34" charset="0"/>
              </a:rPr>
              <a:t>BRI como “paraguas”:</a:t>
            </a:r>
          </a:p>
          <a:p>
            <a:pPr marL="628650" indent="-285750" algn="just">
              <a:lnSpc>
                <a:spcPct val="107000"/>
              </a:lnSpc>
            </a:pPr>
            <a:r>
              <a:rPr lang="es-AR" sz="1800" dirty="0">
                <a:effectLst/>
                <a:latin typeface="Calibri" panose="020F0502020204030204" pitchFamily="34" charset="0"/>
                <a:ea typeface="Times New Roman" panose="02020603050405020304" pitchFamily="18" charset="0"/>
                <a:cs typeface="Calibri" panose="020F0502020204030204" pitchFamily="34" charset="0"/>
              </a:rPr>
              <a:t>Intereses externos: seguridad marítima, balancear a Estados Unidos, estabilidad regional.</a:t>
            </a:r>
          </a:p>
          <a:p>
            <a:pPr marL="628650" indent="-285750" algn="just">
              <a:lnSpc>
                <a:spcPct val="107000"/>
              </a:lnSpc>
            </a:pPr>
            <a:r>
              <a:rPr lang="es-AR" sz="1800" dirty="0">
                <a:latin typeface="Calibri" panose="020F0502020204030204" pitchFamily="34" charset="0"/>
                <a:ea typeface="Times New Roman" panose="02020603050405020304" pitchFamily="18" charset="0"/>
                <a:cs typeface="Calibri" panose="020F0502020204030204" pitchFamily="34" charset="0"/>
              </a:rPr>
              <a:t>Intereses internos: seguridad alimentaria y energética, desigual crecimiento regional, excedente industrial, legitimidad.</a:t>
            </a:r>
          </a:p>
        </p:txBody>
      </p:sp>
    </p:spTree>
    <p:extLst>
      <p:ext uri="{BB962C8B-B14F-4D97-AF65-F5344CB8AC3E}">
        <p14:creationId xmlns:p14="http://schemas.microsoft.com/office/powerpoint/2010/main" val="191461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graphicFrame>
        <p:nvGraphicFramePr>
          <p:cNvPr id="7" name="Gráfico 6">
            <a:extLst>
              <a:ext uri="{FF2B5EF4-FFF2-40B4-BE49-F238E27FC236}">
                <a16:creationId xmlns:a16="http://schemas.microsoft.com/office/drawing/2014/main" id="{6FA0DBFB-331F-48CA-8618-28142B1DAA46}"/>
              </a:ext>
            </a:extLst>
          </p:cNvPr>
          <p:cNvGraphicFramePr>
            <a:graphicFrameLocks/>
          </p:cNvGraphicFramePr>
          <p:nvPr>
            <p:extLst>
              <p:ext uri="{D42A27DB-BD31-4B8C-83A1-F6EECF244321}">
                <p14:modId xmlns:p14="http://schemas.microsoft.com/office/powerpoint/2010/main" val="3229350613"/>
              </p:ext>
            </p:extLst>
          </p:nvPr>
        </p:nvGraphicFramePr>
        <p:xfrm>
          <a:off x="5881564" y="495499"/>
          <a:ext cx="6052050" cy="26676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Gráfico 7">
            <a:extLst>
              <a:ext uri="{FF2B5EF4-FFF2-40B4-BE49-F238E27FC236}">
                <a16:creationId xmlns:a16="http://schemas.microsoft.com/office/drawing/2014/main" id="{4069BD07-437F-4251-A3CD-ED2DE678E0E8}"/>
              </a:ext>
            </a:extLst>
          </p:cNvPr>
          <p:cNvGraphicFramePr>
            <a:graphicFrameLocks/>
          </p:cNvGraphicFramePr>
          <p:nvPr>
            <p:extLst>
              <p:ext uri="{D42A27DB-BD31-4B8C-83A1-F6EECF244321}">
                <p14:modId xmlns:p14="http://schemas.microsoft.com/office/powerpoint/2010/main" val="4279608161"/>
              </p:ext>
            </p:extLst>
          </p:nvPr>
        </p:nvGraphicFramePr>
        <p:xfrm>
          <a:off x="5881565" y="3303811"/>
          <a:ext cx="6024502" cy="2304256"/>
        </p:xfrm>
        <a:graphic>
          <a:graphicData uri="http://schemas.openxmlformats.org/drawingml/2006/chart">
            <c:chart xmlns:c="http://schemas.openxmlformats.org/drawingml/2006/chart" xmlns:r="http://schemas.openxmlformats.org/officeDocument/2006/relationships" r:id="rId5"/>
          </a:graphicData>
        </a:graphic>
      </p:graphicFrame>
      <p:sp>
        <p:nvSpPr>
          <p:cNvPr id="6" name="CuadroTexto 5">
            <a:extLst>
              <a:ext uri="{FF2B5EF4-FFF2-40B4-BE49-F238E27FC236}">
                <a16:creationId xmlns:a16="http://schemas.microsoft.com/office/drawing/2014/main" id="{A9E333F7-7DBA-4409-B614-8335666DBCA2}"/>
              </a:ext>
            </a:extLst>
          </p:cNvPr>
          <p:cNvSpPr txBox="1"/>
          <p:nvPr/>
        </p:nvSpPr>
        <p:spPr>
          <a:xfrm>
            <a:off x="574632" y="495499"/>
            <a:ext cx="5018900" cy="5078313"/>
          </a:xfrm>
          <a:prstGeom prst="rect">
            <a:avLst/>
          </a:prstGeom>
          <a:noFill/>
        </p:spPr>
        <p:txBody>
          <a:bodyPr wrap="square" rtlCol="0">
            <a:spAutoFit/>
          </a:bodyPr>
          <a:lstStyle/>
          <a:p>
            <a:r>
              <a:rPr lang="es-AR" sz="1600" b="1" dirty="0"/>
              <a:t>Rasgos generales por región y grupo de ingresos</a:t>
            </a:r>
          </a:p>
          <a:p>
            <a:endParaRPr lang="es-AR" sz="1400" dirty="0"/>
          </a:p>
          <a:p>
            <a:r>
              <a:rPr lang="es-AR" sz="1400" dirty="0"/>
              <a:t>Escala de ingresos: GNI per cápita.</a:t>
            </a:r>
          </a:p>
          <a:p>
            <a:endParaRPr lang="es-AR" sz="1400" dirty="0"/>
          </a:p>
          <a:p>
            <a:r>
              <a:rPr lang="es-AR" sz="1400" dirty="0"/>
              <a:t>Miembros de BRI: 141 de 2016. </a:t>
            </a:r>
          </a:p>
          <a:p>
            <a:endParaRPr lang="es-AR" sz="1400" dirty="0"/>
          </a:p>
          <a:p>
            <a:r>
              <a:rPr lang="es-AR" sz="1400" u="sng" dirty="0"/>
              <a:t>Por región:</a:t>
            </a:r>
          </a:p>
          <a:p>
            <a:pPr marL="285750" indent="-285750">
              <a:buFont typeface="Arial" panose="020B0604020202020204" pitchFamily="34" charset="0"/>
              <a:buChar char="•"/>
            </a:pPr>
            <a:r>
              <a:rPr lang="es-AR" sz="1400" dirty="0"/>
              <a:t>Gran brecha de Subsaharianos y, en segundo lugar, del Medio Oriente y Norte de África. Diferencia favorable en Este de Asia, Europa y Asia Central.</a:t>
            </a:r>
          </a:p>
          <a:p>
            <a:pPr marL="285750" indent="-285750">
              <a:buFont typeface="Arial" panose="020B0604020202020204" pitchFamily="34" charset="0"/>
              <a:buChar char="•"/>
            </a:pPr>
            <a:r>
              <a:rPr lang="es-ES" sz="1400" dirty="0"/>
              <a:t>Mayor paridad en América Latina y el Caribe. “</a:t>
            </a:r>
            <a:r>
              <a:rPr lang="es-ES" sz="1400" dirty="0" err="1"/>
              <a:t>One</a:t>
            </a:r>
            <a:r>
              <a:rPr lang="es-ES" sz="1400" dirty="0"/>
              <a:t> China </a:t>
            </a:r>
            <a:r>
              <a:rPr lang="es-ES" sz="1400" dirty="0" err="1"/>
              <a:t>Policy</a:t>
            </a:r>
            <a:r>
              <a:rPr lang="es-ES" sz="1400" dirty="0"/>
              <a:t>” en centroamericanos y caribeños. Mayores países no ingresan. </a:t>
            </a:r>
          </a:p>
          <a:p>
            <a:pPr marL="285750" indent="-285750">
              <a:buFont typeface="Arial" panose="020B0604020202020204" pitchFamily="34" charset="0"/>
              <a:buChar char="•"/>
            </a:pPr>
            <a:r>
              <a:rPr lang="es-ES" sz="1400" dirty="0"/>
              <a:t>Europa y Asia Central: incidencia de países asiáticos, Balcanes y Europa oriental que, casualmente, son países de menores ingresos.</a:t>
            </a:r>
          </a:p>
          <a:p>
            <a:endParaRPr lang="es-ES" sz="1400" dirty="0"/>
          </a:p>
          <a:p>
            <a:r>
              <a:rPr lang="es-ES" sz="1400" u="sng" dirty="0"/>
              <a:t>Por ingreso:</a:t>
            </a:r>
          </a:p>
          <a:p>
            <a:pPr marL="285750" indent="-285750">
              <a:buFont typeface="Arial" panose="020B0604020202020204" pitchFamily="34" charset="0"/>
              <a:buChar char="•"/>
            </a:pPr>
            <a:r>
              <a:rPr lang="es-ES" sz="1400" dirty="0"/>
              <a:t>Predominio de países de medios y bajos ingresos (108 países), particularmente de medios bajos.</a:t>
            </a:r>
          </a:p>
          <a:p>
            <a:pPr marL="285750" indent="-285750">
              <a:buFont typeface="Arial" panose="020B0604020202020204" pitchFamily="34" charset="0"/>
              <a:buChar char="•"/>
            </a:pPr>
            <a:r>
              <a:rPr lang="es-ES" sz="1400" dirty="0"/>
              <a:t>La brecha no es significativa en países de ingresos altos (tan solo 11 países). Pero es significativa la incidencia de países no pertenecientes a la BRI.</a:t>
            </a:r>
          </a:p>
        </p:txBody>
      </p:sp>
    </p:spTree>
    <p:extLst>
      <p:ext uri="{BB962C8B-B14F-4D97-AF65-F5344CB8AC3E}">
        <p14:creationId xmlns:p14="http://schemas.microsoft.com/office/powerpoint/2010/main" val="2748354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graphicFrame>
        <p:nvGraphicFramePr>
          <p:cNvPr id="6" name="Gráfico 5">
            <a:extLst>
              <a:ext uri="{FF2B5EF4-FFF2-40B4-BE49-F238E27FC236}">
                <a16:creationId xmlns:a16="http://schemas.microsoft.com/office/drawing/2014/main" id="{6F8EC1CF-A7D6-40F1-B8C7-6DD1BCD5F467}"/>
              </a:ext>
            </a:extLst>
          </p:cNvPr>
          <p:cNvGraphicFramePr>
            <a:graphicFrameLocks/>
          </p:cNvGraphicFramePr>
          <p:nvPr>
            <p:extLst>
              <p:ext uri="{D42A27DB-BD31-4B8C-83A1-F6EECF244321}">
                <p14:modId xmlns:p14="http://schemas.microsoft.com/office/powerpoint/2010/main" val="710967052"/>
              </p:ext>
            </p:extLst>
          </p:nvPr>
        </p:nvGraphicFramePr>
        <p:xfrm>
          <a:off x="398008" y="3375820"/>
          <a:ext cx="6851709" cy="23762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a 4">
            <a:extLst>
              <a:ext uri="{FF2B5EF4-FFF2-40B4-BE49-F238E27FC236}">
                <a16:creationId xmlns:a16="http://schemas.microsoft.com/office/drawing/2014/main" id="{EDFFA7CB-71F1-4DED-B577-BE67A137E0A6}"/>
              </a:ext>
            </a:extLst>
          </p:cNvPr>
          <p:cNvGraphicFramePr>
            <a:graphicFrameLocks noGrp="1"/>
          </p:cNvGraphicFramePr>
          <p:nvPr>
            <p:extLst>
              <p:ext uri="{D42A27DB-BD31-4B8C-83A1-F6EECF244321}">
                <p14:modId xmlns:p14="http://schemas.microsoft.com/office/powerpoint/2010/main" val="3387865507"/>
              </p:ext>
            </p:extLst>
          </p:nvPr>
        </p:nvGraphicFramePr>
        <p:xfrm>
          <a:off x="7690199" y="912861"/>
          <a:ext cx="4106968" cy="3300434"/>
        </p:xfrm>
        <a:graphic>
          <a:graphicData uri="http://schemas.openxmlformats.org/drawingml/2006/table">
            <a:tbl>
              <a:tblPr>
                <a:tableStyleId>{17292A2E-F333-43FB-9621-5CBBE7FDCDCB}</a:tableStyleId>
              </a:tblPr>
              <a:tblGrid>
                <a:gridCol w="1136888">
                  <a:extLst>
                    <a:ext uri="{9D8B030D-6E8A-4147-A177-3AD203B41FA5}">
                      <a16:colId xmlns:a16="http://schemas.microsoft.com/office/drawing/2014/main" val="1635726452"/>
                    </a:ext>
                  </a:extLst>
                </a:gridCol>
                <a:gridCol w="252259">
                  <a:extLst>
                    <a:ext uri="{9D8B030D-6E8A-4147-A177-3AD203B41FA5}">
                      <a16:colId xmlns:a16="http://schemas.microsoft.com/office/drawing/2014/main" val="2310198036"/>
                    </a:ext>
                  </a:extLst>
                </a:gridCol>
                <a:gridCol w="1335585">
                  <a:extLst>
                    <a:ext uri="{9D8B030D-6E8A-4147-A177-3AD203B41FA5}">
                      <a16:colId xmlns:a16="http://schemas.microsoft.com/office/drawing/2014/main" val="331489535"/>
                    </a:ext>
                  </a:extLst>
                </a:gridCol>
                <a:gridCol w="1382236">
                  <a:extLst>
                    <a:ext uri="{9D8B030D-6E8A-4147-A177-3AD203B41FA5}">
                      <a16:colId xmlns:a16="http://schemas.microsoft.com/office/drawing/2014/main" val="1973605175"/>
                    </a:ext>
                  </a:extLst>
                </a:gridCol>
              </a:tblGrid>
              <a:tr h="137158">
                <a:tc>
                  <a:txBody>
                    <a:bodyPr/>
                    <a:lstStyle/>
                    <a:p>
                      <a:pPr algn="ctr" fontAlgn="b"/>
                      <a:r>
                        <a:rPr lang="es-AR" sz="1200" b="1" u="none" strike="noStrike" dirty="0">
                          <a:effectLst/>
                        </a:rPr>
                        <a:t>Países</a:t>
                      </a:r>
                      <a:endParaRPr lang="es-AR" sz="12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b"/>
                      <a:r>
                        <a:rPr lang="es-AR" sz="1200" b="1" u="none" strike="noStrike" dirty="0">
                          <a:effectLst/>
                        </a:rPr>
                        <a:t>BRI</a:t>
                      </a:r>
                      <a:endParaRPr lang="es-AR" sz="12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AR" sz="1200" b="1" u="none" strike="noStrike" dirty="0">
                          <a:effectLst/>
                        </a:rPr>
                        <a:t>Importaciones desde China</a:t>
                      </a:r>
                      <a:endParaRPr lang="es-AR" sz="12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AR" sz="1200" b="1" u="none" strike="noStrike" dirty="0">
                          <a:effectLst/>
                        </a:rPr>
                        <a:t>Exportaciones hacia China</a:t>
                      </a:r>
                      <a:endParaRPr lang="es-AR" sz="12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66073608"/>
                  </a:ext>
                </a:extLst>
              </a:tr>
              <a:tr h="209166">
                <a:tc>
                  <a:txBody>
                    <a:bodyPr/>
                    <a:lstStyle/>
                    <a:p>
                      <a:pPr algn="ctr" fontAlgn="b"/>
                      <a:r>
                        <a:rPr lang="es-AR" sz="1200" u="none" strike="noStrike" dirty="0" err="1">
                          <a:effectLst/>
                        </a:rPr>
                        <a:t>United</a:t>
                      </a:r>
                      <a:r>
                        <a:rPr lang="es-AR" sz="1200" u="none" strike="noStrike" dirty="0">
                          <a:effectLst/>
                        </a:rPr>
                        <a:t> </a:t>
                      </a:r>
                      <a:r>
                        <a:rPr lang="es-AR" sz="1200" u="none" strike="noStrike" dirty="0" err="1">
                          <a:effectLst/>
                        </a:rPr>
                        <a:t>States</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470.950.852.000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106.448.372.000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00303355"/>
                  </a:ext>
                </a:extLst>
              </a:tr>
              <a:tr h="209166">
                <a:tc>
                  <a:txBody>
                    <a:bodyPr/>
                    <a:lstStyle/>
                    <a:p>
                      <a:pPr algn="ctr" fontAlgn="b"/>
                      <a:r>
                        <a:rPr lang="es-AR" sz="1200" u="none" strike="noStrike">
                          <a:effectLst/>
                        </a:rPr>
                        <a:t>Hong Kong, China</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264.601.840.000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296.069.015.000 </a:t>
                      </a:r>
                      <a:endParaRPr lang="es-AR" sz="12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30214684"/>
                  </a:ext>
                </a:extLst>
              </a:tr>
              <a:tr h="209166">
                <a:tc>
                  <a:txBody>
                    <a:bodyPr/>
                    <a:lstStyle/>
                    <a:p>
                      <a:pPr algn="ctr" fontAlgn="b"/>
                      <a:r>
                        <a:rPr lang="es-AR" sz="1200" u="none" strike="noStrike">
                          <a:effectLst/>
                        </a:rPr>
                        <a:t>Japan</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169.236.468.000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134.719.884.000 </a:t>
                      </a:r>
                      <a:endParaRPr lang="es-AR" sz="12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50626842"/>
                  </a:ext>
                </a:extLst>
              </a:tr>
              <a:tr h="209166">
                <a:tc>
                  <a:txBody>
                    <a:bodyPr/>
                    <a:lstStyle/>
                    <a:p>
                      <a:pPr algn="ctr" fontAlgn="b"/>
                      <a:r>
                        <a:rPr lang="es-AR" sz="1200" u="none" strike="noStrike">
                          <a:effectLst/>
                        </a:rPr>
                        <a:t>Korea Republic</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107.219.763.000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136.213.398.000 </a:t>
                      </a:r>
                      <a:endParaRPr lang="es-AR" sz="12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50464505"/>
                  </a:ext>
                </a:extLst>
              </a:tr>
              <a:tr h="209166">
                <a:tc>
                  <a:txBody>
                    <a:bodyPr/>
                    <a:lstStyle/>
                    <a:p>
                      <a:pPr algn="ctr" fontAlgn="b"/>
                      <a:r>
                        <a:rPr lang="es-AR" sz="1200" u="none" strike="noStrike">
                          <a:effectLst/>
                        </a:rPr>
                        <a:t>Germany</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123.165.529.000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107.451.431.000 </a:t>
                      </a:r>
                      <a:endParaRPr lang="es-AR" sz="12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49958672"/>
                  </a:ext>
                </a:extLst>
              </a:tr>
              <a:tr h="209166">
                <a:tc>
                  <a:txBody>
                    <a:bodyPr/>
                    <a:lstStyle/>
                    <a:p>
                      <a:pPr algn="ctr" fontAlgn="b"/>
                      <a:r>
                        <a:rPr lang="es-AR" sz="1200" u="none" strike="noStrike">
                          <a:effectLst/>
                        </a:rPr>
                        <a:t>Taipei, Chinese</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57.432.534.000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91.886.693.000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96432474"/>
                  </a:ext>
                </a:extLst>
              </a:tr>
              <a:tr h="209166">
                <a:tc>
                  <a:txBody>
                    <a:bodyPr/>
                    <a:lstStyle/>
                    <a:p>
                      <a:pPr algn="ctr" fontAlgn="b"/>
                      <a:r>
                        <a:rPr lang="es-AR" sz="1200" u="none" strike="noStrike">
                          <a:effectLst/>
                        </a:rPr>
                        <a:t>Australia</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54.664.941.000 </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89.293.723.000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67646885"/>
                  </a:ext>
                </a:extLst>
              </a:tr>
              <a:tr h="209166">
                <a:tc>
                  <a:txBody>
                    <a:bodyPr/>
                    <a:lstStyle/>
                    <a:p>
                      <a:pPr algn="ctr" fontAlgn="b"/>
                      <a:r>
                        <a:rPr lang="es-AR" sz="1200" u="none" strike="noStrike">
                          <a:effectLst/>
                        </a:rPr>
                        <a:t>Vietnam</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75.586.138.000 </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41.434.238.000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505425850"/>
                  </a:ext>
                </a:extLst>
              </a:tr>
              <a:tr h="209166">
                <a:tc>
                  <a:txBody>
                    <a:bodyPr/>
                    <a:lstStyle/>
                    <a:p>
                      <a:pPr algn="ctr" fontAlgn="b"/>
                      <a:r>
                        <a:rPr lang="es-AR" sz="1200" u="none" strike="noStrike">
                          <a:effectLst/>
                        </a:rPr>
                        <a:t>Russia</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a:effectLst/>
                        </a:rPr>
                        <a:t>   54.126.998.000 </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56.791.577.000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78276044"/>
                  </a:ext>
                </a:extLst>
              </a:tr>
              <a:tr h="209166">
                <a:tc>
                  <a:txBody>
                    <a:bodyPr/>
                    <a:lstStyle/>
                    <a:p>
                      <a:pPr algn="ctr" fontAlgn="b"/>
                      <a:r>
                        <a:rPr lang="es-AR" sz="1200" u="none" strike="noStrike">
                          <a:effectLst/>
                        </a:rPr>
                        <a:t>Singapore</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49.037.427.000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51.626.378.000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47615740"/>
                  </a:ext>
                </a:extLst>
              </a:tr>
              <a:tr h="209166">
                <a:tc>
                  <a:txBody>
                    <a:bodyPr/>
                    <a:lstStyle/>
                    <a:p>
                      <a:pPr algn="ctr" fontAlgn="b"/>
                      <a:r>
                        <a:rPr lang="es-AR" sz="1200" u="none" strike="noStrike">
                          <a:effectLst/>
                        </a:rPr>
                        <a:t>Brazil</a:t>
                      </a:r>
                      <a:endParaRPr lang="es-AR" sz="12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35.270.401.000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62.871.652.000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0277387"/>
                  </a:ext>
                </a:extLst>
              </a:tr>
              <a:tr h="209166">
                <a:tc>
                  <a:txBody>
                    <a:bodyPr/>
                    <a:lstStyle/>
                    <a:p>
                      <a:pPr algn="ctr" fontAlgn="b"/>
                      <a:r>
                        <a:rPr lang="es-AR" sz="1200" u="none" strike="noStrike" dirty="0" err="1">
                          <a:effectLst/>
                        </a:rPr>
                        <a:t>United</a:t>
                      </a:r>
                      <a:r>
                        <a:rPr lang="es-AR" sz="1200" u="none" strike="noStrike" dirty="0">
                          <a:effectLst/>
                        </a:rPr>
                        <a:t> </a:t>
                      </a:r>
                      <a:r>
                        <a:rPr lang="es-AR" sz="1200" u="none" strike="noStrike" dirty="0" err="1">
                          <a:effectLst/>
                        </a:rPr>
                        <a:t>Kingdom</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65.529.528.000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30.154.261.000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61932966"/>
                  </a:ext>
                </a:extLst>
              </a:tr>
              <a:tr h="209166">
                <a:tc>
                  <a:txBody>
                    <a:bodyPr/>
                    <a:lstStyle/>
                    <a:p>
                      <a:pPr algn="ctr" fontAlgn="b"/>
                      <a:r>
                        <a:rPr lang="es-AR" sz="1200" u="none" strike="noStrike" dirty="0" err="1">
                          <a:effectLst/>
                        </a:rPr>
                        <a:t>Mexico</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83.052.434.000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6.930.326.000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16475682"/>
                  </a:ext>
                </a:extLst>
              </a:tr>
              <a:tr h="209166">
                <a:tc>
                  <a:txBody>
                    <a:bodyPr/>
                    <a:lstStyle/>
                    <a:p>
                      <a:pPr algn="ctr" fontAlgn="b"/>
                      <a:r>
                        <a:rPr lang="es-AR" sz="1200" u="none" strike="noStrike" dirty="0">
                          <a:effectLst/>
                        </a:rPr>
                        <a:t>India</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68.402.093.000 </a:t>
                      </a:r>
                      <a:endParaRPr lang="es-AR" sz="12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200" u="none" strike="noStrike" dirty="0">
                          <a:effectLst/>
                        </a:rPr>
                        <a:t>         17.278.833.000 </a:t>
                      </a:r>
                      <a:endParaRPr lang="es-AR" sz="12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76940941"/>
                  </a:ext>
                </a:extLst>
              </a:tr>
            </a:tbl>
          </a:graphicData>
        </a:graphic>
      </p:graphicFrame>
      <p:sp>
        <p:nvSpPr>
          <p:cNvPr id="7" name="CuadroTexto 6">
            <a:extLst>
              <a:ext uri="{FF2B5EF4-FFF2-40B4-BE49-F238E27FC236}">
                <a16:creationId xmlns:a16="http://schemas.microsoft.com/office/drawing/2014/main" id="{7C08E1FC-46FE-4253-AAC8-EA53E1C081B0}"/>
              </a:ext>
            </a:extLst>
          </p:cNvPr>
          <p:cNvSpPr txBox="1"/>
          <p:nvPr/>
        </p:nvSpPr>
        <p:spPr>
          <a:xfrm>
            <a:off x="1273051" y="5300496"/>
            <a:ext cx="3672408" cy="1080120"/>
          </a:xfrm>
          <a:prstGeom prst="rect">
            <a:avLst/>
          </a:prstGeom>
          <a:noFill/>
        </p:spPr>
        <p:txBody>
          <a:bodyPr wrap="square" rtlCol="0">
            <a:spAutoFit/>
          </a:bodyPr>
          <a:lstStyle/>
          <a:p>
            <a:endParaRPr lang="es-AR" dirty="0"/>
          </a:p>
        </p:txBody>
      </p:sp>
      <p:sp>
        <p:nvSpPr>
          <p:cNvPr id="8" name="CuadroTexto 7">
            <a:extLst>
              <a:ext uri="{FF2B5EF4-FFF2-40B4-BE49-F238E27FC236}">
                <a16:creationId xmlns:a16="http://schemas.microsoft.com/office/drawing/2014/main" id="{3B058201-1A12-425B-910B-429CA7484CC0}"/>
              </a:ext>
            </a:extLst>
          </p:cNvPr>
          <p:cNvSpPr txBox="1"/>
          <p:nvPr/>
        </p:nvSpPr>
        <p:spPr>
          <a:xfrm>
            <a:off x="190102" y="912861"/>
            <a:ext cx="7293696" cy="2031325"/>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s-ES" sz="1400" b="1" dirty="0"/>
              <a:t>Por ingresos</a:t>
            </a:r>
          </a:p>
          <a:p>
            <a:pPr marL="285750" indent="-285750" algn="just">
              <a:buFont typeface="Arial" panose="020B0604020202020204" pitchFamily="34" charset="0"/>
              <a:buChar char="•"/>
            </a:pPr>
            <a:r>
              <a:rPr lang="es-ES" sz="1400" dirty="0"/>
              <a:t>Predominio del comercio de países de altos ingresos: 2,7 billones de dólares (64% )</a:t>
            </a:r>
          </a:p>
          <a:p>
            <a:pPr marL="285750" indent="-285750" algn="just">
              <a:buFont typeface="Arial" panose="020B0604020202020204" pitchFamily="34" charset="0"/>
              <a:buChar char="•"/>
            </a:pPr>
            <a:r>
              <a:rPr lang="es-ES" sz="1400" dirty="0"/>
              <a:t>Gran mayoría no pertenece a BRI: 2,3 billones de dólares (85% del comercio de altos ingresos)</a:t>
            </a:r>
          </a:p>
          <a:p>
            <a:pPr marL="285750" indent="-285750" algn="just">
              <a:buFont typeface="Arial" panose="020B0604020202020204" pitchFamily="34" charset="0"/>
              <a:buChar char="•"/>
            </a:pPr>
            <a:r>
              <a:rPr lang="es-ES" sz="1400" dirty="0"/>
              <a:t>También representa el 88% del total comerciado de los no miembros de BRI.</a:t>
            </a:r>
          </a:p>
          <a:p>
            <a:pPr marL="285750" indent="-285750" algn="just">
              <a:buFont typeface="Arial" panose="020B0604020202020204" pitchFamily="34" charset="0"/>
              <a:buChar char="•"/>
            </a:pPr>
            <a:r>
              <a:rPr lang="es-ES" sz="1400" dirty="0"/>
              <a:t>Ingresos medios y bajos representan 1,4 billones de dólares del comercio (33%).</a:t>
            </a:r>
          </a:p>
          <a:p>
            <a:pPr marL="285750" indent="-285750" algn="just">
              <a:buFont typeface="Arial" panose="020B0604020202020204" pitchFamily="34" charset="0"/>
              <a:buChar char="•"/>
            </a:pPr>
            <a:r>
              <a:rPr lang="es-ES" sz="1400" dirty="0"/>
              <a:t>Ingresos medios altos representan el 90% del total comerciado.</a:t>
            </a:r>
          </a:p>
          <a:p>
            <a:pPr marL="285750" indent="-285750" algn="just">
              <a:buFont typeface="Arial" panose="020B0604020202020204" pitchFamily="34" charset="0"/>
              <a:buChar char="•"/>
            </a:pPr>
            <a:r>
              <a:rPr lang="es-ES" sz="1400" dirty="0"/>
              <a:t>Bajos ingresos de BRI: 276 mil millones de dólares (casi la totalidad del total del grupo)</a:t>
            </a:r>
          </a:p>
          <a:p>
            <a:pPr marL="285750" indent="-285750" algn="just">
              <a:buFont typeface="Arial" panose="020B0604020202020204" pitchFamily="34" charset="0"/>
              <a:buChar char="•"/>
            </a:pPr>
            <a:r>
              <a:rPr lang="es-ES" sz="1400" dirty="0"/>
              <a:t>Ingresos medios bajos de BRI: casi 400 mil millones (82% del total comerciado por este grupo)</a:t>
            </a:r>
          </a:p>
          <a:p>
            <a:pPr marL="285750" indent="-285750" algn="just">
              <a:buFont typeface="Arial" panose="020B0604020202020204" pitchFamily="34" charset="0"/>
              <a:buChar char="•"/>
            </a:pPr>
            <a:r>
              <a:rPr lang="es-ES" sz="1400" dirty="0"/>
              <a:t>Mayor paridad en ingresos medios altos: 445 mil millones de dólares (65% )</a:t>
            </a:r>
          </a:p>
        </p:txBody>
      </p:sp>
      <p:sp>
        <p:nvSpPr>
          <p:cNvPr id="9" name="CuadroTexto 8">
            <a:extLst>
              <a:ext uri="{FF2B5EF4-FFF2-40B4-BE49-F238E27FC236}">
                <a16:creationId xmlns:a16="http://schemas.microsoft.com/office/drawing/2014/main" id="{07E29B34-47A9-4615-B861-B2E3072012A3}"/>
              </a:ext>
            </a:extLst>
          </p:cNvPr>
          <p:cNvSpPr txBox="1"/>
          <p:nvPr/>
        </p:nvSpPr>
        <p:spPr>
          <a:xfrm>
            <a:off x="398008" y="282976"/>
            <a:ext cx="2969467" cy="369332"/>
          </a:xfrm>
          <a:prstGeom prst="rect">
            <a:avLst/>
          </a:prstGeom>
          <a:noFill/>
        </p:spPr>
        <p:txBody>
          <a:bodyPr wrap="none" rtlCol="0">
            <a:spAutoFit/>
          </a:bodyPr>
          <a:lstStyle/>
          <a:p>
            <a:r>
              <a:rPr lang="es-AR" b="1" dirty="0"/>
              <a:t>1. Comercio con China (2019)</a:t>
            </a:r>
          </a:p>
        </p:txBody>
      </p:sp>
    </p:spTree>
    <p:extLst>
      <p:ext uri="{BB962C8B-B14F-4D97-AF65-F5344CB8AC3E}">
        <p14:creationId xmlns:p14="http://schemas.microsoft.com/office/powerpoint/2010/main" val="62059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graphicFrame>
        <p:nvGraphicFramePr>
          <p:cNvPr id="6" name="Gráfico 5">
            <a:extLst>
              <a:ext uri="{FF2B5EF4-FFF2-40B4-BE49-F238E27FC236}">
                <a16:creationId xmlns:a16="http://schemas.microsoft.com/office/drawing/2014/main" id="{36E4E255-C056-478C-B50A-26FF476C980F}"/>
              </a:ext>
            </a:extLst>
          </p:cNvPr>
          <p:cNvGraphicFramePr>
            <a:graphicFrameLocks/>
          </p:cNvGraphicFramePr>
          <p:nvPr>
            <p:extLst>
              <p:ext uri="{D42A27DB-BD31-4B8C-83A1-F6EECF244321}">
                <p14:modId xmlns:p14="http://schemas.microsoft.com/office/powerpoint/2010/main" val="2220826281"/>
              </p:ext>
            </p:extLst>
          </p:nvPr>
        </p:nvGraphicFramePr>
        <p:xfrm>
          <a:off x="1320277" y="203499"/>
          <a:ext cx="4320000" cy="558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019CF82C-D714-4F39-A64B-19D17AC55B57}"/>
              </a:ext>
            </a:extLst>
          </p:cNvPr>
          <p:cNvGraphicFramePr>
            <a:graphicFrameLocks/>
          </p:cNvGraphicFramePr>
          <p:nvPr>
            <p:extLst>
              <p:ext uri="{D42A27DB-BD31-4B8C-83A1-F6EECF244321}">
                <p14:modId xmlns:p14="http://schemas.microsoft.com/office/powerpoint/2010/main" val="1108520967"/>
              </p:ext>
            </p:extLst>
          </p:nvPr>
        </p:nvGraphicFramePr>
        <p:xfrm>
          <a:off x="6554898" y="201141"/>
          <a:ext cx="4320000" cy="558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35778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graphicFrame>
        <p:nvGraphicFramePr>
          <p:cNvPr id="8" name="Gráfico 7">
            <a:extLst>
              <a:ext uri="{FF2B5EF4-FFF2-40B4-BE49-F238E27FC236}">
                <a16:creationId xmlns:a16="http://schemas.microsoft.com/office/drawing/2014/main" id="{0A9AAA61-0683-40F1-BEEE-A9AF72B7C488}"/>
              </a:ext>
            </a:extLst>
          </p:cNvPr>
          <p:cNvGraphicFramePr>
            <a:graphicFrameLocks/>
          </p:cNvGraphicFramePr>
          <p:nvPr>
            <p:extLst>
              <p:ext uri="{D42A27DB-BD31-4B8C-83A1-F6EECF244321}">
                <p14:modId xmlns:p14="http://schemas.microsoft.com/office/powerpoint/2010/main" val="2985639232"/>
              </p:ext>
            </p:extLst>
          </p:nvPr>
        </p:nvGraphicFramePr>
        <p:xfrm>
          <a:off x="454765" y="2631606"/>
          <a:ext cx="6048671" cy="26847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a 5">
            <a:extLst>
              <a:ext uri="{FF2B5EF4-FFF2-40B4-BE49-F238E27FC236}">
                <a16:creationId xmlns:a16="http://schemas.microsoft.com/office/drawing/2014/main" id="{6A166B34-BEF2-4B29-B95D-C3A077271489}"/>
              </a:ext>
            </a:extLst>
          </p:cNvPr>
          <p:cNvGraphicFramePr>
            <a:graphicFrameLocks noGrp="1"/>
          </p:cNvGraphicFramePr>
          <p:nvPr>
            <p:extLst>
              <p:ext uri="{D42A27DB-BD31-4B8C-83A1-F6EECF244321}">
                <p14:modId xmlns:p14="http://schemas.microsoft.com/office/powerpoint/2010/main" val="1598762909"/>
              </p:ext>
            </p:extLst>
          </p:nvPr>
        </p:nvGraphicFramePr>
        <p:xfrm>
          <a:off x="7748030" y="282976"/>
          <a:ext cx="3816424" cy="3690983"/>
        </p:xfrm>
        <a:graphic>
          <a:graphicData uri="http://schemas.openxmlformats.org/drawingml/2006/table">
            <a:tbl>
              <a:tblPr>
                <a:tableStyleId>{17292A2E-F333-43FB-9621-5CBBE7FDCDCB}</a:tableStyleId>
              </a:tblPr>
              <a:tblGrid>
                <a:gridCol w="1409008">
                  <a:extLst>
                    <a:ext uri="{9D8B030D-6E8A-4147-A177-3AD203B41FA5}">
                      <a16:colId xmlns:a16="http://schemas.microsoft.com/office/drawing/2014/main" val="3623846706"/>
                    </a:ext>
                  </a:extLst>
                </a:gridCol>
                <a:gridCol w="1754044">
                  <a:extLst>
                    <a:ext uri="{9D8B030D-6E8A-4147-A177-3AD203B41FA5}">
                      <a16:colId xmlns:a16="http://schemas.microsoft.com/office/drawing/2014/main" val="619985167"/>
                    </a:ext>
                  </a:extLst>
                </a:gridCol>
                <a:gridCol w="653372">
                  <a:extLst>
                    <a:ext uri="{9D8B030D-6E8A-4147-A177-3AD203B41FA5}">
                      <a16:colId xmlns:a16="http://schemas.microsoft.com/office/drawing/2014/main" val="1389623712"/>
                    </a:ext>
                  </a:extLst>
                </a:gridCol>
              </a:tblGrid>
              <a:tr h="284531">
                <a:tc>
                  <a:txBody>
                    <a:bodyPr/>
                    <a:lstStyle/>
                    <a:p>
                      <a:pPr algn="ctr" fontAlgn="b"/>
                      <a:r>
                        <a:rPr lang="es-AR" sz="1200" b="1" u="none" strike="noStrike" dirty="0" err="1">
                          <a:effectLst/>
                        </a:rPr>
                        <a:t>Paises</a:t>
                      </a:r>
                      <a:endParaRPr lang="es-AR" sz="1200" b="1"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b="1" u="none" strike="noStrike" dirty="0">
                          <a:effectLst/>
                        </a:rPr>
                        <a:t>Inversiones totales</a:t>
                      </a:r>
                      <a:endParaRPr lang="es-AR" sz="1200" b="1"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b="1" u="none" strike="noStrike" dirty="0">
                          <a:effectLst/>
                        </a:rPr>
                        <a:t>BRI</a:t>
                      </a:r>
                      <a:endParaRPr lang="es-AR" sz="1200" b="1"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3253989599"/>
                  </a:ext>
                </a:extLst>
              </a:tr>
              <a:tr h="283871">
                <a:tc>
                  <a:txBody>
                    <a:bodyPr/>
                    <a:lstStyle/>
                    <a:p>
                      <a:pPr algn="ctr" fontAlgn="b"/>
                      <a:r>
                        <a:rPr lang="es-AR" sz="1200" u="none" strike="noStrike" dirty="0" err="1">
                          <a:effectLst/>
                        </a:rPr>
                        <a:t>United</a:t>
                      </a:r>
                      <a:r>
                        <a:rPr lang="es-AR" sz="1200" u="none" strike="noStrike" dirty="0">
                          <a:effectLst/>
                        </a:rPr>
                        <a:t> </a:t>
                      </a:r>
                      <a:r>
                        <a:rPr lang="es-AR" sz="1200" u="none" strike="noStrike" dirty="0" err="1">
                          <a:effectLst/>
                        </a:rPr>
                        <a:t>States</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191.370.000.000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4146164350"/>
                  </a:ext>
                </a:extLst>
              </a:tr>
              <a:tr h="283871">
                <a:tc>
                  <a:txBody>
                    <a:bodyPr/>
                    <a:lstStyle/>
                    <a:p>
                      <a:pPr algn="ctr" fontAlgn="b"/>
                      <a:r>
                        <a:rPr lang="es-AR" sz="1200" u="none" strike="noStrike" dirty="0">
                          <a:effectLst/>
                        </a:rPr>
                        <a:t>Australia</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a:effectLst/>
                        </a:rPr>
                        <a:t>               120.810.000.000 </a:t>
                      </a:r>
                      <a:endParaRPr lang="es-AR" sz="1200" b="0" i="0" u="none" strike="noStrike">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3498306473"/>
                  </a:ext>
                </a:extLst>
              </a:tr>
              <a:tr h="283871">
                <a:tc>
                  <a:txBody>
                    <a:bodyPr/>
                    <a:lstStyle/>
                    <a:p>
                      <a:pPr algn="ctr" fontAlgn="b"/>
                      <a:r>
                        <a:rPr lang="es-AR" sz="1200" u="none" strike="noStrike" dirty="0" err="1">
                          <a:effectLst/>
                        </a:rPr>
                        <a:t>United</a:t>
                      </a:r>
                      <a:r>
                        <a:rPr lang="es-AR" sz="1200" u="none" strike="noStrike" dirty="0">
                          <a:effectLst/>
                        </a:rPr>
                        <a:t> </a:t>
                      </a:r>
                      <a:r>
                        <a:rPr lang="es-AR" sz="1200" u="none" strike="noStrike" dirty="0" err="1">
                          <a:effectLst/>
                        </a:rPr>
                        <a:t>Kingdom</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99.510.000.000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0</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1044637439"/>
                  </a:ext>
                </a:extLst>
              </a:tr>
              <a:tr h="283871">
                <a:tc>
                  <a:txBody>
                    <a:bodyPr/>
                    <a:lstStyle/>
                    <a:p>
                      <a:pPr algn="ctr" fontAlgn="b"/>
                      <a:r>
                        <a:rPr lang="es-AR" sz="1200" u="none" strike="noStrike" dirty="0" err="1">
                          <a:effectLst/>
                        </a:rPr>
                        <a:t>Brazil</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70.650.000.000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0</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1212664882"/>
                  </a:ext>
                </a:extLst>
              </a:tr>
              <a:tr h="283871">
                <a:tc>
                  <a:txBody>
                    <a:bodyPr/>
                    <a:lstStyle/>
                    <a:p>
                      <a:pPr algn="ctr" fontAlgn="b"/>
                      <a:r>
                        <a:rPr lang="es-AR" sz="1200" u="none" strike="noStrike">
                          <a:effectLst/>
                        </a:rPr>
                        <a:t>Pakistan</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64.970.000.000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1</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736603781"/>
                  </a:ext>
                </a:extLst>
              </a:tr>
              <a:tr h="283871">
                <a:tc>
                  <a:txBody>
                    <a:bodyPr/>
                    <a:lstStyle/>
                    <a:p>
                      <a:pPr algn="ctr" fontAlgn="b"/>
                      <a:r>
                        <a:rPr lang="es-AR" sz="1200" u="none" strike="noStrike">
                          <a:effectLst/>
                        </a:rPr>
                        <a:t>Switzerland</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61.210.000.000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0</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206209783"/>
                  </a:ext>
                </a:extLst>
              </a:tr>
              <a:tr h="283871">
                <a:tc>
                  <a:txBody>
                    <a:bodyPr/>
                    <a:lstStyle/>
                    <a:p>
                      <a:pPr algn="ctr" fontAlgn="b"/>
                      <a:r>
                        <a:rPr lang="es-AR" sz="1200" u="none" strike="noStrike">
                          <a:effectLst/>
                        </a:rPr>
                        <a:t>Russia</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58.100.000.000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1</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4023146674"/>
                  </a:ext>
                </a:extLst>
              </a:tr>
              <a:tr h="283871">
                <a:tc>
                  <a:txBody>
                    <a:bodyPr/>
                    <a:lstStyle/>
                    <a:p>
                      <a:pPr algn="ctr" fontAlgn="b"/>
                      <a:r>
                        <a:rPr lang="es-AR" sz="1200" u="none" strike="noStrike">
                          <a:effectLst/>
                        </a:rPr>
                        <a:t>Canada</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57.130.000.000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a:effectLst/>
                        </a:rPr>
                        <a:t>0</a:t>
                      </a:r>
                      <a:endParaRPr lang="es-AR" sz="1200" b="0" i="0" u="none" strike="noStrike">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735815935"/>
                  </a:ext>
                </a:extLst>
              </a:tr>
              <a:tr h="283871">
                <a:tc>
                  <a:txBody>
                    <a:bodyPr/>
                    <a:lstStyle/>
                    <a:p>
                      <a:pPr algn="ctr" fontAlgn="b"/>
                      <a:r>
                        <a:rPr lang="es-AR" sz="1200" u="none" strike="noStrike">
                          <a:effectLst/>
                        </a:rPr>
                        <a:t>Indonesia</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55.070.000.000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1778981546"/>
                  </a:ext>
                </a:extLst>
              </a:tr>
              <a:tr h="283871">
                <a:tc>
                  <a:txBody>
                    <a:bodyPr/>
                    <a:lstStyle/>
                    <a:p>
                      <a:pPr algn="ctr" fontAlgn="b"/>
                      <a:r>
                        <a:rPr lang="es-AR" sz="1200" u="none" strike="noStrike">
                          <a:effectLst/>
                        </a:rPr>
                        <a:t>Singapore</a:t>
                      </a:r>
                      <a:endParaRPr lang="es-AR" sz="1200" b="0" i="0" u="none" strike="noStrike">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50.700.000.000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2991558641"/>
                  </a:ext>
                </a:extLst>
              </a:tr>
              <a:tr h="283871">
                <a:tc>
                  <a:txBody>
                    <a:bodyPr/>
                    <a:lstStyle/>
                    <a:p>
                      <a:pPr algn="ctr" fontAlgn="b"/>
                      <a:r>
                        <a:rPr lang="es-AR" sz="1200" u="none" strike="noStrike" dirty="0" err="1">
                          <a:effectLst/>
                        </a:rPr>
                        <a:t>Germany</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48.190.000.000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0</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2337523769"/>
                  </a:ext>
                </a:extLst>
              </a:tr>
              <a:tr h="283871">
                <a:tc>
                  <a:txBody>
                    <a:bodyPr/>
                    <a:lstStyle/>
                    <a:p>
                      <a:pPr algn="ctr" fontAlgn="b"/>
                      <a:r>
                        <a:rPr lang="es-AR" sz="1200" u="none" strike="noStrike" dirty="0">
                          <a:effectLst/>
                        </a:rPr>
                        <a:t>Malaysia</a:t>
                      </a:r>
                      <a:endParaRPr lang="es-AR" sz="1200" b="0" i="0" u="none" strike="noStrike" dirty="0">
                        <a:solidFill>
                          <a:srgbClr val="000000"/>
                        </a:solidFill>
                        <a:effectLst/>
                        <a:latin typeface="Calibri" panose="020F0502020204030204" pitchFamily="34" charset="0"/>
                      </a:endParaRPr>
                    </a:p>
                  </a:txBody>
                  <a:tcPr marL="6045" marR="6045" marT="6045" marB="0" anchor="ctr"/>
                </a:tc>
                <a:tc>
                  <a:txBody>
                    <a:bodyPr/>
                    <a:lstStyle/>
                    <a:p>
                      <a:pPr algn="ctr" fontAlgn="b"/>
                      <a:r>
                        <a:rPr lang="es-AR" sz="1200" u="none" strike="noStrike" dirty="0">
                          <a:effectLst/>
                        </a:rPr>
                        <a:t>                  43.820.000.000 </a:t>
                      </a:r>
                      <a:endParaRPr lang="es-AR" sz="1200" b="0" i="0" u="none" strike="noStrike" dirty="0">
                        <a:solidFill>
                          <a:srgbClr val="000000"/>
                        </a:solidFill>
                        <a:effectLst/>
                        <a:latin typeface="Calibri" panose="020F0502020204030204" pitchFamily="34" charset="0"/>
                      </a:endParaRPr>
                    </a:p>
                  </a:txBody>
                  <a:tcPr marL="6045" marR="6045" marT="6045" marB="0"/>
                </a:tc>
                <a:tc>
                  <a:txBody>
                    <a:bodyPr/>
                    <a:lstStyle/>
                    <a:p>
                      <a:pPr algn="ctr" fontAlgn="b"/>
                      <a:r>
                        <a:rPr lang="es-AR" sz="1200" u="none" strike="noStrike" dirty="0">
                          <a:effectLst/>
                        </a:rPr>
                        <a:t>1</a:t>
                      </a:r>
                      <a:endParaRPr lang="es-AR" sz="1200" b="0" i="0" u="none" strike="noStrike" dirty="0">
                        <a:solidFill>
                          <a:srgbClr val="000000"/>
                        </a:solidFill>
                        <a:effectLst/>
                        <a:latin typeface="Calibri" panose="020F0502020204030204" pitchFamily="34" charset="0"/>
                      </a:endParaRPr>
                    </a:p>
                  </a:txBody>
                  <a:tcPr marL="6045" marR="6045" marT="6045" marB="0" anchor="ctr"/>
                </a:tc>
                <a:extLst>
                  <a:ext uri="{0D108BD9-81ED-4DB2-BD59-A6C34878D82A}">
                    <a16:rowId xmlns:a16="http://schemas.microsoft.com/office/drawing/2014/main" val="3145790224"/>
                  </a:ext>
                </a:extLst>
              </a:tr>
            </a:tbl>
          </a:graphicData>
        </a:graphic>
      </p:graphicFrame>
      <p:graphicFrame>
        <p:nvGraphicFramePr>
          <p:cNvPr id="3" name="Tabla 2">
            <a:extLst>
              <a:ext uri="{FF2B5EF4-FFF2-40B4-BE49-F238E27FC236}">
                <a16:creationId xmlns:a16="http://schemas.microsoft.com/office/drawing/2014/main" id="{14A8893A-2EF1-4FAB-8332-0203655E070E}"/>
              </a:ext>
            </a:extLst>
          </p:cNvPr>
          <p:cNvGraphicFramePr>
            <a:graphicFrameLocks noGrp="1"/>
          </p:cNvGraphicFramePr>
          <p:nvPr>
            <p:extLst>
              <p:ext uri="{D42A27DB-BD31-4B8C-83A1-F6EECF244321}">
                <p14:modId xmlns:p14="http://schemas.microsoft.com/office/powerpoint/2010/main" val="781284429"/>
              </p:ext>
            </p:extLst>
          </p:nvPr>
        </p:nvGraphicFramePr>
        <p:xfrm>
          <a:off x="7465739" y="4465679"/>
          <a:ext cx="4531044" cy="566324"/>
        </p:xfrm>
        <a:graphic>
          <a:graphicData uri="http://schemas.openxmlformats.org/drawingml/2006/table">
            <a:tbl>
              <a:tblPr>
                <a:tableStyleId>{17292A2E-F333-43FB-9621-5CBBE7FDCDCB}</a:tableStyleId>
              </a:tblPr>
              <a:tblGrid>
                <a:gridCol w="1389520">
                  <a:extLst>
                    <a:ext uri="{9D8B030D-6E8A-4147-A177-3AD203B41FA5}">
                      <a16:colId xmlns:a16="http://schemas.microsoft.com/office/drawing/2014/main" val="1990095214"/>
                    </a:ext>
                  </a:extLst>
                </a:gridCol>
                <a:gridCol w="1462017">
                  <a:extLst>
                    <a:ext uri="{9D8B030D-6E8A-4147-A177-3AD203B41FA5}">
                      <a16:colId xmlns:a16="http://schemas.microsoft.com/office/drawing/2014/main" val="574713772"/>
                    </a:ext>
                  </a:extLst>
                </a:gridCol>
                <a:gridCol w="1679507">
                  <a:extLst>
                    <a:ext uri="{9D8B030D-6E8A-4147-A177-3AD203B41FA5}">
                      <a16:colId xmlns:a16="http://schemas.microsoft.com/office/drawing/2014/main" val="2969212887"/>
                    </a:ext>
                  </a:extLst>
                </a:gridCol>
              </a:tblGrid>
              <a:tr h="244725">
                <a:tc>
                  <a:txBody>
                    <a:bodyPr/>
                    <a:lstStyle/>
                    <a:p>
                      <a:pPr algn="ctr" fontAlgn="b"/>
                      <a:r>
                        <a:rPr lang="es-AR" sz="1200" b="1" u="none" strike="noStrike" dirty="0">
                          <a:effectLst/>
                        </a:rPr>
                        <a:t>Total inversiones</a:t>
                      </a:r>
                      <a:endParaRPr lang="es-AR" sz="12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AR" sz="1200" b="1" u="none" strike="noStrike" dirty="0">
                          <a:effectLst/>
                        </a:rPr>
                        <a:t>Previas a BRI</a:t>
                      </a:r>
                      <a:endParaRPr lang="es-AR" sz="12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b"/>
                      <a:r>
                        <a:rPr lang="es-AR" sz="1200" b="1" u="none" strike="noStrike" dirty="0">
                          <a:effectLst/>
                        </a:rPr>
                        <a:t>Posteriores a BRI</a:t>
                      </a:r>
                      <a:endParaRPr lang="es-AR" sz="12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65106892"/>
                  </a:ext>
                </a:extLst>
              </a:tr>
              <a:tr h="321599">
                <a:tc>
                  <a:txBody>
                    <a:bodyPr/>
                    <a:lstStyle/>
                    <a:p>
                      <a:pPr algn="ctr" fontAlgn="b"/>
                      <a:r>
                        <a:rPr lang="es-AR" sz="1200" u="none" strike="noStrike" dirty="0">
                          <a:effectLst/>
                        </a:rPr>
                        <a:t>2.142.830.000.000 </a:t>
                      </a:r>
                      <a:endParaRPr lang="es-AR" sz="1200" b="0" i="0" u="none" strike="noStrike" dirty="0">
                        <a:solidFill>
                          <a:srgbClr val="000000"/>
                        </a:solidFill>
                        <a:effectLst/>
                        <a:latin typeface="Calibri" panose="020F0502020204030204" pitchFamily="34" charset="0"/>
                      </a:endParaRPr>
                    </a:p>
                  </a:txBody>
                  <a:tcPr marL="6350" marR="6350" marT="6350" marB="0"/>
                </a:tc>
                <a:tc>
                  <a:txBody>
                    <a:bodyPr/>
                    <a:lstStyle/>
                    <a:p>
                      <a:pPr algn="ctr" fontAlgn="b"/>
                      <a:r>
                        <a:rPr lang="es-AR" sz="1200" u="none" strike="noStrike" dirty="0">
                          <a:effectLst/>
                        </a:rPr>
                        <a:t>       1.342.630.000.000 </a:t>
                      </a:r>
                      <a:endParaRPr lang="es-AR" sz="1200" b="0" i="0" u="none" strike="noStrike" dirty="0">
                        <a:solidFill>
                          <a:srgbClr val="000000"/>
                        </a:solidFill>
                        <a:effectLst/>
                        <a:latin typeface="Calibri" panose="020F0502020204030204" pitchFamily="34" charset="0"/>
                      </a:endParaRPr>
                    </a:p>
                  </a:txBody>
                  <a:tcPr marL="6350" marR="6350" marT="6350" marB="0"/>
                </a:tc>
                <a:tc>
                  <a:txBody>
                    <a:bodyPr/>
                    <a:lstStyle/>
                    <a:p>
                      <a:pPr algn="ctr" fontAlgn="b"/>
                      <a:r>
                        <a:rPr lang="es-AR" sz="1200" u="none" strike="noStrike" dirty="0">
                          <a:effectLst/>
                        </a:rPr>
                        <a:t>795.140.000.000 </a:t>
                      </a:r>
                      <a:endParaRPr lang="es-AR" sz="12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683166494"/>
                  </a:ext>
                </a:extLst>
              </a:tr>
            </a:tbl>
          </a:graphicData>
        </a:graphic>
      </p:graphicFrame>
      <p:sp>
        <p:nvSpPr>
          <p:cNvPr id="9" name="CuadroTexto 8">
            <a:extLst>
              <a:ext uri="{FF2B5EF4-FFF2-40B4-BE49-F238E27FC236}">
                <a16:creationId xmlns:a16="http://schemas.microsoft.com/office/drawing/2014/main" id="{E559E897-BDE6-41B9-8264-9841140566A7}"/>
              </a:ext>
            </a:extLst>
          </p:cNvPr>
          <p:cNvSpPr txBox="1"/>
          <p:nvPr/>
        </p:nvSpPr>
        <p:spPr>
          <a:xfrm>
            <a:off x="398008" y="282976"/>
            <a:ext cx="4555863" cy="369332"/>
          </a:xfrm>
          <a:prstGeom prst="rect">
            <a:avLst/>
          </a:prstGeom>
          <a:noFill/>
        </p:spPr>
        <p:txBody>
          <a:bodyPr wrap="none" rtlCol="0">
            <a:spAutoFit/>
          </a:bodyPr>
          <a:lstStyle/>
          <a:p>
            <a:r>
              <a:rPr lang="es-AR" b="1" dirty="0"/>
              <a:t>2. Inversiones chinas acumuladas (2005-2021)</a:t>
            </a:r>
          </a:p>
        </p:txBody>
      </p:sp>
      <p:sp>
        <p:nvSpPr>
          <p:cNvPr id="7" name="CuadroTexto 6">
            <a:extLst>
              <a:ext uri="{FF2B5EF4-FFF2-40B4-BE49-F238E27FC236}">
                <a16:creationId xmlns:a16="http://schemas.microsoft.com/office/drawing/2014/main" id="{CAE27E1A-5280-4AFD-993D-ABC9AD835F9B}"/>
              </a:ext>
            </a:extLst>
          </p:cNvPr>
          <p:cNvSpPr txBox="1"/>
          <p:nvPr/>
        </p:nvSpPr>
        <p:spPr>
          <a:xfrm>
            <a:off x="549938" y="927706"/>
            <a:ext cx="6483753" cy="1384995"/>
          </a:xfrm>
          <a:prstGeom prst="rect">
            <a:avLst/>
          </a:prstGeom>
          <a:noFill/>
        </p:spPr>
        <p:txBody>
          <a:bodyPr wrap="square" numCol="2" rtlCol="0">
            <a:spAutoFit/>
          </a:bodyPr>
          <a:lstStyle/>
          <a:p>
            <a:r>
              <a:rPr lang="es-AR" sz="1400" b="1" dirty="0"/>
              <a:t>Por ingresos (millones de dólares)</a:t>
            </a:r>
          </a:p>
          <a:p>
            <a:r>
              <a:rPr lang="es-AR" sz="1400" dirty="0"/>
              <a:t>970 mil en altos ingresos</a:t>
            </a:r>
          </a:p>
          <a:p>
            <a:r>
              <a:rPr lang="es-AR" sz="1400" dirty="0"/>
              <a:t>411 mil en ingresos medios altos</a:t>
            </a:r>
          </a:p>
          <a:p>
            <a:r>
              <a:rPr lang="es-AR" sz="1400" dirty="0"/>
              <a:t>606 mil en ingresos medios bajos</a:t>
            </a:r>
          </a:p>
          <a:p>
            <a:r>
              <a:rPr lang="es-AR" sz="1400" dirty="0"/>
              <a:t>133 mil en bajos ingresos</a:t>
            </a:r>
          </a:p>
          <a:p>
            <a:endParaRPr lang="es-AR" sz="1400" dirty="0"/>
          </a:p>
          <a:p>
            <a:r>
              <a:rPr lang="es-AR" sz="1400" u="sng" dirty="0"/>
              <a:t>Por miembros de BRI</a:t>
            </a:r>
          </a:p>
          <a:p>
            <a:r>
              <a:rPr lang="es-AR" sz="1400" dirty="0"/>
              <a:t>Altos ingresos: 26%</a:t>
            </a:r>
          </a:p>
          <a:p>
            <a:r>
              <a:rPr lang="es-AR" sz="1400" dirty="0"/>
              <a:t>Ingresos medios bajos: 93%</a:t>
            </a:r>
          </a:p>
          <a:p>
            <a:r>
              <a:rPr lang="es-AR" sz="1400" dirty="0"/>
              <a:t>Ingresos medios bajos: 72%</a:t>
            </a:r>
          </a:p>
          <a:p>
            <a:r>
              <a:rPr lang="es-AR" sz="1400" dirty="0"/>
              <a:t>Bajos ingresos: 95%</a:t>
            </a:r>
          </a:p>
        </p:txBody>
      </p:sp>
    </p:spTree>
    <p:extLst>
      <p:ext uri="{BB962C8B-B14F-4D97-AF65-F5344CB8AC3E}">
        <p14:creationId xmlns:p14="http://schemas.microsoft.com/office/powerpoint/2010/main" val="3121167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23"/>
            <a:ext cx="12192652" cy="6744060"/>
          </a:xfrm>
          <a:prstGeom prst="rect">
            <a:avLst/>
          </a:prstGeom>
        </p:spPr>
      </p:pic>
      <p:graphicFrame>
        <p:nvGraphicFramePr>
          <p:cNvPr id="7" name="Gráfico 6">
            <a:extLst>
              <a:ext uri="{FF2B5EF4-FFF2-40B4-BE49-F238E27FC236}">
                <a16:creationId xmlns:a16="http://schemas.microsoft.com/office/drawing/2014/main" id="{92EA9872-AC54-41B6-98FC-E6442B73F7FE}"/>
              </a:ext>
            </a:extLst>
          </p:cNvPr>
          <p:cNvGraphicFramePr>
            <a:graphicFrameLocks/>
          </p:cNvGraphicFramePr>
          <p:nvPr>
            <p:extLst>
              <p:ext uri="{D42A27DB-BD31-4B8C-83A1-F6EECF244321}">
                <p14:modId xmlns:p14="http://schemas.microsoft.com/office/powerpoint/2010/main" val="466348391"/>
              </p:ext>
            </p:extLst>
          </p:nvPr>
        </p:nvGraphicFramePr>
        <p:xfrm>
          <a:off x="4920587" y="469151"/>
          <a:ext cx="6936897" cy="3116753"/>
        </p:xfrm>
        <a:graphic>
          <a:graphicData uri="http://schemas.openxmlformats.org/drawingml/2006/chart">
            <c:chart xmlns:c="http://schemas.openxmlformats.org/drawingml/2006/chart" xmlns:r="http://schemas.openxmlformats.org/officeDocument/2006/relationships" r:id="rId3"/>
          </a:graphicData>
        </a:graphic>
      </p:graphicFrame>
      <p:sp>
        <p:nvSpPr>
          <p:cNvPr id="2" name="CuadroTexto 1">
            <a:extLst>
              <a:ext uri="{FF2B5EF4-FFF2-40B4-BE49-F238E27FC236}">
                <a16:creationId xmlns:a16="http://schemas.microsoft.com/office/drawing/2014/main" id="{85D26660-3D18-4EC8-9130-769DE8F64B28}"/>
              </a:ext>
            </a:extLst>
          </p:cNvPr>
          <p:cNvSpPr txBox="1"/>
          <p:nvPr/>
        </p:nvSpPr>
        <p:spPr>
          <a:xfrm>
            <a:off x="530690" y="759718"/>
            <a:ext cx="4032448" cy="2616101"/>
          </a:xfrm>
          <a:prstGeom prst="rect">
            <a:avLst/>
          </a:prstGeom>
          <a:noFill/>
        </p:spPr>
        <p:txBody>
          <a:bodyPr wrap="square" numCol="1" rtlCol="0">
            <a:spAutoFit/>
          </a:bodyPr>
          <a:lstStyle/>
          <a:p>
            <a:pPr algn="just"/>
            <a:r>
              <a:rPr lang="es-AR" sz="1600" b="1" dirty="0"/>
              <a:t>Por región (millones de dólares) y proporción hacia miembros de BRI</a:t>
            </a:r>
          </a:p>
          <a:p>
            <a:pPr algn="just"/>
            <a:endParaRPr lang="es-AR" sz="1600" b="1" dirty="0"/>
          </a:p>
          <a:p>
            <a:pPr marL="285750" indent="-285750" algn="just">
              <a:buFont typeface="Arial" panose="020B0604020202020204" pitchFamily="34" charset="0"/>
              <a:buChar char="•"/>
            </a:pPr>
            <a:r>
              <a:rPr lang="es-AR" sz="1600" dirty="0"/>
              <a:t>Este de Asia y el Pacífico: 433 mil (68%)</a:t>
            </a:r>
          </a:p>
          <a:p>
            <a:pPr marL="285750" indent="-285750" algn="just">
              <a:buFont typeface="Arial" panose="020B0604020202020204" pitchFamily="34" charset="0"/>
              <a:buChar char="•"/>
            </a:pPr>
            <a:r>
              <a:rPr lang="es-AR" sz="1600" dirty="0"/>
              <a:t>Europa y Asia Central: 559 mil (59%)</a:t>
            </a:r>
          </a:p>
          <a:p>
            <a:pPr marL="285750" indent="-285750" algn="just">
              <a:buFont typeface="Arial" panose="020B0604020202020204" pitchFamily="34" charset="0"/>
              <a:buChar char="•"/>
            </a:pPr>
            <a:r>
              <a:rPr lang="es-AR" sz="1600" dirty="0"/>
              <a:t>América Latina y el Caribe: 196 mil (48%)</a:t>
            </a:r>
          </a:p>
          <a:p>
            <a:pPr marL="285750" indent="-285750" algn="just">
              <a:buFont typeface="Arial" panose="020B0604020202020204" pitchFamily="34" charset="0"/>
              <a:buChar char="•"/>
            </a:pPr>
            <a:r>
              <a:rPr lang="es-AR" sz="1600" dirty="0"/>
              <a:t>Norte América: 248 mil (0%)</a:t>
            </a:r>
          </a:p>
          <a:p>
            <a:pPr marL="285750" indent="-285750" algn="just">
              <a:buFont typeface="Arial" panose="020B0604020202020204" pitchFamily="34" charset="0"/>
              <a:buChar char="•"/>
            </a:pPr>
            <a:r>
              <a:rPr lang="es-AR" sz="1600" dirty="0"/>
              <a:t>Sur de Asia: 156 mil (74%)</a:t>
            </a:r>
          </a:p>
          <a:p>
            <a:pPr marL="285750" indent="-285750" algn="just">
              <a:buFont typeface="Arial" panose="020B0604020202020204" pitchFamily="34" charset="0"/>
              <a:buChar char="•"/>
            </a:pPr>
            <a:r>
              <a:rPr lang="es-AR" sz="1600" dirty="0"/>
              <a:t>África Subsahariana: 311 mil (99%)</a:t>
            </a:r>
          </a:p>
          <a:p>
            <a:endParaRPr lang="es-AR" sz="2000" dirty="0"/>
          </a:p>
        </p:txBody>
      </p:sp>
      <p:sp>
        <p:nvSpPr>
          <p:cNvPr id="6" name="CuadroTexto 5">
            <a:extLst>
              <a:ext uri="{FF2B5EF4-FFF2-40B4-BE49-F238E27FC236}">
                <a16:creationId xmlns:a16="http://schemas.microsoft.com/office/drawing/2014/main" id="{D5BD60CF-7CA4-4518-8FE5-98224E3002EF}"/>
              </a:ext>
            </a:extLst>
          </p:cNvPr>
          <p:cNvSpPr txBox="1"/>
          <p:nvPr/>
        </p:nvSpPr>
        <p:spPr>
          <a:xfrm>
            <a:off x="552971" y="4058877"/>
            <a:ext cx="9289032" cy="1569660"/>
          </a:xfrm>
          <a:prstGeom prst="rect">
            <a:avLst/>
          </a:prstGeom>
          <a:noFill/>
        </p:spPr>
        <p:txBody>
          <a:bodyPr wrap="square" numCol="1" rtlCol="0">
            <a:spAutoFit/>
          </a:bodyPr>
          <a:lstStyle/>
          <a:p>
            <a:pPr algn="just"/>
            <a:r>
              <a:rPr lang="es-ES" sz="1600" b="1" dirty="0"/>
              <a:t>¿BRI como canalizador de viejas inversiones o catalizador de nuevas inversiones? </a:t>
            </a:r>
          </a:p>
          <a:p>
            <a:pPr marL="285750" indent="-285750" algn="just">
              <a:buFont typeface="Arial" panose="020B0604020202020204" pitchFamily="34" charset="0"/>
              <a:buChar char="•"/>
            </a:pPr>
            <a:r>
              <a:rPr lang="es-ES" sz="1600" dirty="0"/>
              <a:t>Generador de nuevas inversiones al desarrollo en casi todas las regiones.</a:t>
            </a:r>
          </a:p>
          <a:p>
            <a:pPr marL="285750" indent="-285750" algn="just">
              <a:buFont typeface="Arial" panose="020B0604020202020204" pitchFamily="34" charset="0"/>
              <a:buChar char="•"/>
            </a:pPr>
            <a:r>
              <a:rPr lang="es-ES" sz="1600" dirty="0"/>
              <a:t>No es el caso de África Subsahariana, donde China ya contaba con un acumulado importante. </a:t>
            </a:r>
          </a:p>
          <a:p>
            <a:pPr marL="285750" indent="-285750" algn="just">
              <a:buFont typeface="Arial" panose="020B0604020202020204" pitchFamily="34" charset="0"/>
              <a:buChar char="•"/>
            </a:pPr>
            <a:r>
              <a:rPr lang="es-ES" sz="1600" dirty="0"/>
              <a:t>En ese caso actúa como "paraguas" de las inversiones (región estratégica por sus recursos). </a:t>
            </a:r>
          </a:p>
          <a:p>
            <a:pPr marL="285750" indent="-285750" algn="just">
              <a:buFont typeface="Arial" panose="020B0604020202020204" pitchFamily="34" charset="0"/>
              <a:buChar char="•"/>
            </a:pPr>
            <a:r>
              <a:rPr lang="es-ES" sz="1600" dirty="0"/>
              <a:t>También se observa en menor medida en Medio Oriente y el Norte de África. </a:t>
            </a:r>
          </a:p>
          <a:p>
            <a:pPr marL="285750" indent="-285750" algn="just">
              <a:buFont typeface="Arial" panose="020B0604020202020204" pitchFamily="34" charset="0"/>
              <a:buChar char="•"/>
            </a:pPr>
            <a:r>
              <a:rPr lang="es-ES" sz="1600" dirty="0"/>
              <a:t>Importancia de la redistribución geográfica: Este de Asia, África y Sur de Asia fueron los más beneficiados.</a:t>
            </a:r>
            <a:endParaRPr lang="es-AR" sz="2000" dirty="0"/>
          </a:p>
        </p:txBody>
      </p:sp>
    </p:spTree>
    <p:extLst>
      <p:ext uri="{BB962C8B-B14F-4D97-AF65-F5344CB8AC3E}">
        <p14:creationId xmlns:p14="http://schemas.microsoft.com/office/powerpoint/2010/main" val="101186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graphicFrame>
        <p:nvGraphicFramePr>
          <p:cNvPr id="12" name="Gráfico 11">
            <a:extLst>
              <a:ext uri="{FF2B5EF4-FFF2-40B4-BE49-F238E27FC236}">
                <a16:creationId xmlns:a16="http://schemas.microsoft.com/office/drawing/2014/main" id="{EBF890B2-FD87-4D0E-90B5-3DAA28964380}"/>
              </a:ext>
            </a:extLst>
          </p:cNvPr>
          <p:cNvGraphicFramePr>
            <a:graphicFrameLocks/>
          </p:cNvGraphicFramePr>
          <p:nvPr>
            <p:extLst>
              <p:ext uri="{D42A27DB-BD31-4B8C-83A1-F6EECF244321}">
                <p14:modId xmlns:p14="http://schemas.microsoft.com/office/powerpoint/2010/main" val="2363310499"/>
              </p:ext>
            </p:extLst>
          </p:nvPr>
        </p:nvGraphicFramePr>
        <p:xfrm>
          <a:off x="6131182" y="906413"/>
          <a:ext cx="5583029" cy="46085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a 1">
            <a:extLst>
              <a:ext uri="{FF2B5EF4-FFF2-40B4-BE49-F238E27FC236}">
                <a16:creationId xmlns:a16="http://schemas.microsoft.com/office/drawing/2014/main" id="{F8083B40-5BC6-45BC-BA81-9965A4FE785F}"/>
              </a:ext>
            </a:extLst>
          </p:cNvPr>
          <p:cNvGraphicFramePr>
            <a:graphicFrameLocks noGrp="1"/>
          </p:cNvGraphicFramePr>
          <p:nvPr>
            <p:extLst>
              <p:ext uri="{D42A27DB-BD31-4B8C-83A1-F6EECF244321}">
                <p14:modId xmlns:p14="http://schemas.microsoft.com/office/powerpoint/2010/main" val="553564301"/>
              </p:ext>
            </p:extLst>
          </p:nvPr>
        </p:nvGraphicFramePr>
        <p:xfrm>
          <a:off x="408955" y="927546"/>
          <a:ext cx="5411788" cy="1531856"/>
        </p:xfrm>
        <a:graphic>
          <a:graphicData uri="http://schemas.openxmlformats.org/drawingml/2006/table">
            <a:tbl>
              <a:tblPr>
                <a:tableStyleId>{17292A2E-F333-43FB-9621-5CBBE7FDCDCB}</a:tableStyleId>
              </a:tblPr>
              <a:tblGrid>
                <a:gridCol w="1752600">
                  <a:extLst>
                    <a:ext uri="{9D8B030D-6E8A-4147-A177-3AD203B41FA5}">
                      <a16:colId xmlns:a16="http://schemas.microsoft.com/office/drawing/2014/main" val="1674751852"/>
                    </a:ext>
                  </a:extLst>
                </a:gridCol>
                <a:gridCol w="1219200">
                  <a:extLst>
                    <a:ext uri="{9D8B030D-6E8A-4147-A177-3AD203B41FA5}">
                      <a16:colId xmlns:a16="http://schemas.microsoft.com/office/drawing/2014/main" val="3077867777"/>
                    </a:ext>
                  </a:extLst>
                </a:gridCol>
                <a:gridCol w="1220788">
                  <a:extLst>
                    <a:ext uri="{9D8B030D-6E8A-4147-A177-3AD203B41FA5}">
                      <a16:colId xmlns:a16="http://schemas.microsoft.com/office/drawing/2014/main" val="2333186276"/>
                    </a:ext>
                  </a:extLst>
                </a:gridCol>
                <a:gridCol w="1219200">
                  <a:extLst>
                    <a:ext uri="{9D8B030D-6E8A-4147-A177-3AD203B41FA5}">
                      <a16:colId xmlns:a16="http://schemas.microsoft.com/office/drawing/2014/main" val="1221375150"/>
                    </a:ext>
                  </a:extLst>
                </a:gridCol>
              </a:tblGrid>
              <a:tr h="144017">
                <a:tc>
                  <a:txBody>
                    <a:bodyPr/>
                    <a:lstStyle/>
                    <a:p>
                      <a:pPr algn="ctr" fontAlgn="b"/>
                      <a:r>
                        <a:rPr lang="es-AR" sz="1100" b="1" u="none" strike="noStrike" dirty="0">
                          <a:effectLst/>
                        </a:rPr>
                        <a:t>Financiamiento (USD)</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BRI</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endParaRPr lang="es-AR" sz="1100" b="1"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endParaRPr lang="es-AR"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06620166"/>
                  </a:ext>
                </a:extLst>
              </a:tr>
              <a:tr h="226311">
                <a:tc>
                  <a:txBody>
                    <a:bodyPr/>
                    <a:lstStyle/>
                    <a:p>
                      <a:pPr algn="ctr" fontAlgn="b"/>
                      <a:r>
                        <a:rPr lang="es-AR" sz="1100" b="1" u="none" strike="noStrike" dirty="0">
                          <a:effectLst/>
                        </a:rPr>
                        <a:t>Ingreso</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No miembro</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Miembro BRI</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Total general</a:t>
                      </a:r>
                      <a:endParaRPr lang="es-AR"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33055579"/>
                  </a:ext>
                </a:extLst>
              </a:tr>
              <a:tr h="226311">
                <a:tc>
                  <a:txBody>
                    <a:bodyPr/>
                    <a:lstStyle/>
                    <a:p>
                      <a:pPr algn="l" fontAlgn="b"/>
                      <a:r>
                        <a:rPr lang="es-AR" sz="1100" u="none" strike="noStrike" dirty="0">
                          <a:effectLst/>
                        </a:rPr>
                        <a:t>Alto ingreso</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18.174.476.836</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11.049.875.214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29.224.352.050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97857252"/>
                  </a:ext>
                </a:extLst>
              </a:tr>
              <a:tr h="226311">
                <a:tc>
                  <a:txBody>
                    <a:bodyPr/>
                    <a:lstStyle/>
                    <a:p>
                      <a:pPr algn="l" fontAlgn="b"/>
                      <a:r>
                        <a:rPr lang="es-AR" sz="1100" u="none" strike="noStrike" dirty="0">
                          <a:effectLst/>
                        </a:rPr>
                        <a:t>Bajo ingreso</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3.569.861.079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121.899.743.194</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125.469.604.272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62360127"/>
                  </a:ext>
                </a:extLst>
              </a:tr>
              <a:tr h="226311">
                <a:tc>
                  <a:txBody>
                    <a:bodyPr/>
                    <a:lstStyle/>
                    <a:p>
                      <a:pPr algn="l" fontAlgn="b"/>
                      <a:r>
                        <a:rPr lang="es-AR" sz="1100" u="none" strike="noStrike" dirty="0">
                          <a:effectLst/>
                        </a:rPr>
                        <a:t>Medio bajo</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41.938.066.894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733.014.895.185</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774.952.962.079</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67506268"/>
                  </a:ext>
                </a:extLst>
              </a:tr>
              <a:tr h="226311">
                <a:tc>
                  <a:txBody>
                    <a:bodyPr/>
                    <a:lstStyle/>
                    <a:p>
                      <a:pPr algn="l" fontAlgn="b"/>
                      <a:r>
                        <a:rPr lang="es-AR" sz="1100" u="none" strike="noStrike" dirty="0">
                          <a:effectLst/>
                        </a:rPr>
                        <a:t>Medio alto</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147.700.351.951</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477.522.928.636</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a:t>
                      </a:r>
                      <a:r>
                        <a:rPr lang="es-AR" sz="1100" u="none" strike="noStrike" dirty="0">
                          <a:effectLst/>
                          <a:highlight>
                            <a:srgbClr val="FFFF00"/>
                          </a:highlight>
                        </a:rPr>
                        <a:t>625.223.280.586</a:t>
                      </a:r>
                      <a:r>
                        <a:rPr lang="es-AR" sz="1100" u="none" strike="noStrike" dirty="0">
                          <a:effectLst/>
                        </a:rPr>
                        <a:t>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390088226"/>
                  </a:ext>
                </a:extLst>
              </a:tr>
              <a:tr h="226311">
                <a:tc>
                  <a:txBody>
                    <a:bodyPr/>
                    <a:lstStyle/>
                    <a:p>
                      <a:pPr algn="l" fontAlgn="b"/>
                      <a:r>
                        <a:rPr lang="es-AR" sz="1100" u="none" strike="noStrike" dirty="0">
                          <a:effectLst/>
                        </a:rPr>
                        <a:t>Total general</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211.382.756.760 </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highlight>
                            <a:srgbClr val="FFFF00"/>
                          </a:highlight>
                        </a:rPr>
                        <a:t>  1.343.487.442.229 </a:t>
                      </a:r>
                      <a:endParaRPr lang="es-AR" sz="1100" b="1" i="0" u="none" strike="noStrike" dirty="0">
                        <a:solidFill>
                          <a:srgbClr val="000000"/>
                        </a:solidFill>
                        <a:effectLst/>
                        <a:highlight>
                          <a:srgbClr val="FFFF00"/>
                        </a:highlight>
                        <a:latin typeface="Calibri" panose="020F0502020204030204" pitchFamily="34" charset="0"/>
                      </a:endParaRPr>
                    </a:p>
                  </a:txBody>
                  <a:tcPr marL="6350" marR="6350" marT="6350" marB="0" anchor="b"/>
                </a:tc>
                <a:tc>
                  <a:txBody>
                    <a:bodyPr/>
                    <a:lstStyle/>
                    <a:p>
                      <a:pPr algn="l" fontAlgn="b"/>
                      <a:r>
                        <a:rPr lang="es-AR" sz="1100" u="none" strike="noStrike" dirty="0">
                          <a:effectLst/>
                        </a:rPr>
                        <a:t>  1.554.870.198.988 </a:t>
                      </a:r>
                      <a:endParaRPr lang="es-AR"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76796643"/>
                  </a:ext>
                </a:extLst>
              </a:tr>
            </a:tbl>
          </a:graphicData>
        </a:graphic>
      </p:graphicFrame>
      <p:graphicFrame>
        <p:nvGraphicFramePr>
          <p:cNvPr id="6" name="Tabla 5">
            <a:extLst>
              <a:ext uri="{FF2B5EF4-FFF2-40B4-BE49-F238E27FC236}">
                <a16:creationId xmlns:a16="http://schemas.microsoft.com/office/drawing/2014/main" id="{F27D6B31-EC16-4DAB-BF48-0D7DC3916EA8}"/>
              </a:ext>
            </a:extLst>
          </p:cNvPr>
          <p:cNvGraphicFramePr>
            <a:graphicFrameLocks noGrp="1"/>
          </p:cNvGraphicFramePr>
          <p:nvPr>
            <p:extLst>
              <p:ext uri="{D42A27DB-BD31-4B8C-83A1-F6EECF244321}">
                <p14:modId xmlns:p14="http://schemas.microsoft.com/office/powerpoint/2010/main" val="737527812"/>
              </p:ext>
            </p:extLst>
          </p:nvPr>
        </p:nvGraphicFramePr>
        <p:xfrm>
          <a:off x="1273051" y="2708061"/>
          <a:ext cx="3672407" cy="2880324"/>
        </p:xfrm>
        <a:graphic>
          <a:graphicData uri="http://schemas.openxmlformats.org/drawingml/2006/table">
            <a:tbl>
              <a:tblPr>
                <a:tableStyleId>{17292A2E-F333-43FB-9621-5CBBE7FDCDCB}</a:tableStyleId>
              </a:tblPr>
              <a:tblGrid>
                <a:gridCol w="925817">
                  <a:extLst>
                    <a:ext uri="{9D8B030D-6E8A-4147-A177-3AD203B41FA5}">
                      <a16:colId xmlns:a16="http://schemas.microsoft.com/office/drawing/2014/main" val="2580401998"/>
                    </a:ext>
                  </a:extLst>
                </a:gridCol>
                <a:gridCol w="442335">
                  <a:extLst>
                    <a:ext uri="{9D8B030D-6E8A-4147-A177-3AD203B41FA5}">
                      <a16:colId xmlns:a16="http://schemas.microsoft.com/office/drawing/2014/main" val="3597057025"/>
                    </a:ext>
                  </a:extLst>
                </a:gridCol>
                <a:gridCol w="2304255">
                  <a:extLst>
                    <a:ext uri="{9D8B030D-6E8A-4147-A177-3AD203B41FA5}">
                      <a16:colId xmlns:a16="http://schemas.microsoft.com/office/drawing/2014/main" val="2890175439"/>
                    </a:ext>
                  </a:extLst>
                </a:gridCol>
              </a:tblGrid>
              <a:tr h="385668">
                <a:tc>
                  <a:txBody>
                    <a:bodyPr/>
                    <a:lstStyle/>
                    <a:p>
                      <a:pPr algn="ctr" fontAlgn="b"/>
                      <a:r>
                        <a:rPr lang="es-AR" sz="1100" b="1" u="none" strike="noStrike" dirty="0">
                          <a:effectLst/>
                        </a:rPr>
                        <a:t>País</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BRI</a:t>
                      </a:r>
                      <a:endParaRPr lang="es-AR"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s-AR" sz="1100" b="1" u="none" strike="noStrike" dirty="0">
                          <a:effectLst/>
                        </a:rPr>
                        <a:t>Financiamiento (USD)</a:t>
                      </a:r>
                      <a:endParaRPr lang="es-AR"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96568616"/>
                  </a:ext>
                </a:extLst>
              </a:tr>
              <a:tr h="207888">
                <a:tc>
                  <a:txBody>
                    <a:bodyPr/>
                    <a:lstStyle/>
                    <a:p>
                      <a:pPr algn="l" fontAlgn="b"/>
                      <a:r>
                        <a:rPr lang="es-AR" sz="1100" u="none" strike="noStrike">
                          <a:effectLst/>
                        </a:rPr>
                        <a:t>Russia</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a:effectLst/>
                        </a:rPr>
                        <a:t>1</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182.518.866.954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38643002"/>
                  </a:ext>
                </a:extLst>
              </a:tr>
              <a:tr h="207888">
                <a:tc>
                  <a:txBody>
                    <a:bodyPr/>
                    <a:lstStyle/>
                    <a:p>
                      <a:pPr algn="l" fontAlgn="b"/>
                      <a:r>
                        <a:rPr lang="es-AR" sz="1100" u="none" strike="noStrike" dirty="0">
                          <a:effectLst/>
                          <a:highlight>
                            <a:srgbClr val="FFFF00"/>
                          </a:highlight>
                        </a:rPr>
                        <a:t>Venezuela</a:t>
                      </a:r>
                      <a:endParaRPr lang="es-AR" sz="1100" b="0" i="0" u="none" strike="noStrike" dirty="0">
                        <a:solidFill>
                          <a:srgbClr val="000000"/>
                        </a:solidFill>
                        <a:effectLst/>
                        <a:highlight>
                          <a:srgbClr val="FFFF00"/>
                        </a:highlight>
                        <a:latin typeface="Calibri" panose="020F0502020204030204" pitchFamily="34" charset="0"/>
                      </a:endParaRPr>
                    </a:p>
                  </a:txBody>
                  <a:tcPr marL="6350" marR="6350" marT="6350" marB="0" anchor="b"/>
                </a:tc>
                <a:tc>
                  <a:txBody>
                    <a:bodyPr/>
                    <a:lstStyle/>
                    <a:p>
                      <a:pPr algn="r" fontAlgn="b"/>
                      <a:r>
                        <a:rPr lang="es-AR" sz="1100" u="none" strike="noStrike">
                          <a:effectLst/>
                        </a:rPr>
                        <a:t>1</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a:effectLst/>
                        </a:rPr>
                        <a:t>              173.012.228.093 </a:t>
                      </a:r>
                      <a:endParaRPr lang="es-AR"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34662333"/>
                  </a:ext>
                </a:extLst>
              </a:tr>
              <a:tr h="207888">
                <a:tc>
                  <a:txBody>
                    <a:bodyPr/>
                    <a:lstStyle/>
                    <a:p>
                      <a:pPr algn="l" fontAlgn="b"/>
                      <a:r>
                        <a:rPr lang="es-AR" sz="1100" u="none" strike="noStrike">
                          <a:effectLst/>
                        </a:rPr>
                        <a:t>Indonesia</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a:effectLst/>
                        </a:rPr>
                        <a:t>1</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a:effectLst/>
                        </a:rPr>
                        <a:t>                 99.427.299.973 </a:t>
                      </a:r>
                      <a:endParaRPr lang="es-AR"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6885282"/>
                  </a:ext>
                </a:extLst>
              </a:tr>
              <a:tr h="207888">
                <a:tc>
                  <a:txBody>
                    <a:bodyPr/>
                    <a:lstStyle/>
                    <a:p>
                      <a:pPr algn="l" fontAlgn="b"/>
                      <a:r>
                        <a:rPr lang="es-AR" sz="1100" u="none" strike="noStrike">
                          <a:effectLst/>
                        </a:rPr>
                        <a:t>Iran</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a:effectLst/>
                        </a:rPr>
                        <a:t>1</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89.177.687.081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54385194"/>
                  </a:ext>
                </a:extLst>
              </a:tr>
              <a:tr h="207888">
                <a:tc>
                  <a:txBody>
                    <a:bodyPr/>
                    <a:lstStyle/>
                    <a:p>
                      <a:pPr algn="l" fontAlgn="b"/>
                      <a:r>
                        <a:rPr lang="es-AR" sz="1100" u="none" strike="noStrike">
                          <a:effectLst/>
                        </a:rPr>
                        <a:t>Angola</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a:effectLst/>
                        </a:rPr>
                        <a:t>1</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a:effectLst/>
                        </a:rPr>
                        <a:t>                 88.449.059.777 </a:t>
                      </a:r>
                      <a:endParaRPr lang="es-AR"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53248951"/>
                  </a:ext>
                </a:extLst>
              </a:tr>
              <a:tr h="207888">
                <a:tc>
                  <a:txBody>
                    <a:bodyPr/>
                    <a:lstStyle/>
                    <a:p>
                      <a:pPr algn="l" fontAlgn="b"/>
                      <a:r>
                        <a:rPr lang="es-AR" sz="1100" u="none" strike="noStrike" dirty="0" err="1">
                          <a:effectLst/>
                          <a:highlight>
                            <a:srgbClr val="FFFF00"/>
                          </a:highlight>
                        </a:rPr>
                        <a:t>Brazil</a:t>
                      </a:r>
                      <a:endParaRPr lang="es-AR" sz="1100" b="0" i="0" u="none" strike="noStrike" dirty="0">
                        <a:solidFill>
                          <a:srgbClr val="000000"/>
                        </a:solidFill>
                        <a:effectLst/>
                        <a:highlight>
                          <a:srgbClr val="FFFF00"/>
                        </a:highlight>
                        <a:latin typeface="Calibri" panose="020F0502020204030204" pitchFamily="34" charset="0"/>
                      </a:endParaRPr>
                    </a:p>
                  </a:txBody>
                  <a:tcPr marL="6350" marR="6350" marT="6350" marB="0" anchor="b"/>
                </a:tc>
                <a:tc>
                  <a:txBody>
                    <a:bodyPr/>
                    <a:lstStyle/>
                    <a:p>
                      <a:pPr algn="r" fontAlgn="b"/>
                      <a:r>
                        <a:rPr lang="es-AR" sz="1100" u="none" strike="noStrike" dirty="0">
                          <a:effectLst/>
                        </a:rPr>
                        <a:t>0</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86.545.385.556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729560249"/>
                  </a:ext>
                </a:extLst>
              </a:tr>
              <a:tr h="207888">
                <a:tc>
                  <a:txBody>
                    <a:bodyPr/>
                    <a:lstStyle/>
                    <a:p>
                      <a:pPr algn="l" fontAlgn="b"/>
                      <a:r>
                        <a:rPr lang="es-AR" sz="1100" u="none" strike="noStrike" dirty="0" err="1">
                          <a:effectLst/>
                        </a:rPr>
                        <a:t>Kazakhstan</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dirty="0">
                          <a:effectLst/>
                        </a:rPr>
                        <a:t>1</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83.520.871.989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40080882"/>
                  </a:ext>
                </a:extLst>
              </a:tr>
              <a:tr h="207888">
                <a:tc>
                  <a:txBody>
                    <a:bodyPr/>
                    <a:lstStyle/>
                    <a:p>
                      <a:pPr algn="l" fontAlgn="b"/>
                      <a:r>
                        <a:rPr lang="es-AR" sz="1100" u="none" strike="noStrike" dirty="0">
                          <a:effectLst/>
                        </a:rPr>
                        <a:t>Nigeria</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dirty="0">
                          <a:effectLst/>
                        </a:rPr>
                        <a:t>1</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61.819.759.641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28950566"/>
                  </a:ext>
                </a:extLst>
              </a:tr>
              <a:tr h="207888">
                <a:tc>
                  <a:txBody>
                    <a:bodyPr/>
                    <a:lstStyle/>
                    <a:p>
                      <a:pPr algn="l" fontAlgn="b"/>
                      <a:r>
                        <a:rPr lang="es-AR" sz="1100" u="none" strike="noStrike" dirty="0" err="1">
                          <a:effectLst/>
                        </a:rPr>
                        <a:t>Pakistan</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dirty="0">
                          <a:effectLst/>
                        </a:rPr>
                        <a:t>1</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46.113.985.134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728450947"/>
                  </a:ext>
                </a:extLst>
              </a:tr>
              <a:tr h="207888">
                <a:tc>
                  <a:txBody>
                    <a:bodyPr/>
                    <a:lstStyle/>
                    <a:p>
                      <a:pPr algn="l" fontAlgn="b"/>
                      <a:r>
                        <a:rPr lang="es-AR" sz="1100" u="none" strike="noStrike" dirty="0" err="1">
                          <a:effectLst/>
                        </a:rPr>
                        <a:t>Belarus</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s-AR" sz="1100" u="none" strike="noStrike" dirty="0">
                          <a:effectLst/>
                        </a:rPr>
                        <a:t>1</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43.845.023.716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38814835"/>
                  </a:ext>
                </a:extLst>
              </a:tr>
              <a:tr h="207888">
                <a:tc>
                  <a:txBody>
                    <a:bodyPr/>
                    <a:lstStyle/>
                    <a:p>
                      <a:pPr algn="l" fontAlgn="b"/>
                      <a:r>
                        <a:rPr lang="es-AR" sz="1100" u="none" strike="noStrike" dirty="0">
                          <a:effectLst/>
                          <a:highlight>
                            <a:srgbClr val="FFFF00"/>
                          </a:highlight>
                        </a:rPr>
                        <a:t>India</a:t>
                      </a:r>
                      <a:endParaRPr lang="es-AR" sz="1100" b="0" i="0" u="none" strike="noStrike" dirty="0">
                        <a:solidFill>
                          <a:srgbClr val="000000"/>
                        </a:solidFill>
                        <a:effectLst/>
                        <a:highlight>
                          <a:srgbClr val="FFFF00"/>
                        </a:highlight>
                        <a:latin typeface="Calibri" panose="020F0502020204030204" pitchFamily="34" charset="0"/>
                      </a:endParaRPr>
                    </a:p>
                  </a:txBody>
                  <a:tcPr marL="6350" marR="6350" marT="6350" marB="0" anchor="b"/>
                </a:tc>
                <a:tc>
                  <a:txBody>
                    <a:bodyPr/>
                    <a:lstStyle/>
                    <a:p>
                      <a:pPr algn="r" fontAlgn="b"/>
                      <a:r>
                        <a:rPr lang="es-AR" sz="1100" u="none" strike="noStrike" dirty="0">
                          <a:effectLst/>
                        </a:rPr>
                        <a:t>0</a:t>
                      </a:r>
                      <a:endParaRPr lang="es-AR"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39.265.828.068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81464562"/>
                  </a:ext>
                </a:extLst>
              </a:tr>
              <a:tr h="207888">
                <a:tc>
                  <a:txBody>
                    <a:bodyPr/>
                    <a:lstStyle/>
                    <a:p>
                      <a:pPr algn="l" fontAlgn="b"/>
                      <a:r>
                        <a:rPr lang="es-AR" sz="1100" u="none" strike="noStrike" dirty="0">
                          <a:effectLst/>
                          <a:highlight>
                            <a:srgbClr val="FFFF00"/>
                          </a:highlight>
                        </a:rPr>
                        <a:t>Argentina</a:t>
                      </a:r>
                      <a:endParaRPr lang="es-AR" sz="1100" b="0" i="0" u="none" strike="noStrike" dirty="0">
                        <a:solidFill>
                          <a:srgbClr val="000000"/>
                        </a:solidFill>
                        <a:effectLst/>
                        <a:highlight>
                          <a:srgbClr val="FFFF00"/>
                        </a:highlight>
                        <a:latin typeface="Calibri" panose="020F0502020204030204" pitchFamily="34" charset="0"/>
                      </a:endParaRPr>
                    </a:p>
                  </a:txBody>
                  <a:tcPr marL="6350" marR="6350" marT="6350" marB="0" anchor="b"/>
                </a:tc>
                <a:tc>
                  <a:txBody>
                    <a:bodyPr/>
                    <a:lstStyle/>
                    <a:p>
                      <a:pPr algn="r" fontAlgn="b"/>
                      <a:r>
                        <a:rPr lang="es-AR" sz="1100" u="none" strike="noStrike">
                          <a:effectLst/>
                        </a:rPr>
                        <a:t>0</a:t>
                      </a:r>
                      <a:endParaRPr lang="es-AR"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s-AR" sz="1100" u="none" strike="noStrike" dirty="0">
                          <a:effectLst/>
                        </a:rPr>
                        <a:t>                 34.167.061.581 </a:t>
                      </a:r>
                      <a:endParaRPr lang="es-A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40320557"/>
                  </a:ext>
                </a:extLst>
              </a:tr>
            </a:tbl>
          </a:graphicData>
        </a:graphic>
      </p:graphicFrame>
      <p:sp>
        <p:nvSpPr>
          <p:cNvPr id="8" name="CuadroTexto 7">
            <a:extLst>
              <a:ext uri="{FF2B5EF4-FFF2-40B4-BE49-F238E27FC236}">
                <a16:creationId xmlns:a16="http://schemas.microsoft.com/office/drawing/2014/main" id="{FF6F7EEE-8633-478E-87F7-630634841F1F}"/>
              </a:ext>
            </a:extLst>
          </p:cNvPr>
          <p:cNvSpPr txBox="1"/>
          <p:nvPr/>
        </p:nvSpPr>
        <p:spPr>
          <a:xfrm>
            <a:off x="221467" y="330391"/>
            <a:ext cx="6018827" cy="369332"/>
          </a:xfrm>
          <a:prstGeom prst="rect">
            <a:avLst/>
          </a:prstGeom>
          <a:noFill/>
        </p:spPr>
        <p:txBody>
          <a:bodyPr wrap="none" rtlCol="0">
            <a:spAutoFit/>
          </a:bodyPr>
          <a:lstStyle/>
          <a:p>
            <a:r>
              <a:rPr lang="es-AR" b="1" dirty="0"/>
              <a:t>3. Financiamiento al desarrollo chino acumulado (2000-2017)</a:t>
            </a:r>
          </a:p>
        </p:txBody>
      </p:sp>
    </p:spTree>
    <p:extLst>
      <p:ext uri="{BB962C8B-B14F-4D97-AF65-F5344CB8AC3E}">
        <p14:creationId xmlns:p14="http://schemas.microsoft.com/office/powerpoint/2010/main" val="992523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 y="7578"/>
            <a:ext cx="12192652" cy="6744060"/>
          </a:xfrm>
          <a:prstGeom prst="rect">
            <a:avLst/>
          </a:prstGeom>
        </p:spPr>
      </p:pic>
      <p:sp>
        <p:nvSpPr>
          <p:cNvPr id="10" name="Título 9">
            <a:extLst>
              <a:ext uri="{FF2B5EF4-FFF2-40B4-BE49-F238E27FC236}">
                <a16:creationId xmlns:a16="http://schemas.microsoft.com/office/drawing/2014/main" id="{956928A4-7276-437A-9808-777B605416A1}"/>
              </a:ext>
            </a:extLst>
          </p:cNvPr>
          <p:cNvSpPr>
            <a:spLocks noGrp="1"/>
          </p:cNvSpPr>
          <p:nvPr>
            <p:ph type="title"/>
          </p:nvPr>
        </p:nvSpPr>
        <p:spPr>
          <a:xfrm>
            <a:off x="609758" y="207467"/>
            <a:ext cx="10975658" cy="972565"/>
          </a:xfrm>
        </p:spPr>
        <p:txBody>
          <a:bodyPr>
            <a:normAutofit/>
          </a:bodyPr>
          <a:lstStyle/>
          <a:p>
            <a:r>
              <a:rPr lang="es-AR" sz="3600" dirty="0"/>
              <a:t>Algunas claves</a:t>
            </a:r>
          </a:p>
        </p:txBody>
      </p:sp>
      <p:sp>
        <p:nvSpPr>
          <p:cNvPr id="11" name="Marcador de contenido 10">
            <a:extLst>
              <a:ext uri="{FF2B5EF4-FFF2-40B4-BE49-F238E27FC236}">
                <a16:creationId xmlns:a16="http://schemas.microsoft.com/office/drawing/2014/main" id="{27B768B4-B3A6-4399-BB54-3E2AF8027EAE}"/>
              </a:ext>
            </a:extLst>
          </p:cNvPr>
          <p:cNvSpPr>
            <a:spLocks noGrp="1"/>
          </p:cNvSpPr>
          <p:nvPr>
            <p:ph idx="1"/>
          </p:nvPr>
        </p:nvSpPr>
        <p:spPr>
          <a:xfrm>
            <a:off x="985019" y="1379921"/>
            <a:ext cx="10729192" cy="4435209"/>
          </a:xfrm>
        </p:spPr>
        <p:txBody>
          <a:bodyPr>
            <a:normAutofit/>
          </a:bodyPr>
          <a:lstStyle/>
          <a:p>
            <a:pPr algn="just"/>
            <a:r>
              <a:rPr lang="es-ES" sz="1800" dirty="0"/>
              <a:t>Comercio sigue concentrado en países desarrollados y en regiones de gran dinamismo económico.</a:t>
            </a:r>
          </a:p>
          <a:p>
            <a:pPr algn="just"/>
            <a:r>
              <a:rPr lang="es-ES" sz="1800" dirty="0"/>
              <a:t>No hay relación necesaria entre concentración del comercio y pertenencia a BRI.</a:t>
            </a:r>
          </a:p>
          <a:p>
            <a:pPr algn="just"/>
            <a:r>
              <a:rPr lang="es-ES" sz="1800" dirty="0"/>
              <a:t>Inversiones en países de altos ingresos son importantes, pero en el acumulado de países de ingresos medios y bajos son superiores.</a:t>
            </a:r>
          </a:p>
          <a:p>
            <a:pPr algn="just"/>
            <a:r>
              <a:rPr lang="es-ES" sz="1800" dirty="0"/>
              <a:t>La mayor parte de estas inversiones a países medios y bajos se canalizan por la </a:t>
            </a:r>
            <a:r>
              <a:rPr lang="es-ES" sz="1800" dirty="0" err="1"/>
              <a:t>Belt</a:t>
            </a:r>
            <a:r>
              <a:rPr lang="es-ES" sz="1800" dirty="0"/>
              <a:t> and Road.</a:t>
            </a:r>
          </a:p>
          <a:p>
            <a:pPr algn="just"/>
            <a:r>
              <a:rPr lang="es-ES" sz="1800" dirty="0"/>
              <a:t>BRI como catalizador de nuevas inversiones hacia países en desarrollo. </a:t>
            </a:r>
          </a:p>
          <a:p>
            <a:pPr marL="285750" indent="-285750" algn="just">
              <a:buFont typeface="Arial" panose="020B0604020202020204" pitchFamily="34" charset="0"/>
              <a:buChar char="•"/>
            </a:pPr>
            <a:r>
              <a:rPr lang="es-ES" sz="1800" dirty="0"/>
              <a:t>En África Subsahariana actúa como "paraguas" de las inversiones (región estratégica por sus recursos). </a:t>
            </a:r>
          </a:p>
          <a:p>
            <a:pPr marL="285750" indent="-285750" algn="just">
              <a:buFont typeface="Arial" panose="020B0604020202020204" pitchFamily="34" charset="0"/>
              <a:buChar char="•"/>
            </a:pPr>
            <a:r>
              <a:rPr lang="es-ES" sz="1800" dirty="0"/>
              <a:t>Importancia de la redistribución geográfica: Este de Asia, África y Sur de Asia fueron los más beneficiados.</a:t>
            </a:r>
          </a:p>
          <a:p>
            <a:pPr marL="285750" indent="-285750" algn="just">
              <a:buFont typeface="Arial" panose="020B0604020202020204" pitchFamily="34" charset="0"/>
              <a:buChar char="•"/>
            </a:pPr>
            <a:r>
              <a:rPr lang="es-ES" sz="1800" dirty="0"/>
              <a:t>Financiamiento al desarrollo se concentra masivamente en países de la </a:t>
            </a:r>
            <a:r>
              <a:rPr lang="es-ES" sz="1800" dirty="0" err="1"/>
              <a:t>Belt</a:t>
            </a:r>
            <a:r>
              <a:rPr lang="es-ES" sz="1800" dirty="0"/>
              <a:t> and Road, sobre todo de medios y bajos ingresos.</a:t>
            </a:r>
          </a:p>
          <a:p>
            <a:pPr marL="285750" indent="-285750" algn="just">
              <a:buFont typeface="Arial" panose="020B0604020202020204" pitchFamily="34" charset="0"/>
              <a:buChar char="•"/>
            </a:pPr>
            <a:r>
              <a:rPr lang="es-AR" sz="1800" dirty="0"/>
              <a:t>Mucho financiamiento en países que no son de la BRI pero si en América Latina</a:t>
            </a:r>
          </a:p>
          <a:p>
            <a:pPr indent="0" algn="just">
              <a:lnSpc>
                <a:spcPct val="107000"/>
              </a:lnSpc>
              <a:buNone/>
            </a:pPr>
            <a:endParaRPr lang="es-AR"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532763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2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1" y="0"/>
            <a:ext cx="12186912" cy="6760195"/>
          </a:xfrm>
          <a:prstGeom prst="rect">
            <a:avLst/>
          </a:prstGeom>
        </p:spPr>
      </p:pic>
    </p:spTree>
    <p:extLst>
      <p:ext uri="{BB962C8B-B14F-4D97-AF65-F5344CB8AC3E}">
        <p14:creationId xmlns:p14="http://schemas.microsoft.com/office/powerpoint/2010/main" val="3932705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712</TotalTime>
  <Words>1790</Words>
  <Application>Microsoft Office PowerPoint</Application>
  <PresentationFormat>Personalizado</PresentationFormat>
  <Paragraphs>293</Paragraphs>
  <Slides>13</Slides>
  <Notes>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Tema de Office</vt:lpstr>
      <vt:lpstr>Presentación de PowerPoint</vt:lpstr>
      <vt:lpstr>El auge de China y la diplomacia económica</vt:lpstr>
      <vt:lpstr>Aproximaciones teóricas</vt:lpstr>
      <vt:lpstr>Conceptualización de la diplomacia económica</vt:lpstr>
      <vt:lpstr>Belt and Road: ¿diplomacia económica?</vt:lpstr>
      <vt:lpstr>Presentación de PowerPoint</vt:lpstr>
      <vt:lpstr>Presentación de PowerPoint</vt:lpstr>
      <vt:lpstr>Presentación de PowerPoint</vt:lpstr>
      <vt:lpstr>Presentación de PowerPoint</vt:lpstr>
      <vt:lpstr>Presentación de PowerPoint</vt:lpstr>
      <vt:lpstr>Presentación de PowerPoint</vt:lpstr>
      <vt:lpstr>Algunas claves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Yanina</dc:creator>
  <cp:lastModifiedBy>Franco Luciano Aguirre</cp:lastModifiedBy>
  <cp:revision>30</cp:revision>
  <dcterms:created xsi:type="dcterms:W3CDTF">2017-02-02T15:23:51Z</dcterms:created>
  <dcterms:modified xsi:type="dcterms:W3CDTF">2021-11-10T15:08:23Z</dcterms:modified>
</cp:coreProperties>
</file>