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8" r:id="rId3"/>
    <p:sldId id="329" r:id="rId4"/>
    <p:sldId id="330" r:id="rId5"/>
    <p:sldId id="333" r:id="rId6"/>
    <p:sldId id="33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BCE3B-C2B2-4D32-BCAC-B401D2D27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0038F8-A8A4-4765-B5BE-8EA756AC5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3CD3C-EC52-4389-84CC-B1DA8981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287B8-5182-4BAE-AE94-A6047BC8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DA2FFF-9C71-46DF-9B18-F8D4AC06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753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78D30-7C80-4EAB-9272-D1560735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E2EBFB-2D01-4298-A084-C9AD67F99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189165-5506-4034-88E3-8BE3249F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307261-ADB4-4FA1-9E7A-101135E6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60F19C-3332-4A53-8A79-FEFE15DC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622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C661C-E297-4F0F-8D27-F8624A56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FF4C5C-6BF1-4CA6-85A9-2D08CB3E4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13A85D-885E-46C8-A61E-1FF37660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74C85B-2996-43B3-B07E-A3448001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EE75A-3EEF-41D1-A2E8-1C9A9D44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798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306AD-4D74-4C33-AB92-74665F5C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FAE183-F3CA-42BB-907C-E37B851E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AB68C1-A941-4129-A655-F58327DB0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BD162B-C50D-4025-9867-27CBB317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02B488-B8F0-4B25-80C0-59617825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C2A6BD-1A0C-487D-98F5-A7DCFC40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90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F2A25-A8D0-47CD-8D9C-F657E2F2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529DEE-6E93-4457-8FD2-9FBD2F121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633507-F15F-4272-8448-3B318F584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F5EDA7-C5CC-42C6-894E-6D73EC7E8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F7D166E-6929-4AC9-A6D3-8241CB293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0B9F3F-EA78-4256-BF9D-D846EA1A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E394B7-492D-4C23-80A9-0E9B09E82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852512-63E9-4B3A-BF9B-EA5E4C90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504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CD89B-F343-40BC-AB04-C82E3427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424648-520C-426B-84F7-D40150CA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7F997A-DC9E-4EC1-B717-E8105243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093A9E-D1B7-4FFC-9611-4D9D7D2E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408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68D1C8-A89B-45F7-8975-DAB1D395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58C654-0E5A-420D-BD17-69D235E8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55F550-7DC1-458B-B807-B903D124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802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C45C0-8A8B-4E30-9A9A-2736DB74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6D99BF-BA51-4545-A125-712491DB5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A12237-DE34-4A6C-BDCC-39CD82D68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7F87E2-8DEA-45F0-8E2E-B8842E45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B7A881-6720-41B5-9CD5-3C31F824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D1A857-F49D-4E93-A7EA-F78DBFEA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589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C6069-4D72-460D-A829-0A89A1F9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2C55CED-B905-42CD-9A31-D36796A49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1671E2-4B9B-4F17-AB27-4DFDCB318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74ABFA-F61B-407C-8CDF-75AC599F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13AD0C-8B97-4DD8-9D9F-8494C316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4B75DF-6AED-4823-A30F-FFFCA980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32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E3E55-E80E-425A-95AB-042A52A2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9AC7B1-6470-48CE-92D4-9C7B9F193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4F7256-326E-4A73-98C4-5C731D38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1FBAC3-BD46-4CF7-A82B-D8E63401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2D042C-8E55-4857-9530-906A0AA6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89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2BD6E-502E-40F7-93A6-7177389F2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7C8B12-F918-4C4B-A7C4-9BC1A009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110AD3-2160-4590-A96F-F81E06F6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3506D8-E339-46F8-A2A0-AB39A0BC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F85D0-0508-423D-B0EE-E8242B07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361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EBC02C-452B-4C78-AC89-C86487FB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3EF1D5-D09E-4BBC-B705-38FA5DE64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E8EE2D-8FE5-4419-AE39-2446D3B96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5CD6A-A007-4EE7-B94C-D3EF42A102E0}" type="datetimeFigureOut">
              <a:rPr lang="es-AR" smtClean="0"/>
              <a:t>2/11/2021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BAF7B3-9E2F-4F4B-8344-436A550BA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46DD19-40A2-45F4-9E2E-6087CE266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7E35-DB09-491C-911C-4B5DB6F98D5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479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ABF567-C91F-421F-94F4-1E06E8D40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s-AR" sz="4800" dirty="0">
                <a:solidFill>
                  <a:srgbClr val="FFFFFF"/>
                </a:solidFill>
              </a:rPr>
              <a:t>ASEAN en las reconfiguraciones económicas y geopolíticas del Asia Pacífico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3E49A7-2AE1-428F-8EF2-60053391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AR" dirty="0">
                <a:solidFill>
                  <a:srgbClr val="FFFFFF"/>
                </a:solidFill>
              </a:rPr>
              <a:t>Dra. Florencia Rubiolo</a:t>
            </a:r>
          </a:p>
          <a:p>
            <a:pPr algn="l"/>
            <a:r>
              <a:rPr lang="es-AR" dirty="0">
                <a:solidFill>
                  <a:srgbClr val="FFFFFF"/>
                </a:solidFill>
              </a:rPr>
              <a:t>CIECS-CONICET | UBP</a:t>
            </a:r>
          </a:p>
        </p:txBody>
      </p:sp>
    </p:spTree>
    <p:extLst>
      <p:ext uri="{BB962C8B-B14F-4D97-AF65-F5344CB8AC3E}">
        <p14:creationId xmlns:p14="http://schemas.microsoft.com/office/powerpoint/2010/main" val="338651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1CC0E6-85C7-4D0A-9E66-816DE580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Integración económica en Asia Pacífico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BC5B89D-908A-4F4D-85ED-7182D008D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87" t="25719" r="9580" b="14709"/>
          <a:stretch/>
        </p:blipFill>
        <p:spPr>
          <a:xfrm>
            <a:off x="1074057" y="1822348"/>
            <a:ext cx="9811519" cy="491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8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!!BGRectangle">
            <a:extLst>
              <a:ext uri="{FF2B5EF4-FFF2-40B4-BE49-F238E27FC236}">
                <a16:creationId xmlns:a16="http://schemas.microsoft.com/office/drawing/2014/main" id="{9B76D444-2756-434F-AE61-96D69830C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2DEA1C-D554-4E63-8F0F-E628E57C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474146"/>
            <a:ext cx="10515593" cy="119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/>
              <a:t>Regional Comprehensive Economic Partnership (RCEP)</a:t>
            </a:r>
          </a:p>
        </p:txBody>
      </p:sp>
      <p:sp>
        <p:nvSpPr>
          <p:cNvPr id="137" name="!!Line">
            <a:extLst>
              <a:ext uri="{FF2B5EF4-FFF2-40B4-BE49-F238E27FC236}">
                <a16:creationId xmlns:a16="http://schemas.microsoft.com/office/drawing/2014/main" id="{B0161EF8-C8C6-4F2A-9D5C-49BD28A2B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4" y="585216"/>
            <a:ext cx="9144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RCEP Confirmed: The Formation of Asia Pacific's Largest Regional Trade Bloc  | Grant Thornton Thailand">
            <a:extLst>
              <a:ext uri="{FF2B5EF4-FFF2-40B4-BE49-F238E27FC236}">
                <a16:creationId xmlns:a16="http://schemas.microsoft.com/office/drawing/2014/main" id="{EA7082CE-4A29-478B-B385-BA7A07C5A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" r="1" b="1"/>
          <a:stretch/>
        </p:blipFill>
        <p:spPr bwMode="auto">
          <a:xfrm>
            <a:off x="138467" y="1999578"/>
            <a:ext cx="6215794" cy="417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1ABB4DD-ED11-4EFE-A502-39CBD8DEEFA5}"/>
              </a:ext>
            </a:extLst>
          </p:cNvPr>
          <p:cNvSpPr txBox="1"/>
          <p:nvPr/>
        </p:nvSpPr>
        <p:spPr>
          <a:xfrm>
            <a:off x="6633029" y="1999578"/>
            <a:ext cx="5420503" cy="41715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Propuesta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inicial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ASEAN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2012.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Ampliar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el mercado regional 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2,250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millones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personas y un PBI de 25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billones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dólares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(un tercio del total global).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Comercio intraregional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motorizado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por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cadenas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valor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ancladas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la region.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IED, un tercio 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concentra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Asia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Pacífico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 de ese total, un 50%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proviene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la region.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RCEP: un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para una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integración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preexistente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ct val="12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India: 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retiró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el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último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tramo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las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negociaciones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(2019)</a:t>
            </a:r>
          </a:p>
        </p:txBody>
      </p:sp>
    </p:spTree>
    <p:extLst>
      <p:ext uri="{BB962C8B-B14F-4D97-AF65-F5344CB8AC3E}">
        <p14:creationId xmlns:p14="http://schemas.microsoft.com/office/powerpoint/2010/main" val="4152499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ABBF99-77A6-4DD2-BDD0-ADA95989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400" dirty="0">
                <a:solidFill>
                  <a:srgbClr val="FFFFFF"/>
                </a:solidFill>
              </a:rPr>
              <a:t>Dimensión económica: Multilateralismo Chino y ASEAN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07697-5D85-417D-9AC7-DF506A329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AR" sz="2200" dirty="0"/>
              <a:t>ASEAN: Relevancia en un sistema regional disputado.</a:t>
            </a:r>
          </a:p>
          <a:p>
            <a:r>
              <a:rPr lang="es-AR" sz="2200" dirty="0"/>
              <a:t>Mantener el compromiso de las potencias regionales en la estabilidad y ampliar mercados en la región. </a:t>
            </a:r>
            <a:r>
              <a:rPr lang="es-AR" sz="2200" dirty="0" err="1"/>
              <a:t>Enmeshment</a:t>
            </a:r>
            <a:r>
              <a:rPr lang="es-AR" sz="2200" dirty="0"/>
              <a:t> </a:t>
            </a:r>
            <a:r>
              <a:rPr lang="es-AR" sz="2200" dirty="0" err="1"/>
              <a:t>strategy</a:t>
            </a:r>
            <a:r>
              <a:rPr lang="es-AR" sz="2200" dirty="0"/>
              <a:t> de ASEAN. </a:t>
            </a:r>
          </a:p>
          <a:p>
            <a:r>
              <a:rPr lang="es-AR" sz="2200" dirty="0"/>
              <a:t>China: Además de ampliación de mercados. Construcción de imagen en la periferia cercana</a:t>
            </a:r>
          </a:p>
          <a:p>
            <a:r>
              <a:rPr lang="es-AR" sz="2200" dirty="0"/>
              <a:t>Prioridad a un ambiente estable en la región que favorezca el crecimiento y la construcción del liderazgo económico y principalmente tecnológico. </a:t>
            </a:r>
          </a:p>
          <a:p>
            <a:r>
              <a:rPr lang="es-AR" sz="2200" dirty="0"/>
              <a:t>Disminuir la percepción de amenaza. La mejor herramienta: beneficios económicos. </a:t>
            </a:r>
            <a:r>
              <a:rPr lang="es-AR" sz="2200" dirty="0" err="1"/>
              <a:t>Economic</a:t>
            </a:r>
            <a:r>
              <a:rPr lang="es-AR" sz="2200" dirty="0"/>
              <a:t> </a:t>
            </a:r>
            <a:r>
              <a:rPr lang="es-AR" sz="2200" dirty="0" err="1"/>
              <a:t>Statecraft</a:t>
            </a:r>
            <a:r>
              <a:rPr lang="es-AR" sz="2200" dirty="0"/>
              <a:t>.</a:t>
            </a:r>
          </a:p>
          <a:p>
            <a:r>
              <a:rPr lang="es-AR" sz="2200" dirty="0"/>
              <a:t>La “Batalla por el relato”: la diplomacia de los lobos y del “China </a:t>
            </a:r>
            <a:r>
              <a:rPr lang="es-AR" sz="2200" dirty="0" err="1"/>
              <a:t>threat</a:t>
            </a:r>
            <a:r>
              <a:rPr lang="es-AR" sz="2200" dirty="0"/>
              <a:t>” al “China virus”. </a:t>
            </a:r>
          </a:p>
          <a:p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384853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ABBF99-77A6-4DD2-BDD0-ADA95989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400" dirty="0">
                <a:solidFill>
                  <a:srgbClr val="FFFFFF"/>
                </a:solidFill>
              </a:rPr>
              <a:t>Dimensión geopolítica:</a:t>
            </a:r>
            <a:br>
              <a:rPr lang="es-AR" sz="3400" dirty="0">
                <a:solidFill>
                  <a:srgbClr val="FFFFFF"/>
                </a:solidFill>
              </a:rPr>
            </a:br>
            <a:r>
              <a:rPr lang="es-AR" sz="3400" dirty="0">
                <a:solidFill>
                  <a:srgbClr val="FFFFFF"/>
                </a:solidFill>
              </a:rPr>
              <a:t>Conflictos marítimos y la competencia global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07697-5D85-417D-9AC7-DF506A329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2200" dirty="0"/>
              <a:t>El Mar de china Meridional se ha convertido en el escenario más destacado de la asertividad de China.</a:t>
            </a:r>
          </a:p>
          <a:p>
            <a:r>
              <a:rPr lang="es-ES" sz="2200" dirty="0"/>
              <a:t>Los estados de la ASEAN tienen fuertes incentivos económicos para mantener una relación pacífica y cercana con Beijing, dada su vulnerabilidad a posibles sanciones.</a:t>
            </a:r>
          </a:p>
          <a:p>
            <a:r>
              <a:rPr lang="es-ES" sz="2200" dirty="0"/>
              <a:t>A medida que China reduzca la brecha económica y militar con Estados Unidos, la necesidad de mantener lazos amistosos con Beijing incluso aumentará, dado el ya alto nivel de dependencia.</a:t>
            </a:r>
          </a:p>
          <a:p>
            <a:r>
              <a:rPr lang="es-ES" sz="2200" dirty="0"/>
              <a:t>Entonces, además de las preocupaciones sobre la asertividad marítima de China, se reducirá el espacio para que los estados del SEA impugnen las acciones de Beijing, a medida que la dependencia económica continúe aumentando y el compromiso económico de los Estados Unidos continúe retrocediendo.</a:t>
            </a:r>
            <a:r>
              <a:rPr lang="es-AR" sz="2200" dirty="0"/>
              <a:t>. </a:t>
            </a:r>
          </a:p>
          <a:p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3107252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0ACD39-D063-47EF-98D1-132DE5C1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351" y="1365448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4000" dirty="0">
                <a:solidFill>
                  <a:srgbClr val="FFFFFF"/>
                </a:solidFill>
              </a:rPr>
              <a:t>¿Indo Pacífico vs </a:t>
            </a:r>
            <a:br>
              <a:rPr lang="es-AR" sz="4000" dirty="0">
                <a:solidFill>
                  <a:srgbClr val="FFFFFF"/>
                </a:solidFill>
              </a:rPr>
            </a:br>
            <a:r>
              <a:rPr lang="es-AR" sz="4000" dirty="0">
                <a:solidFill>
                  <a:srgbClr val="FFFFFF"/>
                </a:solidFill>
              </a:rPr>
              <a:t>Este de Asia?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AD7483-CA89-4664-9BD6-CFF2C0971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MX" sz="2000" dirty="0"/>
              <a:t>Dimensión discursiva que dibuja límites territoriales y regionales solapados en las dimensiones económicas y geopolíticas. Se consolidan sobre diferentes liderazgos regionales y globales. </a:t>
            </a:r>
          </a:p>
          <a:p>
            <a:r>
              <a:rPr lang="es-MX" sz="2000" dirty="0"/>
              <a:t>Reconfiguración en función de dos ejes principales: económico y estratégico. Tensiones en cada uno. RCEP, TPP, Mar de China Meridional, </a:t>
            </a:r>
            <a:r>
              <a:rPr lang="es-MX" sz="2000" dirty="0" err="1"/>
              <a:t>Quad</a:t>
            </a:r>
            <a:r>
              <a:rPr lang="es-MX" sz="2000" dirty="0"/>
              <a:t>.</a:t>
            </a:r>
          </a:p>
          <a:p>
            <a:r>
              <a:rPr lang="es-MX" sz="2000" dirty="0"/>
              <a:t>La competencia China-USA y ASEAN y su rol como estructurante en la gobernanza regional del Este de Asia.</a:t>
            </a:r>
          </a:p>
          <a:p>
            <a:r>
              <a:rPr lang="es-MX" sz="2000" dirty="0"/>
              <a:t>La diplomacia china avanza en las grietas y vacíos dejados por USA. Por ahora, dentro del orden. ¿Lo fortalece o Sólo contribuye a sostenerlo hasta que se configure una alternativa?</a:t>
            </a:r>
          </a:p>
        </p:txBody>
      </p:sp>
    </p:spTree>
    <p:extLst>
      <p:ext uri="{BB962C8B-B14F-4D97-AF65-F5344CB8AC3E}">
        <p14:creationId xmlns:p14="http://schemas.microsoft.com/office/powerpoint/2010/main" val="1899393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483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ASEAN en las reconfiguraciones económicas y geopolíticas del Asia Pacífico</vt:lpstr>
      <vt:lpstr>Integración económica en Asia Pacífico</vt:lpstr>
      <vt:lpstr>Regional Comprehensive Economic Partnership (RCEP)</vt:lpstr>
      <vt:lpstr>Dimensión económica: Multilateralismo Chino y ASEAN</vt:lpstr>
      <vt:lpstr>Dimensión geopolítica: Conflictos marítimos y la competencia global</vt:lpstr>
      <vt:lpstr>¿Indo Pacífico vs  Este de Asia?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ASEAN en las reconfiguraciones económicas y geopolíticas del Asia Pacífico</dc:title>
  <dc:creator>frubiolo@gmail.com</dc:creator>
  <cp:lastModifiedBy>frubiolo@gmail.com</cp:lastModifiedBy>
  <cp:revision>2</cp:revision>
  <dcterms:created xsi:type="dcterms:W3CDTF">2021-11-02T22:28:21Z</dcterms:created>
  <dcterms:modified xsi:type="dcterms:W3CDTF">2021-11-02T23:01:42Z</dcterms:modified>
</cp:coreProperties>
</file>